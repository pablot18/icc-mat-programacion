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4379c0a61244f8" /><Relationship Type="http://schemas.openxmlformats.org/officeDocument/2006/relationships/extended-properties" Target="/docProps/app.xml" Id="Re9c5a3808f0f4193" /><Relationship Type="http://schemas.openxmlformats.org/officeDocument/2006/relationships/officeDocument" Target="/ppt/presentation.xml" Id="R25b458840ea746e4" /></Relationships>
</file>

<file path=ppt/presentation.xml><?xml version="1.0" encoding="utf-8"?>
<p:presentation xmlns:p="http://schemas.openxmlformats.org/presentationml/2006/main">
  <p:sldMasterIdLst>
    <p:sldMasterId xmlns:r="http://schemas.openxmlformats.org/officeDocument/2006/relationships" id="2147483648" r:id="R051a6c0ad1554bef"/>
  </p:sldMasterIdLst>
  <p:notesMasterIdLst>
    <p:notesMasterId xmlns:r="http://schemas.openxmlformats.org/officeDocument/2006/relationships" r:id="Rfa0f6b3c633e4433"/>
  </p:notesMasterIdLst>
  <p:sldIdLst>
    <p:sldId xmlns:r="http://schemas.openxmlformats.org/officeDocument/2006/relationships" id="256" r:id="R54f5c265a67a4377"/>
    <p:sldId xmlns:r="http://schemas.openxmlformats.org/officeDocument/2006/relationships" id="257" r:id="Rf867fb8e0b7a4c3e"/>
    <p:sldId xmlns:r="http://schemas.openxmlformats.org/officeDocument/2006/relationships" id="258" r:id="Rb92da60433e048e5"/>
    <p:sldId xmlns:r="http://schemas.openxmlformats.org/officeDocument/2006/relationships" id="259" r:id="R3bf47e5d4cd744f1"/>
    <p:sldId xmlns:r="http://schemas.openxmlformats.org/officeDocument/2006/relationships" id="260" r:id="R60ca4b9c1b0341aa"/>
    <p:sldId xmlns:r="http://schemas.openxmlformats.org/officeDocument/2006/relationships" id="261" r:id="R6908f9103c384092"/>
    <p:sldId xmlns:r="http://schemas.openxmlformats.org/officeDocument/2006/relationships" id="262" r:id="R92fb35564335446d"/>
    <p:sldId xmlns:r="http://schemas.openxmlformats.org/officeDocument/2006/relationships" id="263" r:id="Raca5c603828143c1"/>
    <p:sldId xmlns:r="http://schemas.openxmlformats.org/officeDocument/2006/relationships" id="264" r:id="R580b4ef8f6974e16"/>
    <p:sldId xmlns:r="http://schemas.openxmlformats.org/officeDocument/2006/relationships" id="265" r:id="R9a0e35bd7cbf41d4"/>
    <p:sldId xmlns:r="http://schemas.openxmlformats.org/officeDocument/2006/relationships" id="266" r:id="R73e091376f56497a"/>
    <p:sldId xmlns:r="http://schemas.openxmlformats.org/officeDocument/2006/relationships" id="267" r:id="R9430e9cde4c245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5fac4a8b894c32" /><Relationship Type="http://schemas.openxmlformats.org/officeDocument/2006/relationships/slideMaster" Target="/ppt/slideMasters/slideMaster1.xml" Id="R051a6c0ad1554bef" /><Relationship Type="http://schemas.openxmlformats.org/officeDocument/2006/relationships/notesMaster" Target="/ppt/notesMasters/notesMaster1.xml" Id="Rfa0f6b3c633e4433" /><Relationship Type="http://schemas.openxmlformats.org/officeDocument/2006/relationships/presProps" Target="/ppt/presProps.xml" Id="Rbd2efa796b3f4ea3" /><Relationship Type="http://schemas.openxmlformats.org/officeDocument/2006/relationships/tableStyles" Target="/ppt/tableStyles.xml" Id="Rcf04321bef5f4af3" /><Relationship Type="http://schemas.openxmlformats.org/officeDocument/2006/relationships/slide" Target="/ppt/slides/slide1.xml" Id="R54f5c265a67a4377" /><Relationship Type="http://schemas.openxmlformats.org/officeDocument/2006/relationships/slide" Target="/ppt/slides/slide2.xml" Id="Rf867fb8e0b7a4c3e" /><Relationship Type="http://schemas.openxmlformats.org/officeDocument/2006/relationships/slide" Target="/ppt/slides/slide3.xml" Id="Rb92da60433e048e5" /><Relationship Type="http://schemas.openxmlformats.org/officeDocument/2006/relationships/slide" Target="/ppt/slides/slide4.xml" Id="R3bf47e5d4cd744f1" /><Relationship Type="http://schemas.openxmlformats.org/officeDocument/2006/relationships/slide" Target="/ppt/slides/slide5.xml" Id="R60ca4b9c1b0341aa" /><Relationship Type="http://schemas.openxmlformats.org/officeDocument/2006/relationships/slide" Target="/ppt/slides/slide6.xml" Id="R6908f9103c384092" /><Relationship Type="http://schemas.openxmlformats.org/officeDocument/2006/relationships/slide" Target="/ppt/slides/slide7.xml" Id="R92fb35564335446d" /><Relationship Type="http://schemas.openxmlformats.org/officeDocument/2006/relationships/slide" Target="/ppt/slides/slide8.xml" Id="Raca5c603828143c1" /><Relationship Type="http://schemas.openxmlformats.org/officeDocument/2006/relationships/slide" Target="/ppt/slides/slide9.xml" Id="R580b4ef8f6974e16" /><Relationship Type="http://schemas.openxmlformats.org/officeDocument/2006/relationships/slide" Target="/ppt/slides/slide10.xml" Id="R9a0e35bd7cbf41d4" /><Relationship Type="http://schemas.openxmlformats.org/officeDocument/2006/relationships/slide" Target="/ppt/slides/slide11.xml" Id="R73e091376f56497a" /><Relationship Type="http://schemas.openxmlformats.org/officeDocument/2006/relationships/slide" Target="/ppt/slides/slide12.xml" Id="R9430e9cde4c245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9bc5ff9c4c4f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14e5122d19495c" /><Relationship Type="http://schemas.openxmlformats.org/officeDocument/2006/relationships/notesMaster" Target="/ppt/notesMasters/notesMaster1.xml" Id="Rfd5d895455ab4c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c92ac5ce2a4d19" /><Relationship Type="http://schemas.openxmlformats.org/officeDocument/2006/relationships/notesMaster" Target="/ppt/notesMasters/notesMaster1.xml" Id="R1ab3bf6595054f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93c2b9959e41dd" /><Relationship Type="http://schemas.openxmlformats.org/officeDocument/2006/relationships/notesMaster" Target="/ppt/notesMasters/notesMaster1.xml" Id="R4fddf6177ba14c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e219a9c56847e6" /><Relationship Type="http://schemas.openxmlformats.org/officeDocument/2006/relationships/notesMaster" Target="/ppt/notesMasters/notesMaster1.xml" Id="R96711a8cc47d4d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0faad6fbb8446b" /><Relationship Type="http://schemas.openxmlformats.org/officeDocument/2006/relationships/notesMaster" Target="/ppt/notesMasters/notesMaster1.xml" Id="R613fa140cc8c43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198954097d4576" /><Relationship Type="http://schemas.openxmlformats.org/officeDocument/2006/relationships/notesMaster" Target="/ppt/notesMasters/notesMaster1.xml" Id="R385fe68c46514d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52396c325c4b74" /><Relationship Type="http://schemas.openxmlformats.org/officeDocument/2006/relationships/notesMaster" Target="/ppt/notesMasters/notesMaster1.xml" Id="Recb5be029f404f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460dbb4a754e0c" /><Relationship Type="http://schemas.openxmlformats.org/officeDocument/2006/relationships/notesMaster" Target="/ppt/notesMasters/notesMaster1.xml" Id="R7195bc870ffc4d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f250a05c2b4547" /><Relationship Type="http://schemas.openxmlformats.org/officeDocument/2006/relationships/notesMaster" Target="/ppt/notesMasters/notesMaster1.xml" Id="R55e4e8be12ce46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dc0ba6ab024ed7" /><Relationship Type="http://schemas.openxmlformats.org/officeDocument/2006/relationships/notesMaster" Target="/ppt/notesMasters/notesMaster1.xml" Id="Rf1ca543a4eb149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acd04626bd4c93" /><Relationship Type="http://schemas.openxmlformats.org/officeDocument/2006/relationships/notesMaster" Target="/ppt/notesMasters/notesMaster1.xml" Id="R1a9a57c3c76141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354d69d0af4cb2" /><Relationship Type="http://schemas.openxmlformats.org/officeDocument/2006/relationships/notesMaster" Target="/ppt/notesMasters/notesMaster1.xml" Id="R39a1aaff1edd4c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proposición es un enunciado al que se puede asignar verdadero o falso dentro de un contexto definido. “La reserva está vigente” requiere especificar fecha y hora; una pregunta o una orden no es una proposición. Representar cada condición mediante una letra y escribir su significado antes de operar. Una variable booleana solo modela dos estados, por lo que un dato desconocido exige una decisión explícita del problema. No confundir falso con información ausente.</a:t>
            </a:r>
          </a:p>
          <a:p xmlns:a="http://schemas.openxmlformats.org/drawingml/2006/main">
            <a:r>
              <a:t/>
            </a:r>
          </a:p>
          <a:p xmlns:a="http://schemas.openxmlformats.org/drawingml/2006/main">
            <a:r>
              <a:t>Usar bool y los literales True y False. Aunque Python acepta otros objetos como condiciones, emplear booleanos explícitos al construir tablas. La cadena "False" no es el valor False: cualquier cadena no vacía tiene valor de verdad verdadero.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negación invierte un valor. La conjunción exige que ambas proposiciones sean verdaderas. La disyunción inclusiva permite que una o ambas sean verdaderas. Interpretar “o” en lenguaje cotidiano puede ser ambiguo: si exactamente una opción es válida, se necesita disyunción exclusiva. Construir una tabla con 2 elevado al número de variables para enumerar todas las combinaciones sin omisiones.</a:t>
            </a:r>
          </a:p>
          <a:p xmlns:a="http://schemas.openxmlformats.org/drawingml/2006/main">
            <a:r>
              <a:t/>
            </a:r>
          </a:p>
          <a:p xmlns:a="http://schemas.openxmlformats.org/drawingml/2006/main">
            <a:r>
              <a:t>Escribir not, and y or. Con operandos booleanos producen los resultados esperados de la tabla. and y or pueden devolver operandos cuando se aplican a otros tipos; por eso mantener bool en este segmento.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expresiones son equivalentes cuando coinciden para todas las asignaciones de sus variables. Una coincidencia aislada no demuestra equivalencia. Las leyes de De Morgan establecen que negar una conjunción equivale a disyuntar las negaciones, y negar una disyunción equivale a conjuntarlas. También se cumplen identidad, idempotencia, absorción y distributividad. Simplificar conserva el significado, no los pasos concretos de evaluación.</a:t>
            </a:r>
          </a:p>
          <a:p xmlns:a="http://schemas.openxmlformats.org/drawingml/2006/main">
            <a:r>
              <a:t/>
            </a:r>
          </a:p>
          <a:p xmlns:a="http://schemas.openxmlformats.org/drawingml/2006/main">
            <a:r>
              <a:t>Comparar not (p and q) con (not p) or (not q). Encerrar las condiciones compuestas entre paréntesis al enseñar su traducción. La igualdad == compara resultados y no debe confundirse con la asignación =.</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implicación p implica q solo es falsa cuando p es verdadera y q falsa. No expresa por sí misma una causa. Se puede reescribir como no p o q. Una tautología siempre es verdadera; una contradicción siempre es falsa; una contingencia depende de los valores. Para validar una regla de acceso, comprobar cada fila y explicar las filas que autorizan. Diferenciar la especificación de la política y su traducción al programa.</a:t>
            </a:r>
          </a:p>
          <a:p xmlns:a="http://schemas.openxmlformats.org/drawingml/2006/main">
            <a:r>
              <a:t/>
            </a:r>
          </a:p>
          <a:p xmlns:a="http://schemas.openxmlformats.org/drawingml/2006/main">
            <a:r>
              <a:t>Expresar una implicación como (not p) or q. En la demostración, observar los bucles únicamente como herramienta para enumerar casos; su construcción se desarrollará en las unidades siguientes.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Determinar cuándo permitir el acceso a una sala: disponer de credencial y reserva, o tener autorización del responsable. Convertir una regla verbal en una expresión permite revisar todos los casos, incluidos los que parecen excepcionales.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893de72a1945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bf9d35aba44c0" /><Relationship Type="http://schemas.openxmlformats.org/officeDocument/2006/relationships/slideLayout" Target="/ppt/slideLayouts/slideLayout1.xml" Id="R584cf6eed8c340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4cf6eed8c340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2f1dd104b94f39" /><Relationship Type="http://schemas.openxmlformats.org/officeDocument/2006/relationships/image" Target="/ppt/media/image.png" Id="R6b9f3cf854994b07" /><Relationship Type="http://schemas.openxmlformats.org/officeDocument/2006/relationships/notesSlide" Target="/ppt/notesSlides/notesSlide1.xml" Id="Rfff80a6bf1e24b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87ac652efd4217" /><Relationship Type="http://schemas.openxmlformats.org/officeDocument/2006/relationships/notesSlide" Target="/ppt/notesSlides/notesSlide2.xml" Id="R0dc2f7f03f664b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db813379764520" /><Relationship Type="http://schemas.openxmlformats.org/officeDocument/2006/relationships/notesSlide" Target="/ppt/notesSlides/notesSlide3.xml" Id="Rbfd116cbf5ab46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ea4d5ce0bd48ab" /><Relationship Type="http://schemas.openxmlformats.org/officeDocument/2006/relationships/notesSlide" Target="/ppt/notesSlides/notesSlide4.xml" Id="R7fc542e0c29c4e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a685095d9940bd" /><Relationship Type="http://schemas.openxmlformats.org/officeDocument/2006/relationships/notesSlide" Target="/ppt/notesSlides/notesSlide5.xml" Id="Rda37bbf945a046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44a65db9d743f8" /><Relationship Type="http://schemas.openxmlformats.org/officeDocument/2006/relationships/notesSlide" Target="/ppt/notesSlides/notesSlide6.xml" Id="R910e523119ea4f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73ca3857de42bf" /><Relationship Type="http://schemas.openxmlformats.org/officeDocument/2006/relationships/notesSlide" Target="/ppt/notesSlides/notesSlide7.xml" Id="Rb111dc13d6314e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9b8d66be0041a7" /><Relationship Type="http://schemas.openxmlformats.org/officeDocument/2006/relationships/notesSlide" Target="/ppt/notesSlides/notesSlide8.xml" Id="Rf9f1ac1f37424c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3c3447389b4471" /><Relationship Type="http://schemas.openxmlformats.org/officeDocument/2006/relationships/notesSlide" Target="/ppt/notesSlides/notesSlide9.xml" Id="R90bf856e2b124f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5c5cdf925144a4" /><Relationship Type="http://schemas.openxmlformats.org/officeDocument/2006/relationships/notesSlide" Target="/ppt/notesSlides/notesSlide10.xml" Id="Rafef47ee092a44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cd49b16f1f4595" /><Relationship Type="http://schemas.openxmlformats.org/officeDocument/2006/relationships/notesSlide" Target="/ppt/notesSlides/notesSlide11.xml" Id="R4b86243e689140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203325a80d4547" /><Relationship Type="http://schemas.openxmlformats.org/officeDocument/2006/relationships/notesSlide" Target="/ppt/notesSlides/notesSlide12.xml" Id="R364aca289e734f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b9f3cf854994b07"/>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9712EF-2F6B-4660-BDBD-BACE7A31A3C8}"/>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CE4A2982-ED2E-4911-86DE-037EA6A351FA}"/>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Álgebra de Boole</a:t>
            </a:r>
          </a:p>
        </p:txBody>
      </p:sp>
      <p:sp>
        <p:nvSpPr>
          <p:cNvPr id="4" name="">
            <a:extLst xmlns:a="http://schemas.openxmlformats.org/drawingml/2006/main">
              <a:ext uri="{FF2B5EF4-FFF2-40B4-BE49-F238E27FC236}">
                <a16:creationId xmlns:a16="http://schemas.microsoft.com/office/drawing/2014/main" id="{FC895891-3AC9-49E2-83FF-4E8CE64A08B2}"/>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EA554E-350E-43E0-AD85-BD9681320074}"/>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1 · 1.1 · Python</a:t>
            </a:r>
          </a:p>
        </p:txBody>
      </p:sp>
      <p:sp>
        <p:nvSpPr>
          <p:cNvPr id="6" name="">
            <a:extLst xmlns:a="http://schemas.openxmlformats.org/drawingml/2006/main">
              <a:ext uri="{FF2B5EF4-FFF2-40B4-BE49-F238E27FC236}">
                <a16:creationId xmlns:a16="http://schemas.microsoft.com/office/drawing/2014/main" id="{458F5A64-2A24-4607-9A26-4B4DFAE8E8BA}"/>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3357156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0DFA72-E4D6-42C0-9E1D-4FB50185A1C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5F9CA6-0303-44F9-9E84-11357476219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7BED5ECB-18E5-4F4C-AF9F-41C3215691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AD9A79-B7CB-4372-BE83-60AEA4C2D9C0}"/>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E0B37625-EA3C-47ED-8348-74CAF6CF280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E9F927A8-F4A1-484F-96A2-466452C32774}"/>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Determinar cuándo permitir el acceso a una sala: disponer de credencial y reserva, o tener autorización del responsable. Convertir una regla verbal en una expresión permite revisar todos los casos, incluidos los que parecen excepcionales.</a:t>
            </a:r>
          </a:p>
        </p:txBody>
      </p:sp>
      <p:sp>
        <p:nvSpPr>
          <p:cNvPr id="7" name="">
            <a:extLst xmlns:a="http://schemas.openxmlformats.org/drawingml/2006/main">
              <a:ext uri="{FF2B5EF4-FFF2-40B4-BE49-F238E27FC236}">
                <a16:creationId xmlns:a16="http://schemas.microsoft.com/office/drawing/2014/main" id="{CCA6FB20-FDC7-402C-BDCF-F207F135ABE1}"/>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430569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363DF4-91DC-4A28-A6F0-AE03F7D3E78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36ECC0-0A08-47D9-A010-CD3E5A1B056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Proposiciones y valores de verdad</a:t>
            </a:r>
          </a:p>
        </p:txBody>
      </p:sp>
      <p:sp>
        <p:nvSpPr>
          <p:cNvPr id="3" name="">
            <a:extLst xmlns:a="http://schemas.openxmlformats.org/drawingml/2006/main">
              <a:ext uri="{FF2B5EF4-FFF2-40B4-BE49-F238E27FC236}">
                <a16:creationId xmlns:a16="http://schemas.microsoft.com/office/drawing/2014/main" id="{E0F5AD56-C33F-41A1-BFF5-A5886754287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132103-C7A5-4F74-89E0-EEEEA9F7ABA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53BB0ADA-DA7E-4AD3-8F62-1AFF47E2FF6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5A8F98BB-D47D-446C-8733-A448D8E73572}"/>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proposición es un enunciado al que se puede asignar verdadero o falso dentro de un contexto definido. “La reserva está vigente” requiere especificar fecha y hora; una pregunta o una orden no es una proposición.</a:t>
            </a:r>
          </a:p>
        </p:txBody>
      </p:sp>
      <p:sp>
        <p:nvSpPr>
          <p:cNvPr id="7" name="">
            <a:extLst xmlns:a="http://schemas.openxmlformats.org/drawingml/2006/main">
              <a:ext uri="{FF2B5EF4-FFF2-40B4-BE49-F238E27FC236}">
                <a16:creationId xmlns:a16="http://schemas.microsoft.com/office/drawing/2014/main" id="{6BA896C4-3D0D-4C0E-AB54-34393FE58F96}"/>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reserva = True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credencial = False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print(reserva)</a:t>
            </a:r>
          </a:p>
        </p:txBody>
      </p:sp>
      <p:sp>
        <p:nvSpPr>
          <p:cNvPr id="8" name="">
            <a:extLst xmlns:a="http://schemas.openxmlformats.org/drawingml/2006/main">
              <a:ext uri="{FF2B5EF4-FFF2-40B4-BE49-F238E27FC236}">
                <a16:creationId xmlns:a16="http://schemas.microsoft.com/office/drawing/2014/main" id="{409FB604-677B-4C21-BA64-566B78D99A6E}"/>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bool y los literales True y False.</a:t>
            </a:r>
          </a:p>
        </p:txBody>
      </p:sp>
    </p:spTree>
    <p:extLst>
      <p:ext uri="{BB962C8B-B14F-4D97-AF65-F5344CB8AC3E}">
        <p14:creationId xmlns:p14="http://schemas.microsoft.com/office/powerpoint/2010/main" val="2318200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FDB6D1-2534-4B0C-B233-636E380F85B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8F0F73-DDA8-4FE0-90D0-4D989B359D0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Negación, conjunción y disyunción</a:t>
            </a:r>
          </a:p>
        </p:txBody>
      </p:sp>
      <p:sp>
        <p:nvSpPr>
          <p:cNvPr id="3" name="">
            <a:extLst xmlns:a="http://schemas.openxmlformats.org/drawingml/2006/main">
              <a:ext uri="{FF2B5EF4-FFF2-40B4-BE49-F238E27FC236}">
                <a16:creationId xmlns:a16="http://schemas.microsoft.com/office/drawing/2014/main" id="{59F4DD35-77A1-4AD4-84EE-38C357E35B3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67D8E9-B706-46CB-8BDC-2BE43761396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15F83095-E8C3-4DD3-899E-444BC496A76F}"/>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DFEA2B16-5216-48EB-A448-4A677E9B37B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negación invierte un valor. La conjunción exige que ambas proposiciones sean verdaderas.</a:t>
            </a:r>
          </a:p>
        </p:txBody>
      </p:sp>
      <p:sp>
        <p:nvSpPr>
          <p:cNvPr id="7" name="">
            <a:extLst xmlns:a="http://schemas.openxmlformats.org/drawingml/2006/main">
              <a:ext uri="{FF2B5EF4-FFF2-40B4-BE49-F238E27FC236}">
                <a16:creationId xmlns:a16="http://schemas.microsoft.com/office/drawing/2014/main" id="{EFB7F3FB-1B06-4AD7-A83B-AF071C881FD6}"/>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 q = True, False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print(p and q, p or q, not p)</a:t>
            </a:r>
          </a:p>
        </p:txBody>
      </p:sp>
      <p:sp>
        <p:nvSpPr>
          <p:cNvPr id="8" name="">
            <a:extLst xmlns:a="http://schemas.openxmlformats.org/drawingml/2006/main">
              <a:ext uri="{FF2B5EF4-FFF2-40B4-BE49-F238E27FC236}">
                <a16:creationId xmlns:a16="http://schemas.microsoft.com/office/drawing/2014/main" id="{CFDF1293-FBFD-49FE-B760-889ED479C7BA}"/>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Escribir not, and y or.</a:t>
            </a:r>
          </a:p>
        </p:txBody>
      </p:sp>
    </p:spTree>
    <p:extLst>
      <p:ext uri="{BB962C8B-B14F-4D97-AF65-F5344CB8AC3E}">
        <p14:creationId xmlns:p14="http://schemas.microsoft.com/office/powerpoint/2010/main" val="10970079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C9A0E4-7D82-4856-9609-7F2E6F5209B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D22E46-84C6-4288-B2B3-EA482224CE9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Equivalencia y leyes de De Morgan</a:t>
            </a:r>
          </a:p>
        </p:txBody>
      </p:sp>
      <p:sp>
        <p:nvSpPr>
          <p:cNvPr id="3" name="">
            <a:extLst xmlns:a="http://schemas.openxmlformats.org/drawingml/2006/main">
              <a:ext uri="{FF2B5EF4-FFF2-40B4-BE49-F238E27FC236}">
                <a16:creationId xmlns:a16="http://schemas.microsoft.com/office/drawing/2014/main" id="{0970A3C0-9B7B-4BC0-954B-034C59FB485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8793D2-2317-4B52-8BE2-086EDAE8FAC9}"/>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76441952-E820-4FC4-91E8-1E7960B1F51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12FFB413-00F5-4C86-889E-49D65E7A59A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Dos expresiones son equivalentes cuando coinciden para todas las asignaciones de sus variables. Una coincidencia aislada no demuestra equivalencia.</a:t>
            </a:r>
          </a:p>
        </p:txBody>
      </p:sp>
      <p:sp>
        <p:nvSpPr>
          <p:cNvPr id="7" name="">
            <a:extLst xmlns:a="http://schemas.openxmlformats.org/drawingml/2006/main">
              <a:ext uri="{FF2B5EF4-FFF2-40B4-BE49-F238E27FC236}">
                <a16:creationId xmlns:a16="http://schemas.microsoft.com/office/drawing/2014/main" id="{D760E835-B314-4D02-AA5C-98888AC25D1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p, q = True, False</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print(not (p and q) == ((not p) or (not q)))</a:t>
            </a:r>
          </a:p>
        </p:txBody>
      </p:sp>
      <p:sp>
        <p:nvSpPr>
          <p:cNvPr id="8" name="">
            <a:extLst xmlns:a="http://schemas.openxmlformats.org/drawingml/2006/main">
              <a:ext uri="{FF2B5EF4-FFF2-40B4-BE49-F238E27FC236}">
                <a16:creationId xmlns:a16="http://schemas.microsoft.com/office/drawing/2014/main" id="{40158479-812B-4C3B-9CB1-20A2FD436DB8}"/>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Comparar not (p and q) con (not p) or (not q).</a:t>
            </a:r>
          </a:p>
        </p:txBody>
      </p:sp>
    </p:spTree>
    <p:extLst>
      <p:ext uri="{BB962C8B-B14F-4D97-AF65-F5344CB8AC3E}">
        <p14:creationId xmlns:p14="http://schemas.microsoft.com/office/powerpoint/2010/main" val="12990295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6A7AEA-47A5-4D33-88B9-DD324E1B36A0}"/>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A600F3-B899-461F-A71C-326731BC546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Reglas, implicación y comprobación</a:t>
            </a:r>
          </a:p>
        </p:txBody>
      </p:sp>
      <p:sp>
        <p:nvSpPr>
          <p:cNvPr id="3" name="">
            <a:extLst xmlns:a="http://schemas.openxmlformats.org/drawingml/2006/main">
              <a:ext uri="{FF2B5EF4-FFF2-40B4-BE49-F238E27FC236}">
                <a16:creationId xmlns:a16="http://schemas.microsoft.com/office/drawing/2014/main" id="{FEF853BE-F193-41BF-8F3F-600FAAF7AE7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20700C-B8E4-4DC4-BD0F-3C22874D366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8623E982-C1B6-4FC6-824C-41DB924B3C1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3130A166-F014-47C9-A564-C1105A73EA10}"/>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implicación p implica q solo es falsa cuando p es verdadera y q falsa. No expresa por sí misma una causa.</a:t>
            </a:r>
          </a:p>
        </p:txBody>
      </p:sp>
      <p:sp>
        <p:nvSpPr>
          <p:cNvPr id="7" name="">
            <a:extLst xmlns:a="http://schemas.openxmlformats.org/drawingml/2006/main">
              <a:ext uri="{FF2B5EF4-FFF2-40B4-BE49-F238E27FC236}">
                <a16:creationId xmlns:a16="http://schemas.microsoft.com/office/drawing/2014/main" id="{05DD71D3-E392-4E90-A489-0ED45042C401}"/>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 q = True, False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print((not p) or q)</a:t>
            </a:r>
          </a:p>
        </p:txBody>
      </p:sp>
      <p:sp>
        <p:nvSpPr>
          <p:cNvPr id="8" name="">
            <a:extLst xmlns:a="http://schemas.openxmlformats.org/drawingml/2006/main">
              <a:ext uri="{FF2B5EF4-FFF2-40B4-BE49-F238E27FC236}">
                <a16:creationId xmlns:a16="http://schemas.microsoft.com/office/drawing/2014/main" id="{1A631515-C50A-441F-A34A-D562B214B4CB}"/>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Expresar una implicación como (not p) or q.</a:t>
            </a:r>
          </a:p>
        </p:txBody>
      </p:sp>
    </p:spTree>
    <p:extLst>
      <p:ext uri="{BB962C8B-B14F-4D97-AF65-F5344CB8AC3E}">
        <p14:creationId xmlns:p14="http://schemas.microsoft.com/office/powerpoint/2010/main" val="15674710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AA4E6AF-0942-4224-93F6-9A8C16CBBDD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7F340A-606B-447C-ADC0-B6101FD2562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A81091C9-7742-4211-98F7-E2D1C8493D6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84FF6F-5F30-4B1A-8BA4-8CB7F812036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1BC11C05-BFE7-4309-B067-699B368BD67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B71EF2C-2F78-4C88-9DEA-C35F8EF9A61E}"/>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4FFD5C-1A0F-4265-BAEF-747224449E45}"/>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6B29C9D8-5F37-4197-84F1-EC54DEA6ADB1}"/>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E6A6BA63-CF30-4365-878D-507220439518}"/>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33F4BB5E-B997-4C99-B06B-AC375C67BDC2}"/>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ED3E9E-B435-435D-A9BC-B037E109B88A}"/>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655C3323-A81E-4B27-B58B-D3E0033B9278}"/>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Negación, conjunción y disyunción</a:t>
            </a:r>
          </a:p>
        </p:txBody>
      </p:sp>
      <p:sp>
        <p:nvSpPr>
          <p:cNvPr id="13" name="">
            <a:extLst xmlns:a="http://schemas.openxmlformats.org/drawingml/2006/main">
              <a:ext uri="{FF2B5EF4-FFF2-40B4-BE49-F238E27FC236}">
                <a16:creationId xmlns:a16="http://schemas.microsoft.com/office/drawing/2014/main" id="{2C49F456-0A93-4C8D-BF96-EEB3BE9365C2}"/>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F4165832-0796-4304-969C-DB95C05B7A33}"/>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151CF3-507F-4874-90D8-3C8FBE1924C6}"/>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5119CF02-EC41-476F-BA9A-1122C62E6951}"/>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0 0 0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0 1 0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1 0 0</a:t>
            </a:r>
          </a:p>
        </p:txBody>
      </p:sp>
      <p:sp>
        <p:nvSpPr>
          <p:cNvPr id="17" name="">
            <a:extLst xmlns:a="http://schemas.openxmlformats.org/drawingml/2006/main">
              <a:ext uri="{FF2B5EF4-FFF2-40B4-BE49-F238E27FC236}">
                <a16:creationId xmlns:a16="http://schemas.microsoft.com/office/drawing/2014/main" id="{629561E3-52B6-49EB-AE8C-9D61226FFBC6}"/>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0656087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62492-F24C-46D9-8DD7-BEA19F832C3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721CB3-5C29-4270-9E65-ADF881E1307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EA260263-8ADF-4F7B-A52E-E50F7454856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37F953-4A47-42C7-9502-713001A4A1A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4820168A-FC9A-4AD1-86C7-C5D0802393B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E448420E-6395-4A4B-9A02-CB469E5E43E2}"/>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for credencial in (False, True):</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for reserva in (False, True):</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permitido = credencial and reserva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print(int(credencial), int(reserva), int(permitido))</a:t>
            </a:r>
          </a:p>
        </p:txBody>
      </p:sp>
    </p:spTree>
    <p:extLst>
      <p:ext uri="{BB962C8B-B14F-4D97-AF65-F5344CB8AC3E}">
        <p14:creationId xmlns:p14="http://schemas.microsoft.com/office/powerpoint/2010/main" val="13464259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869366-766C-441F-91A5-E7D713B870F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A3134C-3C97-4DD6-BE2F-EF9897D36B1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F8D21330-AF97-423D-BC6D-FAECEDB8A4C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27183C-B578-46A0-9A47-3270B9A301E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F9049A74-CF43-45D1-9BD8-15BA4205921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366052DF-225C-4E06-A6D1-0DA224773E8B}"/>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0 0 0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0 1 0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1 0 0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1 1 1</a:t>
            </a:r>
          </a:p>
        </p:txBody>
      </p:sp>
      <p:sp>
        <p:nvSpPr>
          <p:cNvPr id="7" name="">
            <a:extLst xmlns:a="http://schemas.openxmlformats.org/drawingml/2006/main">
              <a:ext uri="{FF2B5EF4-FFF2-40B4-BE49-F238E27FC236}">
                <a16:creationId xmlns:a16="http://schemas.microsoft.com/office/drawing/2014/main" id="{A896C36E-CE12-4159-A967-8674AE78F649}"/>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8687861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AECB2A-2C7B-49D5-97FA-33804638629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D52E45-C063-4D6F-B8DA-D6958411E98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PC1.1 · Problema y restricciones</a:t>
            </a:r>
          </a:p>
        </p:txBody>
      </p:sp>
      <p:sp>
        <p:nvSpPr>
          <p:cNvPr id="3" name="">
            <a:extLst xmlns:a="http://schemas.openxmlformats.org/drawingml/2006/main">
              <a:ext uri="{FF2B5EF4-FFF2-40B4-BE49-F238E27FC236}">
                <a16:creationId xmlns:a16="http://schemas.microsoft.com/office/drawing/2014/main" id="{694D5C92-FB70-4A34-B52B-5C8A827E7D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7A710F-2B8F-4220-A15D-1EB9F9C6628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CF53A6CB-5636-427B-AA99-B01B0ED1631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AA25FC98-99DF-427E-9F2C-D7ACF7CFEA4A}"/>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Formalizar la regla “permitir acceso con credencial y reserva, o con autorización del responsable”. Definir las tres proposiciones, completar las ocho filas de su tabla y expresar la negación mediante De Morgan. Usar Python o Java solo para contrastar la tabla manual, sin exigir todavía escribir bucles desde cero.</a:t>
            </a:r>
          </a:p>
        </p:txBody>
      </p:sp>
      <p:sp>
        <p:nvSpPr>
          <p:cNvPr id="7" name="">
            <a:extLst xmlns:a="http://schemas.openxmlformats.org/drawingml/2006/main">
              <a:ext uri="{FF2B5EF4-FFF2-40B4-BE49-F238E27FC236}">
                <a16:creationId xmlns:a16="http://schemas.microsoft.com/office/drawing/2014/main" id="{75A89826-0413-464D-868F-63E6B71AC1B6}"/>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17728880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CC8C9DA-8DC4-4150-BD92-FA4448399BD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967C11-05B8-4189-9C32-377B75E1CBC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PC1.1 · Casos de aceptación</a:t>
            </a:r>
          </a:p>
        </p:txBody>
      </p:sp>
      <p:sp>
        <p:nvSpPr>
          <p:cNvPr id="3" name="">
            <a:extLst xmlns:a="http://schemas.openxmlformats.org/drawingml/2006/main">
              <a:ext uri="{FF2B5EF4-FFF2-40B4-BE49-F238E27FC236}">
                <a16:creationId xmlns:a16="http://schemas.microsoft.com/office/drawing/2014/main" id="{64331FF5-468F-4FAB-8BFA-D8734A3005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7DC785-BE12-48B4-8C0C-199FC109A1C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D79C175C-6C03-4D36-B8D0-8647AC94D43F}"/>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CD6DE903-58D5-46DF-B4B9-57CE6BFD110A}"/>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0, 0, 0</a:t>
            </a:r>
          </a:p>
        </p:txBody>
      </p:sp>
      <p:sp>
        <p:nvSpPr>
          <p:cNvPr id="7" name="">
            <a:extLst xmlns:a="http://schemas.openxmlformats.org/drawingml/2006/main">
              <a:ext uri="{FF2B5EF4-FFF2-40B4-BE49-F238E27FC236}">
                <a16:creationId xmlns:a16="http://schemas.microsoft.com/office/drawing/2014/main" id="{9219B4E5-BCF8-4B2E-B996-AF063AC7F0DA}"/>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a:t>
            </a:r>
          </a:p>
        </p:txBody>
      </p:sp>
      <p:sp>
        <p:nvSpPr>
          <p:cNvPr id="8" name="">
            <a:extLst xmlns:a="http://schemas.openxmlformats.org/drawingml/2006/main">
              <a:ext uri="{FF2B5EF4-FFF2-40B4-BE49-F238E27FC236}">
                <a16:creationId xmlns:a16="http://schemas.microsoft.com/office/drawing/2014/main" id="{71D3059B-8FD7-4FF8-A4C9-7AEE4EF779F5}"/>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1, 1, 0</a:t>
            </a:r>
          </a:p>
        </p:txBody>
      </p:sp>
      <p:sp>
        <p:nvSpPr>
          <p:cNvPr id="9" name="">
            <a:extLst xmlns:a="http://schemas.openxmlformats.org/drawingml/2006/main">
              <a:ext uri="{FF2B5EF4-FFF2-40B4-BE49-F238E27FC236}">
                <a16:creationId xmlns:a16="http://schemas.microsoft.com/office/drawing/2014/main" id="{80EA64AB-E510-4FDF-B7EE-CC689EF3A91B}"/>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02B8DB41-A81A-4020-8E0E-445D4733D0FE}"/>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0, 0, 1</a:t>
            </a:r>
          </a:p>
        </p:txBody>
      </p:sp>
      <p:sp>
        <p:nvSpPr>
          <p:cNvPr id="11" name="">
            <a:extLst xmlns:a="http://schemas.openxmlformats.org/drawingml/2006/main">
              <a:ext uri="{FF2B5EF4-FFF2-40B4-BE49-F238E27FC236}">
                <a16:creationId xmlns:a16="http://schemas.microsoft.com/office/drawing/2014/main" id="{8D7D89AF-3EF5-4789-8468-C4015CA04501}"/>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a:t>
            </a:r>
          </a:p>
        </p:txBody>
      </p:sp>
      <p:sp>
        <p:nvSpPr>
          <p:cNvPr id="12" name="">
            <a:extLst xmlns:a="http://schemas.openxmlformats.org/drawingml/2006/main">
              <a:ext uri="{FF2B5EF4-FFF2-40B4-BE49-F238E27FC236}">
                <a16:creationId xmlns:a16="http://schemas.microsoft.com/office/drawing/2014/main" id="{29411A7D-FD2E-475C-9296-F718BCFF257A}"/>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1, 0, 0</a:t>
            </a:r>
          </a:p>
        </p:txBody>
      </p:sp>
      <p:sp>
        <p:nvSpPr>
          <p:cNvPr id="13" name="">
            <a:extLst xmlns:a="http://schemas.openxmlformats.org/drawingml/2006/main">
              <a:ext uri="{FF2B5EF4-FFF2-40B4-BE49-F238E27FC236}">
                <a16:creationId xmlns:a16="http://schemas.microsoft.com/office/drawing/2014/main" id="{26F72104-8857-4CE3-AC83-E1A1D253C647}"/>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a:t>
            </a:r>
          </a:p>
        </p:txBody>
      </p:sp>
    </p:spTree>
    <p:extLst>
      <p:ext uri="{BB962C8B-B14F-4D97-AF65-F5344CB8AC3E}">
        <p14:creationId xmlns:p14="http://schemas.microsoft.com/office/powerpoint/2010/main" val="7664332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17CD38-D211-40AA-8ADE-47F38BE341D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738244-2DED-42C2-9033-81D0E98A69A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39E93B40-3FAB-4E9B-8459-93BE8D52744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2E6094-54F4-4A1F-8074-C61F320F459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5E0DE41B-349B-47D3-AC4D-1E1C5ADB28A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44E550F4-53A2-4718-B170-E6613B0C692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3A5153D7-06DA-4823-AC42-337DCABE44BC}"/>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cada proposición antes de operar.</a:t>
            </a:r>
          </a:p>
        </p:txBody>
      </p:sp>
      <p:sp>
        <p:nvSpPr>
          <p:cNvPr id="8" name="">
            <a:extLst xmlns:a="http://schemas.openxmlformats.org/drawingml/2006/main">
              <a:ext uri="{FF2B5EF4-FFF2-40B4-BE49-F238E27FC236}">
                <a16:creationId xmlns:a16="http://schemas.microsoft.com/office/drawing/2014/main" id="{FC555CDC-E539-4515-9F29-9594E2AB4B89}"/>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BAD0162C-5339-4239-8B21-3CF10C46AD46}"/>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Distinguir OR inclusivo de OR exclusivo.</a:t>
            </a:r>
          </a:p>
        </p:txBody>
      </p:sp>
      <p:sp>
        <p:nvSpPr>
          <p:cNvPr id="10" name="">
            <a:extLst xmlns:a="http://schemas.openxmlformats.org/drawingml/2006/main">
              <a:ext uri="{FF2B5EF4-FFF2-40B4-BE49-F238E27FC236}">
                <a16:creationId xmlns:a16="http://schemas.microsoft.com/office/drawing/2014/main" id="{96AC91A8-B6A2-4CB7-AA33-9A908DF8E88A}"/>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C1268F6E-A5E9-4314-8BC3-9B596FF7F149}"/>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Probar equivalencia sobre todas las combinaciones.</a:t>
            </a:r>
          </a:p>
        </p:txBody>
      </p:sp>
    </p:spTree>
    <p:extLst>
      <p:ext uri="{BB962C8B-B14F-4D97-AF65-F5344CB8AC3E}">
        <p14:creationId xmlns:p14="http://schemas.microsoft.com/office/powerpoint/2010/main" val="1286147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2026-09-25T21:15:31.3020000Z</dcterms:created>
  <dcterms:modified xsi:type="dcterms:W3CDTF">2026-09-25T21:15:31.3020000Z</dcterms:modified>
</coreProperties>
</file>