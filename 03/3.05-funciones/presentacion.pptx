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ee81a57e6046fb" /><Relationship Type="http://schemas.openxmlformats.org/officeDocument/2006/relationships/extended-properties" Target="/docProps/app.xml" Id="R33a4bcc5bb2948b7" /><Relationship Type="http://schemas.openxmlformats.org/officeDocument/2006/relationships/officeDocument" Target="/ppt/presentation.xml" Id="R08d46ba7dcf2445b" /></Relationships>
</file>

<file path=ppt/presentation.xml><?xml version="1.0" encoding="utf-8"?>
<p:presentation xmlns:p="http://schemas.openxmlformats.org/presentationml/2006/main">
  <p:sldMasterIdLst>
    <p:sldMasterId xmlns:r="http://schemas.openxmlformats.org/officeDocument/2006/relationships" id="2147483648" r:id="R36b33c96d5a24c25"/>
  </p:sldMasterIdLst>
  <p:notesMasterIdLst>
    <p:notesMasterId xmlns:r="http://schemas.openxmlformats.org/officeDocument/2006/relationships" r:id="Rf6e4b84b87b8416b"/>
  </p:notesMasterIdLst>
  <p:sldIdLst>
    <p:sldId xmlns:r="http://schemas.openxmlformats.org/officeDocument/2006/relationships" id="256" r:id="R92e52050227b4f01"/>
    <p:sldId xmlns:r="http://schemas.openxmlformats.org/officeDocument/2006/relationships" id="257" r:id="Re42aeb6223944bd1"/>
    <p:sldId xmlns:r="http://schemas.openxmlformats.org/officeDocument/2006/relationships" id="258" r:id="Ra0bc788cf32f40ad"/>
    <p:sldId xmlns:r="http://schemas.openxmlformats.org/officeDocument/2006/relationships" id="259" r:id="R281cb4a0e5fb4787"/>
    <p:sldId xmlns:r="http://schemas.openxmlformats.org/officeDocument/2006/relationships" id="260" r:id="R4c9040488e2e422f"/>
    <p:sldId xmlns:r="http://schemas.openxmlformats.org/officeDocument/2006/relationships" id="261" r:id="Raaeabd53740040e8"/>
    <p:sldId xmlns:r="http://schemas.openxmlformats.org/officeDocument/2006/relationships" id="262" r:id="R758584b1a1494d83"/>
    <p:sldId xmlns:r="http://schemas.openxmlformats.org/officeDocument/2006/relationships" id="263" r:id="R6454a31c2fbe412a"/>
    <p:sldId xmlns:r="http://schemas.openxmlformats.org/officeDocument/2006/relationships" id="264" r:id="Rb3e381ee330e471b"/>
    <p:sldId xmlns:r="http://schemas.openxmlformats.org/officeDocument/2006/relationships" id="265" r:id="R39d55395e8cd46df"/>
    <p:sldId xmlns:r="http://schemas.openxmlformats.org/officeDocument/2006/relationships" id="266" r:id="Rf22592de94fb425f"/>
    <p:sldId xmlns:r="http://schemas.openxmlformats.org/officeDocument/2006/relationships" id="267" r:id="R6f8f43f8f3d44acd"/>
    <p:sldId xmlns:r="http://schemas.openxmlformats.org/officeDocument/2006/relationships" id="268" r:id="R0a107e9ba22b42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456f9af891471b" /><Relationship Type="http://schemas.openxmlformats.org/officeDocument/2006/relationships/slideMaster" Target="/ppt/slideMasters/slideMaster1.xml" Id="R36b33c96d5a24c25" /><Relationship Type="http://schemas.openxmlformats.org/officeDocument/2006/relationships/notesMaster" Target="/ppt/notesMasters/notesMaster1.xml" Id="Rf6e4b84b87b8416b" /><Relationship Type="http://schemas.openxmlformats.org/officeDocument/2006/relationships/presProps" Target="/ppt/presProps.xml" Id="Re0dd389ab3fe467e" /><Relationship Type="http://schemas.openxmlformats.org/officeDocument/2006/relationships/tableStyles" Target="/ppt/tableStyles.xml" Id="R7eecec5f30444bb8" /><Relationship Type="http://schemas.openxmlformats.org/officeDocument/2006/relationships/slide" Target="/ppt/slides/slide1.xml" Id="R92e52050227b4f01" /><Relationship Type="http://schemas.openxmlformats.org/officeDocument/2006/relationships/slide" Target="/ppt/slides/slide2.xml" Id="Re42aeb6223944bd1" /><Relationship Type="http://schemas.openxmlformats.org/officeDocument/2006/relationships/slide" Target="/ppt/slides/slide3.xml" Id="Ra0bc788cf32f40ad" /><Relationship Type="http://schemas.openxmlformats.org/officeDocument/2006/relationships/slide" Target="/ppt/slides/slide4.xml" Id="R281cb4a0e5fb4787" /><Relationship Type="http://schemas.openxmlformats.org/officeDocument/2006/relationships/slide" Target="/ppt/slides/slide5.xml" Id="R4c9040488e2e422f" /><Relationship Type="http://schemas.openxmlformats.org/officeDocument/2006/relationships/slide" Target="/ppt/slides/slide6.xml" Id="Raaeabd53740040e8" /><Relationship Type="http://schemas.openxmlformats.org/officeDocument/2006/relationships/slide" Target="/ppt/slides/slide7.xml" Id="R758584b1a1494d83" /><Relationship Type="http://schemas.openxmlformats.org/officeDocument/2006/relationships/slide" Target="/ppt/slides/slide8.xml" Id="R6454a31c2fbe412a" /><Relationship Type="http://schemas.openxmlformats.org/officeDocument/2006/relationships/slide" Target="/ppt/slides/slide9.xml" Id="Rb3e381ee330e471b" /><Relationship Type="http://schemas.openxmlformats.org/officeDocument/2006/relationships/slide" Target="/ppt/slides/slide10.xml" Id="R39d55395e8cd46df" /><Relationship Type="http://schemas.openxmlformats.org/officeDocument/2006/relationships/slide" Target="/ppt/slides/slide11.xml" Id="Rf22592de94fb425f" /><Relationship Type="http://schemas.openxmlformats.org/officeDocument/2006/relationships/slide" Target="/ppt/slides/slide12.xml" Id="R6f8f43f8f3d44acd" /><Relationship Type="http://schemas.openxmlformats.org/officeDocument/2006/relationships/slide" Target="/ppt/slides/slide13.xml" Id="R0a107e9ba22b42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8a71d7b234a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21ac277dcb4a00" /><Relationship Type="http://schemas.openxmlformats.org/officeDocument/2006/relationships/notesMaster" Target="/ppt/notesMasters/notesMaster1.xml" Id="R1dd174f140e043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58e69687864db6" /><Relationship Type="http://schemas.openxmlformats.org/officeDocument/2006/relationships/notesMaster" Target="/ppt/notesMasters/notesMaster1.xml" Id="Rd7662905bd784f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2c8f05ed004aad" /><Relationship Type="http://schemas.openxmlformats.org/officeDocument/2006/relationships/notesMaster" Target="/ppt/notesMasters/notesMaster1.xml" Id="R9262035f5ab24d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accd378198438d" /><Relationship Type="http://schemas.openxmlformats.org/officeDocument/2006/relationships/notesMaster" Target="/ppt/notesMasters/notesMaster1.xml" Id="R3c70348e03f24b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6261284dc844e3" /><Relationship Type="http://schemas.openxmlformats.org/officeDocument/2006/relationships/notesMaster" Target="/ppt/notesMasters/notesMaster1.xml" Id="R48c7f0e51d1f48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ac27591ebb4e34" /><Relationship Type="http://schemas.openxmlformats.org/officeDocument/2006/relationships/notesMaster" Target="/ppt/notesMasters/notesMaster1.xml" Id="Rbf28178b81004d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132c3b360b4f1f" /><Relationship Type="http://schemas.openxmlformats.org/officeDocument/2006/relationships/notesMaster" Target="/ppt/notesMasters/notesMaster1.xml" Id="R581560ab990f4c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88e14846194e08" /><Relationship Type="http://schemas.openxmlformats.org/officeDocument/2006/relationships/notesMaster" Target="/ppt/notesMasters/notesMaster1.xml" Id="R876b7d65318241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19e311e2c546ac" /><Relationship Type="http://schemas.openxmlformats.org/officeDocument/2006/relationships/notesMaster" Target="/ppt/notesMasters/notesMaster1.xml" Id="R9e627839be3e42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023569615c4196" /><Relationship Type="http://schemas.openxmlformats.org/officeDocument/2006/relationships/notesMaster" Target="/ppt/notesMasters/notesMaster1.xml" Id="R8657837fdb2d4f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6866c6f4804563" /><Relationship Type="http://schemas.openxmlformats.org/officeDocument/2006/relationships/notesMaster" Target="/ppt/notesMasters/notesMaster1.xml" Id="R4cd1d752793b49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15477287d24445" /><Relationship Type="http://schemas.openxmlformats.org/officeDocument/2006/relationships/notesMaster" Target="/ppt/notesMasters/notesMaster1.xml" Id="R6218e0e62da448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0f36d86efc46c0" /><Relationship Type="http://schemas.openxmlformats.org/officeDocument/2006/relationships/notesMaster" Target="/ppt/notesMasters/notesMaster1.xml" Id="Re2f6f518c9ba47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función reúne una operación con un nombre y un contrato. Los parámetros describen los datos que necesita; los argumentos son los valores de una llamada. Especificar precondiciones, resultado y efectos permite utilizarla sin leer su implementación. Elegir una responsabilidad precisa: validar una cantidad, calcular una tarifa o mostrar un informe. Evitar una función que simultáneamente lea, modifique datos y decida toda la aplicación.</a:t>
            </a:r>
          </a:p>
          <a:p xmlns:a="http://schemas.openxmlformats.org/drawingml/2006/main">
            <a:r>
              <a:t/>
            </a:r>
          </a:p>
          <a:p xmlns:a="http://schemas.openxmlformats.org/drawingml/2006/main">
            <a:r>
              <a:t>Definir con def y devolver con return. Los nombres de parámetros pertenecen al alcance local. Una anotación de tipo documenta, pero no valida automáticamente los argumentos. Comenzar con parámetros posicionales y luego usar nombres cuando aporten claridad.</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Retornar entrega un valor al código que llamó la función. Mostrar escribe en una salida y produce un efecto observable. Una función de cálculo que solo imprime dificulta reutilizar su resultado en otra operación. Separar ambas responsabilidades cuando el resultado se necesita después. return también finaliza la llamada, por lo que instrucciones posteriores en ese camino no se ejecutan.</a:t>
            </a:r>
          </a:p>
          <a:p xmlns:a="http://schemas.openxmlformats.org/drawingml/2006/main">
            <a:r>
              <a:t/>
            </a:r>
          </a:p>
          <a:p xmlns:a="http://schemas.openxmlformats.org/drawingml/2006/main">
            <a:r>
              <a:t>Una función sin return explícito devuelve None. print también devuelve None. No asignar resultado = print(...) esperando recuperar el texto mostrado. Usar return para resultados y dejar print en una capa de presentación.</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variable local pertenece a una llamada, no al programa entero. Evitar estado global para que una función dependa de argumentos visibles. Al pasar una colección, distinguir reasignar el parámetro de modificar el objeto compartido. La mutación se estudiará con listas; desde ahora, indicar si una función conserva o cambia sus entradas. Una función pura devuelve el mismo resultado para los mismos argumentos y no produce efectos externos.</a:t>
            </a:r>
          </a:p>
          <a:p xmlns:a="http://schemas.openxmlformats.org/drawingml/2006/main">
            <a:r>
              <a:t/>
            </a:r>
          </a:p>
          <a:p xmlns:a="http://schemas.openxmlformats.org/drawingml/2006/main">
            <a:r>
              <a:t>Reasignar un parámetro no reasigna el nombre usado por quien llama. Los nombres se enlazan a objetos. No usar listas mutables como valores predeterminados de parámetros: el mismo objeto se reutiliza entre llamadas.</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Probar una función con argumentos concretos reduce la dependencia del teclado. Comparar resultado y valor esperado, incluir fronteras y entrada inválida. Descomponer un problema en funciones que tengan nombres relacionados con el dominio. No crear funciones solo para ocultar una línea si no mejora el contrato. Mantener la validación donde corresponda y evitar que una función devuelva a veces número y a veces mensaje de error sin especificarlo.</a:t>
            </a:r>
          </a:p>
          <a:p xmlns:a="http://schemas.openxmlformats.org/drawingml/2006/main">
            <a:r>
              <a:t/>
            </a:r>
          </a:p>
          <a:p xmlns:a="http://schemas.openxmlformats.org/drawingml/2006/main">
            <a:r>
              <a:t>Usar assert en comprobaciones docentes y excepciones explícitas para precondiciones incumplidas. No usar assert como validación de entrada de una aplicación porque puede desactivarse. raise ValueError comunica un argumento fuera de dominio.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Calcular un resumen desde varios lugares del programa sin duplicar las reglas. Separar funciones que calculan de funciones que presentan resultados permite probar cada responsabilidad con datos concretos.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10510eac8c4d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91839ce1a54fea" /><Relationship Type="http://schemas.openxmlformats.org/officeDocument/2006/relationships/slideLayout" Target="/ppt/slideLayouts/slideLayout1.xml" Id="R6271834b242848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1834b242848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2f1989e93f44e3" /><Relationship Type="http://schemas.openxmlformats.org/officeDocument/2006/relationships/image" Target="/ppt/media/image.png" Id="Rde49d46030704d94" /><Relationship Type="http://schemas.openxmlformats.org/officeDocument/2006/relationships/notesSlide" Target="/ppt/notesSlides/notesSlide1.xml" Id="R0b19e680660a46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4b9f6e4ef84108" /><Relationship Type="http://schemas.openxmlformats.org/officeDocument/2006/relationships/notesSlide" Target="/ppt/notesSlides/notesSlide2.xml" Id="Re738c6e9e8464c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9af8a393ba40f0" /><Relationship Type="http://schemas.openxmlformats.org/officeDocument/2006/relationships/notesSlide" Target="/ppt/notesSlides/notesSlide3.xml" Id="Ra22256d9f24a40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b5496d1b21493e" /><Relationship Type="http://schemas.openxmlformats.org/officeDocument/2006/relationships/notesSlide" Target="/ppt/notesSlides/notesSlide4.xml" Id="Rff30ebf4fc3a46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53bb2c327541f9" /><Relationship Type="http://schemas.openxmlformats.org/officeDocument/2006/relationships/notesSlide" Target="/ppt/notesSlides/notesSlide5.xml" Id="Ra2ff5f3ed9fe44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d46ec1247040ee" /><Relationship Type="http://schemas.openxmlformats.org/officeDocument/2006/relationships/notesSlide" Target="/ppt/notesSlides/notesSlide6.xml" Id="Rac9b0133907347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708aeb3bfc4fdc" /><Relationship Type="http://schemas.openxmlformats.org/officeDocument/2006/relationships/notesSlide" Target="/ppt/notesSlides/notesSlide7.xml" Id="Reed6739279b64f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93311ac01744be" /><Relationship Type="http://schemas.openxmlformats.org/officeDocument/2006/relationships/notesSlide" Target="/ppt/notesSlides/notesSlide8.xml" Id="R46d941fa0c4c40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ec657e69634101" /><Relationship Type="http://schemas.openxmlformats.org/officeDocument/2006/relationships/notesSlide" Target="/ppt/notesSlides/notesSlide9.xml" Id="R4b556fbb234a4f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b19ffaa5434ef4" /><Relationship Type="http://schemas.openxmlformats.org/officeDocument/2006/relationships/notesSlide" Target="/ppt/notesSlides/notesSlide10.xml" Id="Rb3049952c92541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1701093e00494c" /><Relationship Type="http://schemas.openxmlformats.org/officeDocument/2006/relationships/notesSlide" Target="/ppt/notesSlides/notesSlide11.xml" Id="R858cbe0ba1bd42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454158bab6403f" /><Relationship Type="http://schemas.openxmlformats.org/officeDocument/2006/relationships/notesSlide" Target="/ppt/notesSlides/notesSlide12.xml" Id="R017ca83cc25d4b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051946fa9404d10" /><Relationship Type="http://schemas.openxmlformats.org/officeDocument/2006/relationships/notesSlide" Target="/ppt/notesSlides/notesSlide13.xml" Id="Rdfb1e5a89c5d437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e49d46030704d94"/>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83FC72-434E-4C2D-B6F7-5D29C4974E5E}"/>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C0A4B548-0D97-4781-A72B-2A0A23E09B4F}"/>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Funciones, contratos y descomposición</a:t>
            </a:r>
          </a:p>
        </p:txBody>
      </p:sp>
      <p:sp>
        <p:nvSpPr>
          <p:cNvPr id="4" name="">
            <a:extLst xmlns:a="http://schemas.openxmlformats.org/drawingml/2006/main">
              <a:ext uri="{FF2B5EF4-FFF2-40B4-BE49-F238E27FC236}">
                <a16:creationId xmlns:a16="http://schemas.microsoft.com/office/drawing/2014/main" id="{F5E888C7-DE7D-45A1-9B92-41A4094DDC83}"/>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7EF0CB-40FA-42A0-B4D6-F38BCD96C8DB}"/>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3.05 · Python</a:t>
            </a:r>
          </a:p>
        </p:txBody>
      </p:sp>
      <p:sp>
        <p:nvSpPr>
          <p:cNvPr id="6" name="">
            <a:extLst xmlns:a="http://schemas.openxmlformats.org/drawingml/2006/main">
              <a:ext uri="{FF2B5EF4-FFF2-40B4-BE49-F238E27FC236}">
                <a16:creationId xmlns:a16="http://schemas.microsoft.com/office/drawing/2014/main" id="{D13096EC-60F1-4163-B95A-003333D4AE50}"/>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6015410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D0A59E-EA6D-48A0-AD0E-BA1B4DB9FF63}"/>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5EC384-91E6-40C8-80AA-DD75E1B35E6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1F75B25B-694E-4A02-8976-27A72F4CA59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B5F87A-623D-4907-B35B-16F2C713178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20E9A72C-3208-434C-8F72-E739440F607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A4F67F47-2E46-4F2F-80B7-ABC6E9193953}"/>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Calcular un resumen desde varios lugares del programa sin duplicar las reglas. Separar funciones que calculan de funciones que presentan resultados permite probar cada responsabilidad con datos concretos.</a:t>
            </a:r>
          </a:p>
        </p:txBody>
      </p:sp>
      <p:sp>
        <p:nvSpPr>
          <p:cNvPr id="7" name="">
            <a:extLst xmlns:a="http://schemas.openxmlformats.org/drawingml/2006/main">
              <a:ext uri="{FF2B5EF4-FFF2-40B4-BE49-F238E27FC236}">
                <a16:creationId xmlns:a16="http://schemas.microsoft.com/office/drawing/2014/main" id="{A14C6374-685D-4C6A-BC13-54D11E790463}"/>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280541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4FC400-A37E-41DD-BDCF-68822398F20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BDBEA9-8405-444B-8B46-A349B7DBD7F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parámetros y argumentos</a:t>
            </a:r>
          </a:p>
        </p:txBody>
      </p:sp>
      <p:sp>
        <p:nvSpPr>
          <p:cNvPr id="3" name="">
            <a:extLst xmlns:a="http://schemas.openxmlformats.org/drawingml/2006/main">
              <a:ext uri="{FF2B5EF4-FFF2-40B4-BE49-F238E27FC236}">
                <a16:creationId xmlns:a16="http://schemas.microsoft.com/office/drawing/2014/main" id="{CF5D8D4B-F20F-41AA-B9E9-A8EF44784A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675261-FBCC-43AD-95C0-EFA36186BDF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B65154FC-35D2-4046-A8D6-F0B05814BCD6}"/>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29E9BBAC-7ECB-4F66-8091-ADF13F8C6A98}"/>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función reúne una operación con un nombre y un contrato. Los parámetros describen los datos que necesita; los argumentos son los valores de una llamada.</a:t>
            </a:r>
          </a:p>
        </p:txBody>
      </p:sp>
      <p:sp>
        <p:nvSpPr>
          <p:cNvPr id="7" name="">
            <a:extLst xmlns:a="http://schemas.openxmlformats.org/drawingml/2006/main">
              <a:ext uri="{FF2B5EF4-FFF2-40B4-BE49-F238E27FC236}">
                <a16:creationId xmlns:a16="http://schemas.microsoft.com/office/drawing/2014/main" id="{8ABB1496-3E3D-4CB0-927B-59962569D6AA}"/>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def doble(numero):</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return numero * 2</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print(doble(7))</a:t>
            </a:r>
          </a:p>
        </p:txBody>
      </p:sp>
      <p:sp>
        <p:nvSpPr>
          <p:cNvPr id="8" name="">
            <a:extLst xmlns:a="http://schemas.openxmlformats.org/drawingml/2006/main">
              <a:ext uri="{FF2B5EF4-FFF2-40B4-BE49-F238E27FC236}">
                <a16:creationId xmlns:a16="http://schemas.microsoft.com/office/drawing/2014/main" id="{9EA7881B-C5FD-444F-A75B-27DEA38D7827}"/>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Definir con def y devolver con return.</a:t>
            </a:r>
          </a:p>
        </p:txBody>
      </p:sp>
    </p:spTree>
    <p:extLst>
      <p:ext uri="{BB962C8B-B14F-4D97-AF65-F5344CB8AC3E}">
        <p14:creationId xmlns:p14="http://schemas.microsoft.com/office/powerpoint/2010/main" val="8548968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5D1658-99ED-4C86-8B0F-E6CDE02B36D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4795B4-4FF4-4BFF-A7C6-E79C56AB0745}"/>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Retornar y mostrar</a:t>
            </a:r>
          </a:p>
        </p:txBody>
      </p:sp>
      <p:sp>
        <p:nvSpPr>
          <p:cNvPr id="3" name="">
            <a:extLst xmlns:a="http://schemas.openxmlformats.org/drawingml/2006/main">
              <a:ext uri="{FF2B5EF4-FFF2-40B4-BE49-F238E27FC236}">
                <a16:creationId xmlns:a16="http://schemas.microsoft.com/office/drawing/2014/main" id="{A807E731-3AF1-4500-A051-E02B2B52C0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DA27EB-41DD-4540-ADF3-5499DFFA891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5C5397AE-85C6-438F-8F49-9C3B8D8B0BF7}"/>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67E3769F-DC22-4F20-8916-EA643EB825B0}"/>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Retornar entrega un valor al código que llamó la función. Mostrar escribe en una salida y produce un efecto observable.</a:t>
            </a:r>
          </a:p>
        </p:txBody>
      </p:sp>
      <p:sp>
        <p:nvSpPr>
          <p:cNvPr id="7" name="">
            <a:extLst xmlns:a="http://schemas.openxmlformats.org/drawingml/2006/main">
              <a:ext uri="{FF2B5EF4-FFF2-40B4-BE49-F238E27FC236}">
                <a16:creationId xmlns:a16="http://schemas.microsoft.com/office/drawing/2014/main" id="{AE7AF5F1-34A0-4920-B4EB-3694856D8931}"/>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def area(base, altura):</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return base * altura / 2</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resultado = area(4, 3)</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print(resultado)</a:t>
            </a:r>
          </a:p>
        </p:txBody>
      </p:sp>
      <p:sp>
        <p:nvSpPr>
          <p:cNvPr id="8" name="">
            <a:extLst xmlns:a="http://schemas.openxmlformats.org/drawingml/2006/main">
              <a:ext uri="{FF2B5EF4-FFF2-40B4-BE49-F238E27FC236}">
                <a16:creationId xmlns:a16="http://schemas.microsoft.com/office/drawing/2014/main" id="{244F10B9-6A10-4292-BBEF-30ECD9743440}"/>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Una función sin return explícito devuelve None.</a:t>
            </a:r>
          </a:p>
        </p:txBody>
      </p:sp>
    </p:spTree>
    <p:extLst>
      <p:ext uri="{BB962C8B-B14F-4D97-AF65-F5344CB8AC3E}">
        <p14:creationId xmlns:p14="http://schemas.microsoft.com/office/powerpoint/2010/main" val="13241812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4650A5-39A2-42A7-B2DF-A108E578D82D}"/>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B85FD1-46C5-40BB-AF6A-1AAC5BC7432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Alcance, mutabilidad y efectos</a:t>
            </a:r>
          </a:p>
        </p:txBody>
      </p:sp>
      <p:sp>
        <p:nvSpPr>
          <p:cNvPr id="3" name="">
            <a:extLst xmlns:a="http://schemas.openxmlformats.org/drawingml/2006/main">
              <a:ext uri="{FF2B5EF4-FFF2-40B4-BE49-F238E27FC236}">
                <a16:creationId xmlns:a16="http://schemas.microsoft.com/office/drawing/2014/main" id="{E369AA0F-84C6-4C5B-850D-6391D0A2E02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08E8BE-1EC1-4345-82AB-0B15A07CCD5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03CDEA65-24DA-43D7-A600-03446F5492D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0084A163-6907-48B3-BCFD-28225B618C05}"/>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variable local pertenece a una llamada, no al programa entero. Evitar estado global para que una función dependa de argumentos visibles.</a:t>
            </a:r>
          </a:p>
        </p:txBody>
      </p:sp>
      <p:sp>
        <p:nvSpPr>
          <p:cNvPr id="7" name="">
            <a:extLst xmlns:a="http://schemas.openxmlformats.org/drawingml/2006/main">
              <a:ext uri="{FF2B5EF4-FFF2-40B4-BE49-F238E27FC236}">
                <a16:creationId xmlns:a16="http://schemas.microsoft.com/office/drawing/2014/main" id="{929A62E0-285F-44F3-BC0C-5DA2E467B6F7}"/>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def incrementar(n):</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n += 1</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return n</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valor = 4</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print(incrementar(valor), valor)</a:t>
            </a:r>
          </a:p>
        </p:txBody>
      </p:sp>
      <p:sp>
        <p:nvSpPr>
          <p:cNvPr id="8" name="">
            <a:extLst xmlns:a="http://schemas.openxmlformats.org/drawingml/2006/main">
              <a:ext uri="{FF2B5EF4-FFF2-40B4-BE49-F238E27FC236}">
                <a16:creationId xmlns:a16="http://schemas.microsoft.com/office/drawing/2014/main" id="{89AA0C97-F962-4570-85F5-107D74C46099}"/>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Reasignar un parámetro no reasigna el nombre usado por quien llama.</a:t>
            </a:r>
          </a:p>
        </p:txBody>
      </p:sp>
    </p:spTree>
    <p:extLst>
      <p:ext uri="{BB962C8B-B14F-4D97-AF65-F5344CB8AC3E}">
        <p14:creationId xmlns:p14="http://schemas.microsoft.com/office/powerpoint/2010/main" val="13915607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0690AE-EC88-47E2-BBB3-EEC13CE2ECE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658716-FECD-4BA3-9D68-5D5433262AFD}"/>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Pruebas de funciones y descomposición</a:t>
            </a:r>
          </a:p>
        </p:txBody>
      </p:sp>
      <p:sp>
        <p:nvSpPr>
          <p:cNvPr id="3" name="">
            <a:extLst xmlns:a="http://schemas.openxmlformats.org/drawingml/2006/main">
              <a:ext uri="{FF2B5EF4-FFF2-40B4-BE49-F238E27FC236}">
                <a16:creationId xmlns:a16="http://schemas.microsoft.com/office/drawing/2014/main" id="{5E5409F0-CD9F-4517-B90C-CDAC9281CEC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083669-80EC-4316-8D2F-5ECCAF8A9FAB}"/>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2C57F717-E41F-40A3-9D2A-E8EBAA1C672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E83883B9-AFAB-44D3-91EA-6381AE5ABDA8}"/>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Probar una función con argumentos concretos reduce la dependencia del teclado. Comparar resultado y valor esperado, incluir fronteras y entrada inválida.</a:t>
            </a:r>
          </a:p>
        </p:txBody>
      </p:sp>
      <p:sp>
        <p:nvSpPr>
          <p:cNvPr id="7" name="">
            <a:extLst xmlns:a="http://schemas.openxmlformats.org/drawingml/2006/main">
              <a:ext uri="{FF2B5EF4-FFF2-40B4-BE49-F238E27FC236}">
                <a16:creationId xmlns:a16="http://schemas.microsoft.com/office/drawing/2014/main" id="{482CB90C-A272-4CA3-A267-94E248952C60}"/>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def mitad_par(n):</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if n % 2 != 0:</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raise ValueError("Se requiere un entero par")</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return n // 2</a:t>
            </a:r>
          </a:p>
        </p:txBody>
      </p:sp>
      <p:sp>
        <p:nvSpPr>
          <p:cNvPr id="8" name="">
            <a:extLst xmlns:a="http://schemas.openxmlformats.org/drawingml/2006/main">
              <a:ext uri="{FF2B5EF4-FFF2-40B4-BE49-F238E27FC236}">
                <a16:creationId xmlns:a16="http://schemas.microsoft.com/office/drawing/2014/main" id="{59CAB55E-AEFF-4748-96AC-D80E1E559A15}"/>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assert en comprobaciones docentes y excepciones explícitas para precondiciones incumplidas.</a:t>
            </a:r>
          </a:p>
        </p:txBody>
      </p:sp>
    </p:spTree>
    <p:extLst>
      <p:ext uri="{BB962C8B-B14F-4D97-AF65-F5344CB8AC3E}">
        <p14:creationId xmlns:p14="http://schemas.microsoft.com/office/powerpoint/2010/main" val="18617968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6E53676-7F2B-4564-A1FE-8AC3018DCA8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C9C8CC-B7B5-46D7-9E4B-136B1E018F8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3E2CD911-EA3A-4AFF-B3F1-096B42BBDEB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667D45-1624-4604-A4F8-7F1C209C9A1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67059C0F-3E9F-4D0C-BBB4-AC0D2182ABE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D6670161-9935-47D5-9AFE-5B30D2956A69}"/>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5F4FC8-C8F8-4038-BECC-4E80A063EFD4}"/>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568F31E4-A546-4255-86A7-F74729FDB255}"/>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04BCA760-C356-4332-885E-F563A3F2B5BD}"/>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C287A4BE-BDBF-4CF7-B10D-DCF307B78F8D}"/>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DC2C838-874A-4E39-A4A2-6EB19A5E1CA0}"/>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3095108F-6C8A-4416-AFED-E568B872631D}"/>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Retornar y mostrar</a:t>
            </a:r>
          </a:p>
        </p:txBody>
      </p:sp>
      <p:sp>
        <p:nvSpPr>
          <p:cNvPr id="13" name="">
            <a:extLst xmlns:a="http://schemas.openxmlformats.org/drawingml/2006/main">
              <a:ext uri="{FF2B5EF4-FFF2-40B4-BE49-F238E27FC236}">
                <a16:creationId xmlns:a16="http://schemas.microsoft.com/office/drawing/2014/main" id="{D14F3347-1AC3-452C-9159-31E04F8F8477}"/>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3F63AD58-7516-4BE8-9C45-DC4D4F05BCC2}"/>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6ED005C-3225-4BF8-A2DB-9D3D7AFDEFD4}"/>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51B5F781-AD1E-4D1F-9221-3FF235E50D29}"/>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Costo: 7.50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Valores negativos</a:t>
            </a:r>
          </a:p>
        </p:txBody>
      </p:sp>
      <p:sp>
        <p:nvSpPr>
          <p:cNvPr id="17" name="">
            <a:extLst xmlns:a="http://schemas.openxmlformats.org/drawingml/2006/main">
              <a:ext uri="{FF2B5EF4-FFF2-40B4-BE49-F238E27FC236}">
                <a16:creationId xmlns:a16="http://schemas.microsoft.com/office/drawing/2014/main" id="{38CD8A31-E8EF-470E-81AD-EE947AE9BC4D}"/>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7439501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240BA2-481B-4855-AB62-9E8C7106FE4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5F9FEC-ED4F-4E49-B25D-7F44E2868016}"/>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631791F1-60C1-4071-BC5A-F2CABAB11E5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6DCFC7-C30F-4D1D-80D4-A1922EEC3454}"/>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0B6BCA4E-D05C-4257-9D31-94FACA10621E}"/>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2BC71F7D-0122-4827-B20F-EA6BA9218841}"/>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def costo_horas(horas, tarifa):</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if horas &lt; 0 or tarifa &lt; 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raise ValueError("Valores negativos")</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return horas * tarifa</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print(f"Costo: {costo_horas(3, 2.5):.2f}")</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try:</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costo_horas(-1, 2.5)</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except ValueError as error:</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print(error)</a:t>
            </a:r>
          </a:p>
        </p:txBody>
      </p:sp>
    </p:spTree>
    <p:extLst>
      <p:ext uri="{BB962C8B-B14F-4D97-AF65-F5344CB8AC3E}">
        <p14:creationId xmlns:p14="http://schemas.microsoft.com/office/powerpoint/2010/main" val="7560998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1CB108-5BAC-4D9A-ADE4-DF1736454CE3}"/>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9D6905-14C0-44D0-9DB2-4DC263EFB7C2}"/>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01710A9B-F4EC-4362-A024-BEA81457860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0E2B69-8D83-41A2-BEC0-EBC6A2542637}"/>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B9617ED6-1AFE-456D-9268-74F26BFF23A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9FBB8AF5-849F-4F8F-B02B-0D05AA86A95D}"/>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Costo: 7.50</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Valores negativos</a:t>
            </a:r>
          </a:p>
        </p:txBody>
      </p:sp>
      <p:sp>
        <p:nvSpPr>
          <p:cNvPr id="7" name="">
            <a:extLst xmlns:a="http://schemas.openxmlformats.org/drawingml/2006/main">
              <a:ext uri="{FF2B5EF4-FFF2-40B4-BE49-F238E27FC236}">
                <a16:creationId xmlns:a16="http://schemas.microsoft.com/office/drawing/2014/main" id="{EA28CDD4-6328-4485-8487-439CDAFAE647}"/>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4307026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D2824E-A16C-4F3B-A331-EA4BF44F0CB9}"/>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16FA5A-D4A5-42F1-8B3E-ED3BDBDEADDD}"/>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Máximo de tres</a:t>
            </a:r>
          </a:p>
        </p:txBody>
      </p:sp>
      <p:sp>
        <p:nvSpPr>
          <p:cNvPr id="3" name="">
            <a:extLst xmlns:a="http://schemas.openxmlformats.org/drawingml/2006/main">
              <a:ext uri="{FF2B5EF4-FFF2-40B4-BE49-F238E27FC236}">
                <a16:creationId xmlns:a16="http://schemas.microsoft.com/office/drawing/2014/main" id="{2566CABF-6E11-473A-B477-141FE93084F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4CA4ED-77D9-4819-908D-D3ADD35AEF3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078CF76D-3BBD-453F-9F8A-19640D79338D}"/>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8EE033DF-195A-44DD-A3B1-6A4DAAA8F8DE}"/>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Definir mayor(a,b,c) sin usar max. Probar 8, 3 y 8.</a:t>
            </a:r>
          </a:p>
        </p:txBody>
      </p:sp>
      <p:sp>
        <p:nvSpPr>
          <p:cNvPr id="7" name="">
            <a:extLst xmlns:a="http://schemas.openxmlformats.org/drawingml/2006/main">
              <a:ext uri="{FF2B5EF4-FFF2-40B4-BE49-F238E27FC236}">
                <a16:creationId xmlns:a16="http://schemas.microsoft.com/office/drawing/2014/main" id="{27B61CBF-2FFF-446B-90E1-36E39FF1DB07}"/>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CA96B210-4CDC-4994-B34E-050BF4C519C5}"/>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8</a:t>
            </a:r>
          </a:p>
        </p:txBody>
      </p:sp>
    </p:spTree>
    <p:extLst>
      <p:ext uri="{BB962C8B-B14F-4D97-AF65-F5344CB8AC3E}">
        <p14:creationId xmlns:p14="http://schemas.microsoft.com/office/powerpoint/2010/main" val="9318561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995C13-166A-406F-9170-0C10CD09EDF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B74BC4-97AC-4F3E-9463-691B8778369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PC3.05 · Problema y restricciones</a:t>
            </a:r>
          </a:p>
        </p:txBody>
      </p:sp>
      <p:sp>
        <p:nvSpPr>
          <p:cNvPr id="3" name="">
            <a:extLst xmlns:a="http://schemas.openxmlformats.org/drawingml/2006/main">
              <a:ext uri="{FF2B5EF4-FFF2-40B4-BE49-F238E27FC236}">
                <a16:creationId xmlns:a16="http://schemas.microsoft.com/office/drawing/2014/main" id="{A00231DA-E6B2-4616-8DCE-7532BC9333A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6EB3FB-8824-4C97-9A7C-4137619F8DE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F29FBC5E-9543-4FD8-B0A7-5FC8ED1E721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686174A1-A26E-4354-B9BF-571554A85CFB}"/>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Definir es_primo(n), contar_primos(inicio, fin) y una función de presentación. Aceptar enteros y un intervalo con inicio &lt;= fin. Considerar que números menores que 2 no son primos. Retornar resultados desde las funciones de cálculo y mostrar desde la función de presentación. Rechazar intervalos invertidos con un error explícito.</a:t>
            </a:r>
          </a:p>
        </p:txBody>
      </p:sp>
      <p:sp>
        <p:nvSpPr>
          <p:cNvPr id="7" name="">
            <a:extLst xmlns:a="http://schemas.openxmlformats.org/drawingml/2006/main">
              <a:ext uri="{FF2B5EF4-FFF2-40B4-BE49-F238E27FC236}">
                <a16:creationId xmlns:a16="http://schemas.microsoft.com/office/drawing/2014/main" id="{3805E4EB-0515-4DAC-B9B0-72D801B5ADFE}"/>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714504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F857EA9-5BC6-4ACA-813D-70BFBC85905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92A29B-9425-4E27-94BC-8B5BE78D396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PC3.05 · Casos de aceptación</a:t>
            </a:r>
          </a:p>
        </p:txBody>
      </p:sp>
      <p:sp>
        <p:nvSpPr>
          <p:cNvPr id="3" name="">
            <a:extLst xmlns:a="http://schemas.openxmlformats.org/drawingml/2006/main">
              <a:ext uri="{FF2B5EF4-FFF2-40B4-BE49-F238E27FC236}">
                <a16:creationId xmlns:a16="http://schemas.microsoft.com/office/drawing/2014/main" id="{A945EC35-BF6F-4AA8-ADC2-8C0D562C6E0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D667D2-6E26-45BB-8A40-1144B510492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D13766E1-00AE-4BCB-8DA2-59439CDBD16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EB20EBAE-3B06-41E1-88C5-071367D23978}"/>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2, 10</a:t>
            </a:r>
          </a:p>
        </p:txBody>
      </p:sp>
      <p:sp>
        <p:nvSpPr>
          <p:cNvPr id="7" name="">
            <a:extLst xmlns:a="http://schemas.openxmlformats.org/drawingml/2006/main">
              <a:ext uri="{FF2B5EF4-FFF2-40B4-BE49-F238E27FC236}">
                <a16:creationId xmlns:a16="http://schemas.microsoft.com/office/drawing/2014/main" id="{CD2C9F18-B7DA-4BB3-AFB2-FEB8F2ABB823}"/>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4 primos</a:t>
            </a:r>
          </a:p>
        </p:txBody>
      </p:sp>
      <p:sp>
        <p:nvSpPr>
          <p:cNvPr id="8" name="">
            <a:extLst xmlns:a="http://schemas.openxmlformats.org/drawingml/2006/main">
              <a:ext uri="{FF2B5EF4-FFF2-40B4-BE49-F238E27FC236}">
                <a16:creationId xmlns:a16="http://schemas.microsoft.com/office/drawing/2014/main" id="{5103CCAA-3A62-4694-953A-65A6E87705C1}"/>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-3, 1</a:t>
            </a:r>
          </a:p>
        </p:txBody>
      </p:sp>
      <p:sp>
        <p:nvSpPr>
          <p:cNvPr id="9" name="">
            <a:extLst xmlns:a="http://schemas.openxmlformats.org/drawingml/2006/main">
              <a:ext uri="{FF2B5EF4-FFF2-40B4-BE49-F238E27FC236}">
                <a16:creationId xmlns:a16="http://schemas.microsoft.com/office/drawing/2014/main" id="{DC8AA3E5-4815-4638-9F07-C0D27168BD29}"/>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 primos</a:t>
            </a:r>
          </a:p>
        </p:txBody>
      </p:sp>
      <p:sp>
        <p:nvSpPr>
          <p:cNvPr id="10" name="">
            <a:extLst xmlns:a="http://schemas.openxmlformats.org/drawingml/2006/main">
              <a:ext uri="{FF2B5EF4-FFF2-40B4-BE49-F238E27FC236}">
                <a16:creationId xmlns:a16="http://schemas.microsoft.com/office/drawing/2014/main" id="{1DF2224B-55B4-4FD6-92E9-4AFD27DFE864}"/>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7, 7</a:t>
            </a:r>
          </a:p>
        </p:txBody>
      </p:sp>
      <p:sp>
        <p:nvSpPr>
          <p:cNvPr id="11" name="">
            <a:extLst xmlns:a="http://schemas.openxmlformats.org/drawingml/2006/main">
              <a:ext uri="{FF2B5EF4-FFF2-40B4-BE49-F238E27FC236}">
                <a16:creationId xmlns:a16="http://schemas.microsoft.com/office/drawing/2014/main" id="{3E24C1C2-6162-4327-8FC7-0AAAD6D184EA}"/>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 primo</a:t>
            </a:r>
          </a:p>
        </p:txBody>
      </p:sp>
      <p:sp>
        <p:nvSpPr>
          <p:cNvPr id="12" name="">
            <a:extLst xmlns:a="http://schemas.openxmlformats.org/drawingml/2006/main">
              <a:ext uri="{FF2B5EF4-FFF2-40B4-BE49-F238E27FC236}">
                <a16:creationId xmlns:a16="http://schemas.microsoft.com/office/drawing/2014/main" id="{D0F87611-7EA3-402F-A3AB-CA15BE41876F}"/>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10, 2</a:t>
            </a:r>
          </a:p>
        </p:txBody>
      </p:sp>
      <p:sp>
        <p:nvSpPr>
          <p:cNvPr id="13" name="">
            <a:extLst xmlns:a="http://schemas.openxmlformats.org/drawingml/2006/main">
              <a:ext uri="{FF2B5EF4-FFF2-40B4-BE49-F238E27FC236}">
                <a16:creationId xmlns:a16="http://schemas.microsoft.com/office/drawing/2014/main" id="{6285712C-7A07-4830-8252-1E38E61C063F}"/>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intervalo inválido</a:t>
            </a:r>
          </a:p>
        </p:txBody>
      </p:sp>
    </p:spTree>
    <p:extLst>
      <p:ext uri="{BB962C8B-B14F-4D97-AF65-F5344CB8AC3E}">
        <p14:creationId xmlns:p14="http://schemas.microsoft.com/office/powerpoint/2010/main" val="134951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C29784-92F6-4961-8005-B4FBF7EEA157}"/>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7B29D1-C477-4175-A862-E2085487F19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09F81D5D-C237-44FB-BB87-3DD3531BC15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CB2EE2-117C-44C0-8C32-6A6A5C91E38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3.05</a:t>
            </a:r>
          </a:p>
        </p:txBody>
      </p:sp>
      <p:sp>
        <p:nvSpPr>
          <p:cNvPr id="5" name="">
            <a:extLst xmlns:a="http://schemas.openxmlformats.org/drawingml/2006/main">
              <a:ext uri="{FF2B5EF4-FFF2-40B4-BE49-F238E27FC236}">
                <a16:creationId xmlns:a16="http://schemas.microsoft.com/office/drawing/2014/main" id="{5712DC6E-B280-4B98-AA5C-9CD042427A32}"/>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BB93B17E-9E8E-4099-AB2A-688C22F0B67A}"/>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39556890-CDDF-4F43-84F8-977572FDB717}"/>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Escribir contratos antes del cuerpo.</a:t>
            </a:r>
          </a:p>
        </p:txBody>
      </p:sp>
      <p:sp>
        <p:nvSpPr>
          <p:cNvPr id="8" name="">
            <a:extLst xmlns:a="http://schemas.openxmlformats.org/drawingml/2006/main">
              <a:ext uri="{FF2B5EF4-FFF2-40B4-BE49-F238E27FC236}">
                <a16:creationId xmlns:a16="http://schemas.microsoft.com/office/drawing/2014/main" id="{BB10D48B-7650-4E7E-B2A0-A403BAD415A4}"/>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5D4AA88A-A2C3-4608-A0AD-8EAA0EDBFA77}"/>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Retornar datos y separar presentación.</a:t>
            </a:r>
          </a:p>
        </p:txBody>
      </p:sp>
      <p:sp>
        <p:nvSpPr>
          <p:cNvPr id="10" name="">
            <a:extLst xmlns:a="http://schemas.openxmlformats.org/drawingml/2006/main">
              <a:ext uri="{FF2B5EF4-FFF2-40B4-BE49-F238E27FC236}">
                <a16:creationId xmlns:a16="http://schemas.microsoft.com/office/drawing/2014/main" id="{7CA933BE-79D6-4238-B8E4-A00FA32D21F2}"/>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C09CA28F-EFD1-4462-B25D-B7DA8CC68E5C}"/>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Probar cada función de manera aislada.</a:t>
            </a:r>
          </a:p>
        </p:txBody>
      </p:sp>
    </p:spTree>
    <p:extLst>
      <p:ext uri="{BB962C8B-B14F-4D97-AF65-F5344CB8AC3E}">
        <p14:creationId xmlns:p14="http://schemas.microsoft.com/office/powerpoint/2010/main" val="2097771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2026-09-25T21:15:55.0540000Z</dcterms:created>
  <dcterms:modified xsi:type="dcterms:W3CDTF">2026-09-25T21:15:55.0540000Z</dcterms:modified>
</coreProperties>
</file>