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f01d5ff74041d6" /><Relationship Type="http://schemas.openxmlformats.org/officeDocument/2006/relationships/extended-properties" Target="/docProps/app.xml" Id="Rb2f39512111f432a" /><Relationship Type="http://schemas.openxmlformats.org/officeDocument/2006/relationships/officeDocument" Target="/ppt/presentation.xml" Id="R46dc983eda134937" /></Relationships>
</file>

<file path=ppt/presentation.xml><?xml version="1.0" encoding="utf-8"?>
<p:presentation xmlns:p="http://schemas.openxmlformats.org/presentationml/2006/main">
  <p:sldMasterIdLst>
    <p:sldMasterId xmlns:r="http://schemas.openxmlformats.org/officeDocument/2006/relationships" id="2147483648" r:id="Rb47f018476cf44be"/>
  </p:sldMasterIdLst>
  <p:notesMasterIdLst>
    <p:notesMasterId xmlns:r="http://schemas.openxmlformats.org/officeDocument/2006/relationships" r:id="R14f853a7c6094921"/>
  </p:notesMasterIdLst>
  <p:sldIdLst>
    <p:sldId xmlns:r="http://schemas.openxmlformats.org/officeDocument/2006/relationships" id="256" r:id="R6ea214ff765e459e"/>
    <p:sldId xmlns:r="http://schemas.openxmlformats.org/officeDocument/2006/relationships" id="257" r:id="R4fbe2e16b3eb436f"/>
    <p:sldId xmlns:r="http://schemas.openxmlformats.org/officeDocument/2006/relationships" id="258" r:id="R29f6af08dd4d41a2"/>
    <p:sldId xmlns:r="http://schemas.openxmlformats.org/officeDocument/2006/relationships" id="259" r:id="R7a83dda9930a4f5a"/>
    <p:sldId xmlns:r="http://schemas.openxmlformats.org/officeDocument/2006/relationships" id="260" r:id="Re88eddcbef834804"/>
    <p:sldId xmlns:r="http://schemas.openxmlformats.org/officeDocument/2006/relationships" id="261" r:id="R8d543c92fb1e4c41"/>
    <p:sldId xmlns:r="http://schemas.openxmlformats.org/officeDocument/2006/relationships" id="262" r:id="R4738154d51484e78"/>
    <p:sldId xmlns:r="http://schemas.openxmlformats.org/officeDocument/2006/relationships" id="263" r:id="R96856164e4f54eb1"/>
    <p:sldId xmlns:r="http://schemas.openxmlformats.org/officeDocument/2006/relationships" id="264" r:id="Rb670b0c2155045bc"/>
    <p:sldId xmlns:r="http://schemas.openxmlformats.org/officeDocument/2006/relationships" id="265" r:id="R41ed896b31c440ad"/>
    <p:sldId xmlns:r="http://schemas.openxmlformats.org/officeDocument/2006/relationships" id="266" r:id="R6e6066132b5a490f"/>
    <p:sldId xmlns:r="http://schemas.openxmlformats.org/officeDocument/2006/relationships" id="267" r:id="R7b42ce9e435e4b2b"/>
    <p:sldId xmlns:r="http://schemas.openxmlformats.org/officeDocument/2006/relationships" id="268" r:id="Ra1a8c2a9e58e4d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15859e8163478a" /><Relationship Type="http://schemas.openxmlformats.org/officeDocument/2006/relationships/slideMaster" Target="/ppt/slideMasters/slideMaster1.xml" Id="Rb47f018476cf44be" /><Relationship Type="http://schemas.openxmlformats.org/officeDocument/2006/relationships/notesMaster" Target="/ppt/notesMasters/notesMaster1.xml" Id="R14f853a7c6094921" /><Relationship Type="http://schemas.openxmlformats.org/officeDocument/2006/relationships/presProps" Target="/ppt/presProps.xml" Id="R3d343ac6508246c8" /><Relationship Type="http://schemas.openxmlformats.org/officeDocument/2006/relationships/tableStyles" Target="/ppt/tableStyles.xml" Id="R3ce95a528ac2405a" /><Relationship Type="http://schemas.openxmlformats.org/officeDocument/2006/relationships/slide" Target="/ppt/slides/slide1.xml" Id="R6ea214ff765e459e" /><Relationship Type="http://schemas.openxmlformats.org/officeDocument/2006/relationships/slide" Target="/ppt/slides/slide2.xml" Id="R4fbe2e16b3eb436f" /><Relationship Type="http://schemas.openxmlformats.org/officeDocument/2006/relationships/slide" Target="/ppt/slides/slide3.xml" Id="R29f6af08dd4d41a2" /><Relationship Type="http://schemas.openxmlformats.org/officeDocument/2006/relationships/slide" Target="/ppt/slides/slide4.xml" Id="R7a83dda9930a4f5a" /><Relationship Type="http://schemas.openxmlformats.org/officeDocument/2006/relationships/slide" Target="/ppt/slides/slide5.xml" Id="Re88eddcbef834804" /><Relationship Type="http://schemas.openxmlformats.org/officeDocument/2006/relationships/slide" Target="/ppt/slides/slide6.xml" Id="R8d543c92fb1e4c41" /><Relationship Type="http://schemas.openxmlformats.org/officeDocument/2006/relationships/slide" Target="/ppt/slides/slide7.xml" Id="R4738154d51484e78" /><Relationship Type="http://schemas.openxmlformats.org/officeDocument/2006/relationships/slide" Target="/ppt/slides/slide8.xml" Id="R96856164e4f54eb1" /><Relationship Type="http://schemas.openxmlformats.org/officeDocument/2006/relationships/slide" Target="/ppt/slides/slide9.xml" Id="Rb670b0c2155045bc" /><Relationship Type="http://schemas.openxmlformats.org/officeDocument/2006/relationships/slide" Target="/ppt/slides/slide10.xml" Id="R41ed896b31c440ad" /><Relationship Type="http://schemas.openxmlformats.org/officeDocument/2006/relationships/slide" Target="/ppt/slides/slide11.xml" Id="R6e6066132b5a490f" /><Relationship Type="http://schemas.openxmlformats.org/officeDocument/2006/relationships/slide" Target="/ppt/slides/slide12.xml" Id="R7b42ce9e435e4b2b" /><Relationship Type="http://schemas.openxmlformats.org/officeDocument/2006/relationships/slide" Target="/ppt/slides/slide13.xml" Id="Ra1a8c2a9e58e4d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34ea9a876a4e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d7c63cd45c4b61" /><Relationship Type="http://schemas.openxmlformats.org/officeDocument/2006/relationships/notesMaster" Target="/ppt/notesMasters/notesMaster1.xml" Id="R8a988426203f44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94c668d489486a" /><Relationship Type="http://schemas.openxmlformats.org/officeDocument/2006/relationships/notesMaster" Target="/ppt/notesMasters/notesMaster1.xml" Id="R788135bb40ec45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c3c438c5f54c91" /><Relationship Type="http://schemas.openxmlformats.org/officeDocument/2006/relationships/notesMaster" Target="/ppt/notesMasters/notesMaster1.xml" Id="Rc9db778788b548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367c1f70ea4b2f" /><Relationship Type="http://schemas.openxmlformats.org/officeDocument/2006/relationships/notesMaster" Target="/ppt/notesMasters/notesMaster1.xml" Id="R3df89d9202e74e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99278e235046d2" /><Relationship Type="http://schemas.openxmlformats.org/officeDocument/2006/relationships/notesMaster" Target="/ppt/notesMasters/notesMaster1.xml" Id="R591fc1ec2df544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8f35da3c2541eb" /><Relationship Type="http://schemas.openxmlformats.org/officeDocument/2006/relationships/notesMaster" Target="/ppt/notesMasters/notesMaster1.xml" Id="Rf664a93f9b0b4d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55b60f25ea4db5" /><Relationship Type="http://schemas.openxmlformats.org/officeDocument/2006/relationships/notesMaster" Target="/ppt/notesMasters/notesMaster1.xml" Id="R0c51895c9fc542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3ac2bfdf20409a" /><Relationship Type="http://schemas.openxmlformats.org/officeDocument/2006/relationships/notesMaster" Target="/ppt/notesMasters/notesMaster1.xml" Id="R1cc2167d1932416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51521eb778461d" /><Relationship Type="http://schemas.openxmlformats.org/officeDocument/2006/relationships/notesMaster" Target="/ppt/notesMasters/notesMaster1.xml" Id="R40f554f7acd949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70b17476ca4c2f" /><Relationship Type="http://schemas.openxmlformats.org/officeDocument/2006/relationships/notesMaster" Target="/ppt/notesMasters/notesMaster1.xml" Id="Rff52d0e97fad42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e9c3f68d314876" /><Relationship Type="http://schemas.openxmlformats.org/officeDocument/2006/relationships/notesMaster" Target="/ppt/notesMasters/notesMaster1.xml" Id="Rd432b0f6079b42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25fd661711458c" /><Relationship Type="http://schemas.openxmlformats.org/officeDocument/2006/relationships/notesMaster" Target="/ppt/notesMasters/notesMaster1.xml" Id="R9993e7167e6345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0dffd9fc234a79" /><Relationship Type="http://schemas.openxmlformats.org/officeDocument/2006/relationships/notesMaster" Target="/ppt/notesMasters/notesMaster1.xml" Id="R1baded5e64254d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una repetición contada cuando el número de pasos se conoce o cuando se recorre una secuencia finita. Separar el número de iteraciones de los valores que toma el contador. Para sumar desde 1 hasta n, incluir n es una decisión del contrato. Probar n igual a cero y a uno para descubrir límites incorrectos.</a:t>
            </a:r>
          </a:p>
          <a:p xmlns:a="http://schemas.openxmlformats.org/drawingml/2006/main">
            <a:r>
              <a:t/>
            </a:r>
          </a:p>
          <a:p xmlns:a="http://schemas.openxmlformats.org/drawingml/2006/main">
            <a:r>
              <a:t>range(inicio, fin, paso) excluye fin. range(1, 6) produce 1 a 5. Un paso negativo permite descender y cero es inválido. for toma sucesivamente valores del iterable; modificar su variable no altera la secuencia de range.</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while cuando la continuidad depende del estado. El cuerpo puede ejecutarse cero veces. Identificar una cantidad que progrese hacia la terminación. Un centinela termina la lectura y no debe procesarse como dato. Un menú repite hasta una opción de salida, pero cada opción inválida también debe permitir una nueva entrada.</a:t>
            </a:r>
          </a:p>
          <a:p xmlns:a="http://schemas.openxmlformats.org/drawingml/2006/main">
            <a:r>
              <a:t/>
            </a:r>
          </a:p>
          <a:p xmlns:a="http://schemas.openxmlformats.org/drawingml/2006/main">
            <a:r>
              <a:t>Actualizar el estado antes de regresar a la condición. break termina el ciclo más interno. continue salta a la siguiente iteración y puede omitir una actualización si se coloca mal. Preferir una estructura clara antes de introducir saltos.</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contador aumenta por cada dato que cumple una condición. Un acumulador combina magnitudes. Definir qué representa después de k iteraciones: por ejemplo, total es la suma de los primeros k datos. Esta afirmación es un invariante útil para revisar el algoritmo. Calcular un promedio solo si la cantidad es positiva. No reiniciar el acumulador dentro del ciclo si debe conservar el historial.</a:t>
            </a:r>
          </a:p>
          <a:p xmlns:a="http://schemas.openxmlformats.org/drawingml/2006/main">
            <a:r>
              <a:t/>
            </a:r>
          </a:p>
          <a:p xmlns:a="http://schemas.openxmlformats.org/drawingml/2006/main">
            <a:r>
              <a:t>Inicializar cantidad=0 y total=0 antes del ciclo. Para máximos con datos negativos, no inicializar máximo en cero sin justificación: usar el primer dato válido o un estado que indique ausencia de datos.</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ciclos anidados, cada iteración externa inicia un recorrido interno. Si existen f filas y c columnas, se realizan f por c visitas cuando ambos límites son fijos. Restablecer los acumuladores por fila dentro del ciclo externo y los globales antes de ambos. Una traza pequeña de dos por tres elementos revela el orden de recorrido sin producir una salida excesiva.</a:t>
            </a:r>
          </a:p>
          <a:p xmlns:a="http://schemas.openxmlformats.org/drawingml/2006/main">
            <a:r>
              <a:t/>
            </a:r>
          </a:p>
          <a:p xmlns:a="http://schemas.openxmlformats.org/drawingml/2006/main">
            <a:r>
              <a:t>Indentar cada bloque y usar nombres como fila y columna. Evitar reutilizar la misma variable para ambos for. Una comprensión no sustituye la necesidad de comprender el recorrido explícito.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Resumir varias mediciones requiere repetir la misma regla sin duplicar instrucciones. Diseñar el estado que debe conservarse entre iteraciones y demostrar que el ciclo termina.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13e147e76947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8f695766704264" /><Relationship Type="http://schemas.openxmlformats.org/officeDocument/2006/relationships/slideLayout" Target="/ppt/slideLayouts/slideLayout1.xml" Id="Rd339dffb839f41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39dffb839f41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89fc5442cc405e" /><Relationship Type="http://schemas.openxmlformats.org/officeDocument/2006/relationships/image" Target="/ppt/media/image.png" Id="R61b2eff515654f53" /><Relationship Type="http://schemas.openxmlformats.org/officeDocument/2006/relationships/notesSlide" Target="/ppt/notesSlides/notesSlide1.xml" Id="R4037dee03b304b9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75cef278134304" /><Relationship Type="http://schemas.openxmlformats.org/officeDocument/2006/relationships/notesSlide" Target="/ppt/notesSlides/notesSlide2.xml" Id="Re48f233694734e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57b37692ee4187" /><Relationship Type="http://schemas.openxmlformats.org/officeDocument/2006/relationships/notesSlide" Target="/ppt/notesSlides/notesSlide3.xml" Id="R525f3a18d8554c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99709afd414261" /><Relationship Type="http://schemas.openxmlformats.org/officeDocument/2006/relationships/notesSlide" Target="/ppt/notesSlides/notesSlide4.xml" Id="Rc179b201a7ae44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2a2cf6b7e1421d" /><Relationship Type="http://schemas.openxmlformats.org/officeDocument/2006/relationships/notesSlide" Target="/ppt/notesSlides/notesSlide5.xml" Id="Rf38840944b7d45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0c00c368814f39" /><Relationship Type="http://schemas.openxmlformats.org/officeDocument/2006/relationships/notesSlide" Target="/ppt/notesSlides/notesSlide6.xml" Id="R85d7b03f04b442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7459e6c797491b" /><Relationship Type="http://schemas.openxmlformats.org/officeDocument/2006/relationships/notesSlide" Target="/ppt/notesSlides/notesSlide7.xml" Id="Rd94f6cc4c3ad45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7737d6ab5f4b4e" /><Relationship Type="http://schemas.openxmlformats.org/officeDocument/2006/relationships/notesSlide" Target="/ppt/notesSlides/notesSlide8.xml" Id="R3a9f7ed4f47047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512feaaa9454591" /><Relationship Type="http://schemas.openxmlformats.org/officeDocument/2006/relationships/notesSlide" Target="/ppt/notesSlides/notesSlide9.xml" Id="Re923f9ddf87e4c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c059ee2e7b484a" /><Relationship Type="http://schemas.openxmlformats.org/officeDocument/2006/relationships/notesSlide" Target="/ppt/notesSlides/notesSlide10.xml" Id="R7aef845fdffb49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550c3813d404205" /><Relationship Type="http://schemas.openxmlformats.org/officeDocument/2006/relationships/notesSlide" Target="/ppt/notesSlides/notesSlide11.xml" Id="R37c328e8369948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5a2595e9c64a2d" /><Relationship Type="http://schemas.openxmlformats.org/officeDocument/2006/relationships/notesSlide" Target="/ppt/notesSlides/notesSlide12.xml" Id="R39e2427daaed4d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fe416c8eb34ce0" /><Relationship Type="http://schemas.openxmlformats.org/officeDocument/2006/relationships/notesSlide" Target="/ppt/notesSlides/notesSlide13.xml" Id="Ra821493d83ec40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1b2eff515654f53"/>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C24F8C-823C-4367-934D-3C8B21E5C9CC}"/>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475D1CBB-722F-4F59-AD4B-AD8F02B51DBA}"/>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Repetición, contadores y acumuladores</a:t>
            </a:r>
          </a:p>
        </p:txBody>
      </p:sp>
      <p:sp>
        <p:nvSpPr>
          <p:cNvPr id="4" name="">
            <a:extLst xmlns:a="http://schemas.openxmlformats.org/drawingml/2006/main">
              <a:ext uri="{FF2B5EF4-FFF2-40B4-BE49-F238E27FC236}">
                <a16:creationId xmlns:a16="http://schemas.microsoft.com/office/drawing/2014/main" id="{F5424FF3-E880-454D-879C-89BC35CD023C}"/>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929B7B-6748-4747-804E-C9CC6E9C8C90}"/>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3 · 3.04 · Python</a:t>
            </a:r>
          </a:p>
        </p:txBody>
      </p:sp>
      <p:sp>
        <p:nvSpPr>
          <p:cNvPr id="6" name="">
            <a:extLst xmlns:a="http://schemas.openxmlformats.org/drawingml/2006/main">
              <a:ext uri="{FF2B5EF4-FFF2-40B4-BE49-F238E27FC236}">
                <a16:creationId xmlns:a16="http://schemas.microsoft.com/office/drawing/2014/main" id="{678A9E86-D37D-4647-962F-329236AA6713}"/>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3948942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FBA86A-7287-41EF-AD64-E1D2D8B362F9}"/>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6609DE-6ABA-4D65-9A97-E3B4F7C6184F}"/>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BB558801-1AC2-4EB7-A2BE-73C1B5D0C31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3317935-E403-46F4-AF0C-B44B9A4F5100}"/>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256C114F-539B-488E-975C-EF4747D1CFE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54EE8E29-5D49-4FFE-9783-6CC7CF461F69}"/>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Resumir varias mediciones requiere repetir la misma regla sin duplicar instrucciones. Diseñar el estado que debe conservarse entre iteraciones y demostrar que el ciclo termina.</a:t>
            </a:r>
          </a:p>
        </p:txBody>
      </p:sp>
      <p:sp>
        <p:nvSpPr>
          <p:cNvPr id="7" name="">
            <a:extLst xmlns:a="http://schemas.openxmlformats.org/drawingml/2006/main">
              <a:ext uri="{FF2B5EF4-FFF2-40B4-BE49-F238E27FC236}">
                <a16:creationId xmlns:a16="http://schemas.microsoft.com/office/drawing/2014/main" id="{C380F5B4-443B-4F92-83AD-13C7D7BEA6C6}"/>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3965614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E6E779-CB9E-435B-B931-580AC753DB4A}"/>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F7D0D8-4CA6-4CA0-B4D1-8E207E0997E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Repetición contada con for</a:t>
            </a:r>
          </a:p>
        </p:txBody>
      </p:sp>
      <p:sp>
        <p:nvSpPr>
          <p:cNvPr id="3" name="">
            <a:extLst xmlns:a="http://schemas.openxmlformats.org/drawingml/2006/main">
              <a:ext uri="{FF2B5EF4-FFF2-40B4-BE49-F238E27FC236}">
                <a16:creationId xmlns:a16="http://schemas.microsoft.com/office/drawing/2014/main" id="{0BAC646D-C175-4C0E-9C5B-65973AE50F9F}"/>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DEF918-F512-41CE-AF99-4EDD1ABBC950}"/>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1F0A49C2-5258-443C-8A28-52FD7C73943D}"/>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EB99BE44-561E-47A3-888F-F359D26B00DA}"/>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Usar una repetición contada cuando el número de pasos se conoce o cuando se recorre una secuencia finita. Separar el número de iteraciones de los valores que toma el contador.</a:t>
            </a:r>
          </a:p>
        </p:txBody>
      </p:sp>
      <p:sp>
        <p:nvSpPr>
          <p:cNvPr id="7" name="">
            <a:extLst xmlns:a="http://schemas.openxmlformats.org/drawingml/2006/main">
              <a:ext uri="{FF2B5EF4-FFF2-40B4-BE49-F238E27FC236}">
                <a16:creationId xmlns:a16="http://schemas.microsoft.com/office/drawing/2014/main" id="{0E0F2A83-4E75-456D-948F-ABB4F6B1447E}"/>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for numero in range(1, 6):</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print(numero)</a:t>
            </a:r>
          </a:p>
        </p:txBody>
      </p:sp>
      <p:sp>
        <p:nvSpPr>
          <p:cNvPr id="8" name="">
            <a:extLst xmlns:a="http://schemas.openxmlformats.org/drawingml/2006/main">
              <a:ext uri="{FF2B5EF4-FFF2-40B4-BE49-F238E27FC236}">
                <a16:creationId xmlns:a16="http://schemas.microsoft.com/office/drawing/2014/main" id="{7CAB73F9-BE4D-4C06-8687-60105B9BE6E3}"/>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range(inicio, fin, paso) excluye fin.</a:t>
            </a:r>
          </a:p>
        </p:txBody>
      </p:sp>
    </p:spTree>
    <p:extLst>
      <p:ext uri="{BB962C8B-B14F-4D97-AF65-F5344CB8AC3E}">
        <p14:creationId xmlns:p14="http://schemas.microsoft.com/office/powerpoint/2010/main" val="3422821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2CE8BE-1440-4954-93AC-83C504EC160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008776-EDB9-40DC-BB1B-594AF4B8986A}"/>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Repetición condicionada con while</a:t>
            </a:r>
          </a:p>
        </p:txBody>
      </p:sp>
      <p:sp>
        <p:nvSpPr>
          <p:cNvPr id="3" name="">
            <a:extLst xmlns:a="http://schemas.openxmlformats.org/drawingml/2006/main">
              <a:ext uri="{FF2B5EF4-FFF2-40B4-BE49-F238E27FC236}">
                <a16:creationId xmlns:a16="http://schemas.microsoft.com/office/drawing/2014/main" id="{979F5055-88F2-4DC1-9099-24CCC9E8715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3A36B1-A76A-46F6-B11A-A39B637A343A}"/>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6C0B2F9D-9992-4109-AC17-88687771DAB5}"/>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61EEDC1D-257A-4F41-A45D-604A69760A11}"/>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Usar while cuando la continuidad depende del estado. El cuerpo puede ejecutarse cero veces.</a:t>
            </a:r>
          </a:p>
        </p:txBody>
      </p:sp>
      <p:sp>
        <p:nvSpPr>
          <p:cNvPr id="7" name="">
            <a:extLst xmlns:a="http://schemas.openxmlformats.org/drawingml/2006/main">
              <a:ext uri="{FF2B5EF4-FFF2-40B4-BE49-F238E27FC236}">
                <a16:creationId xmlns:a16="http://schemas.microsoft.com/office/drawing/2014/main" id="{D0231DEF-273A-4EBE-AAB6-07921A8B8D73}"/>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restantes = 3</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while restantes &gt; 0:</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print(restantes)</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restantes -= 1</a:t>
            </a:r>
          </a:p>
        </p:txBody>
      </p:sp>
      <p:sp>
        <p:nvSpPr>
          <p:cNvPr id="8" name="">
            <a:extLst xmlns:a="http://schemas.openxmlformats.org/drawingml/2006/main">
              <a:ext uri="{FF2B5EF4-FFF2-40B4-BE49-F238E27FC236}">
                <a16:creationId xmlns:a16="http://schemas.microsoft.com/office/drawing/2014/main" id="{33BE4CF6-8D0B-489E-8D06-236476E33E0A}"/>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Actualizar el estado antes de regresar a la condición.</a:t>
            </a:r>
          </a:p>
        </p:txBody>
      </p:sp>
    </p:spTree>
    <p:extLst>
      <p:ext uri="{BB962C8B-B14F-4D97-AF65-F5344CB8AC3E}">
        <p14:creationId xmlns:p14="http://schemas.microsoft.com/office/powerpoint/2010/main" val="19824916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A9FD38D-0DAF-4FCD-9BAD-408159293CB4}"/>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F1CB04-11FA-4A98-96D7-7281042FA01A}"/>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Contar, acumular y mantener invariantes</a:t>
            </a:r>
          </a:p>
        </p:txBody>
      </p:sp>
      <p:sp>
        <p:nvSpPr>
          <p:cNvPr id="3" name="">
            <a:extLst xmlns:a="http://schemas.openxmlformats.org/drawingml/2006/main">
              <a:ext uri="{FF2B5EF4-FFF2-40B4-BE49-F238E27FC236}">
                <a16:creationId xmlns:a16="http://schemas.microsoft.com/office/drawing/2014/main" id="{98573DE3-BD2D-4925-97C5-D15E3138FF9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A6B4C9-B96C-4445-A8F2-A20C34D6DEC7}"/>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9F6799C3-1C38-47AC-9881-CE727A51516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7B9AA633-A561-4E6E-91EE-FB6CA840B7E4}"/>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 contador aumenta por cada dato que cumple una condición. Un acumulador combina magnitudes.</a:t>
            </a:r>
          </a:p>
        </p:txBody>
      </p:sp>
      <p:sp>
        <p:nvSpPr>
          <p:cNvPr id="7" name="">
            <a:extLst xmlns:a="http://schemas.openxmlformats.org/drawingml/2006/main">
              <a:ext uri="{FF2B5EF4-FFF2-40B4-BE49-F238E27FC236}">
                <a16:creationId xmlns:a16="http://schemas.microsoft.com/office/drawing/2014/main" id="{C41D3052-C2B3-4B08-8862-ED205C495C00}"/>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total = 0</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for numero in range(1, 5):</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total += numero</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print(total)</a:t>
            </a:r>
          </a:p>
        </p:txBody>
      </p:sp>
      <p:sp>
        <p:nvSpPr>
          <p:cNvPr id="8" name="">
            <a:extLst xmlns:a="http://schemas.openxmlformats.org/drawingml/2006/main">
              <a:ext uri="{FF2B5EF4-FFF2-40B4-BE49-F238E27FC236}">
                <a16:creationId xmlns:a16="http://schemas.microsoft.com/office/drawing/2014/main" id="{0240E818-D9F6-45A3-9C20-C00F20109CD8}"/>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Inicializar cantidad=0 y total=0 antes del ciclo.</a:t>
            </a:r>
          </a:p>
        </p:txBody>
      </p:sp>
    </p:spTree>
    <p:extLst>
      <p:ext uri="{BB962C8B-B14F-4D97-AF65-F5344CB8AC3E}">
        <p14:creationId xmlns:p14="http://schemas.microsoft.com/office/powerpoint/2010/main" val="9955762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2F02FA-86B1-406C-8DEA-538BC3212A59}"/>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6C8BDF-E4CC-47BA-8430-E63F6A6E98E3}"/>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Anidamiento, costo y pruebas</a:t>
            </a:r>
          </a:p>
        </p:txBody>
      </p:sp>
      <p:sp>
        <p:nvSpPr>
          <p:cNvPr id="3" name="">
            <a:extLst xmlns:a="http://schemas.openxmlformats.org/drawingml/2006/main">
              <a:ext uri="{FF2B5EF4-FFF2-40B4-BE49-F238E27FC236}">
                <a16:creationId xmlns:a16="http://schemas.microsoft.com/office/drawing/2014/main" id="{900C9297-4B7B-4BA7-9AD5-63112FE8B8A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A11D8C-B61A-4F77-9707-16E48CD758EE}"/>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9CC1009D-381B-4A7E-878D-2884474B177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8D8A2CF4-2FDF-4387-98A2-4D9D4027E8A5}"/>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En ciclos anidados, cada iteración externa inicia un recorrido interno. Si existen f filas y c columnas, se realizan f por c visitas cuando ambos límites son fijos.</a:t>
            </a:r>
          </a:p>
        </p:txBody>
      </p:sp>
      <p:sp>
        <p:nvSpPr>
          <p:cNvPr id="7" name="">
            <a:extLst xmlns:a="http://schemas.openxmlformats.org/drawingml/2006/main">
              <a:ext uri="{FF2B5EF4-FFF2-40B4-BE49-F238E27FC236}">
                <a16:creationId xmlns:a16="http://schemas.microsoft.com/office/drawing/2014/main" id="{DC955B09-3109-44DB-9B9C-C709E3C7844A}"/>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for fila in range(2):</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for columna in range(3):</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print(fila, columna)</a:t>
            </a:r>
          </a:p>
        </p:txBody>
      </p:sp>
      <p:sp>
        <p:nvSpPr>
          <p:cNvPr id="8" name="">
            <a:extLst xmlns:a="http://schemas.openxmlformats.org/drawingml/2006/main">
              <a:ext uri="{FF2B5EF4-FFF2-40B4-BE49-F238E27FC236}">
                <a16:creationId xmlns:a16="http://schemas.microsoft.com/office/drawing/2014/main" id="{06D6120E-5874-4AA5-B93E-8877B080F9F2}"/>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Indentar cada bloque y usar nombres como fila y columna.</a:t>
            </a:r>
          </a:p>
        </p:txBody>
      </p:sp>
    </p:spTree>
    <p:extLst>
      <p:ext uri="{BB962C8B-B14F-4D97-AF65-F5344CB8AC3E}">
        <p14:creationId xmlns:p14="http://schemas.microsoft.com/office/powerpoint/2010/main" val="8100029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751EB95-2558-403A-B725-3BF56D720DA7}"/>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F5FB46-D993-4A2A-9023-AE96BA0CD9E4}"/>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BDA00945-BBED-4664-A612-29EBCA2DB81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31A04A-B60F-4327-8A99-838A0CCECAC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83DAEA59-C121-46E8-A702-E2A7DA537D37}"/>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13FEBFF6-1035-463E-9F5A-617D0344B231}"/>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0D856CB-88D9-4FDF-BBB0-E423BA7848D0}"/>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A6938469-C6A7-4C6A-9E2A-675204370C1C}"/>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A5AB0173-4C88-48CA-9195-4EA8AEC227B7}"/>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F5246730-6EC4-4554-A0D4-D9999795E4FC}"/>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5FC00E-2072-43EC-9BB1-A7A07673E03B}"/>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C0040E97-1908-4402-A0F6-C9D0D7947942}"/>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Repetición condicionada con while</a:t>
            </a:r>
          </a:p>
        </p:txBody>
      </p:sp>
      <p:sp>
        <p:nvSpPr>
          <p:cNvPr id="13" name="">
            <a:extLst xmlns:a="http://schemas.openxmlformats.org/drawingml/2006/main">
              <a:ext uri="{FF2B5EF4-FFF2-40B4-BE49-F238E27FC236}">
                <a16:creationId xmlns:a16="http://schemas.microsoft.com/office/drawing/2014/main" id="{3482C9B0-A42D-42AD-AFEA-FBD7B7BF5D55}"/>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11C9A8C0-19A3-4CD4-889B-723E8800BAC5}"/>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83D5D3B-DA54-4DCC-930B-EA4F69EE115C}"/>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8784AED0-2A52-418E-8468-C7A6B7771438}"/>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Cantidad: 5</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Suma: 30</a:t>
            </a:r>
          </a:p>
        </p:txBody>
      </p:sp>
      <p:sp>
        <p:nvSpPr>
          <p:cNvPr id="17" name="">
            <a:extLst xmlns:a="http://schemas.openxmlformats.org/drawingml/2006/main">
              <a:ext uri="{FF2B5EF4-FFF2-40B4-BE49-F238E27FC236}">
                <a16:creationId xmlns:a16="http://schemas.microsoft.com/office/drawing/2014/main" id="{6E0CCEAB-18DF-46AD-A5B1-254E1B7FF129}"/>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214059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13CEDA-E92B-41D2-848C-13F046D1F6A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054F47-3192-440E-81A3-B39E76DB841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03BBAEC4-BA12-4DBF-A337-A58AADB2859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D3E29BA-738E-4713-8B30-4A0023780EA3}"/>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839AC484-E8DD-45A0-A37C-DBE573022638}"/>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CDC97041-2331-40C1-B3FC-FD1A1B41B1BA}"/>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total = 0</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cantidad = 0</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for numero in range(1, 11):</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if numero % 2 == 0:</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total += numero</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cantidad += 1</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print(f"Cantidad: {cantidad}")</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print(f"Suma: {total}")</a:t>
            </a:r>
          </a:p>
        </p:txBody>
      </p:sp>
    </p:spTree>
    <p:extLst>
      <p:ext uri="{BB962C8B-B14F-4D97-AF65-F5344CB8AC3E}">
        <p14:creationId xmlns:p14="http://schemas.microsoft.com/office/powerpoint/2010/main" val="14158750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7BE1D9-57F2-48D2-9447-09635528496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B82DE4-3EF9-437F-BD09-30C5597CB23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7F045946-7152-401F-89F1-5B6760948D0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2D7CF3-D79A-4B23-8229-D0A79FE275D8}"/>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A018C643-62B8-486D-A154-8287BA8EDDB5}"/>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A1734F13-C77B-4884-9A40-769CE084EA34}"/>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Cantidad: 5</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Suma: 30</a:t>
            </a:r>
          </a:p>
        </p:txBody>
      </p:sp>
      <p:sp>
        <p:nvSpPr>
          <p:cNvPr id="7" name="">
            <a:extLst xmlns:a="http://schemas.openxmlformats.org/drawingml/2006/main">
              <a:ext uri="{FF2B5EF4-FFF2-40B4-BE49-F238E27FC236}">
                <a16:creationId xmlns:a16="http://schemas.microsoft.com/office/drawing/2014/main" id="{B0C190BB-5133-41FF-93F1-0CCA617AA5F7}"/>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9722180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9FC1B3-3C96-42B1-8BCF-A1FB906E3878}"/>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CC19E98-1B5E-45EF-8FB1-C411B5548536}"/>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Ejercicio práctico · Contar múltiplos</a:t>
            </a:r>
          </a:p>
        </p:txBody>
      </p:sp>
      <p:sp>
        <p:nvSpPr>
          <p:cNvPr id="3" name="">
            <a:extLst xmlns:a="http://schemas.openxmlformats.org/drawingml/2006/main">
              <a:ext uri="{FF2B5EF4-FFF2-40B4-BE49-F238E27FC236}">
                <a16:creationId xmlns:a16="http://schemas.microsoft.com/office/drawing/2014/main" id="{F7680767-D4A1-4C11-8322-9D4FA141E02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469AAE-D4DE-4314-A91B-F5C9097C622A}"/>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E44C814A-CDF3-4C3A-865F-8AC252E0672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08C05340-C480-4847-B46B-950E32783E7A}"/>
              </a:ext>
            </a:extLst>
          </p:cNvPr>
          <p:cNvSpPr>
            <a:spLocks xmlns:a="http://schemas.openxmlformats.org/drawingml/2006/main" noGrp="1"/>
          </p:cNvSpPr>
          <p:nvPr/>
        </p:nvSpPr>
        <p:spPr>
          <a:xfrm xmlns:a="http://schemas.openxmlformats.org/drawingml/2006/main">
            <a:off x="819150" y="17145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Contar múltiplos de 3 entre 1 y 20 inclusive.</a:t>
            </a:r>
          </a:p>
        </p:txBody>
      </p:sp>
      <p:sp>
        <p:nvSpPr>
          <p:cNvPr id="7" name="">
            <a:extLst xmlns:a="http://schemas.openxmlformats.org/drawingml/2006/main">
              <a:ext uri="{FF2B5EF4-FFF2-40B4-BE49-F238E27FC236}">
                <a16:creationId xmlns:a16="http://schemas.microsoft.com/office/drawing/2014/main" id="{F82C8873-E1B0-4352-9E36-E2D7EF47F35C}"/>
              </a:ext>
            </a:extLst>
          </p:cNvPr>
          <p:cNvSpPr>
            <a:spLocks xmlns:a="http://schemas.openxmlformats.org/drawingml/2006/main" noGrp="1"/>
          </p:cNvSpPr>
          <p:nvPr/>
        </p:nvSpPr>
        <p:spPr>
          <a:xfrm xmlns:a="http://schemas.openxmlformats.org/drawingml/2006/main">
            <a:off x="819150" y="4286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Resultado de comprobación</a:t>
            </a:r>
          </a:p>
        </p:txBody>
      </p:sp>
      <p:sp>
        <p:nvSpPr>
          <p:cNvPr id="8" name="">
            <a:extLst xmlns:a="http://schemas.openxmlformats.org/drawingml/2006/main">
              <a:ext uri="{FF2B5EF4-FFF2-40B4-BE49-F238E27FC236}">
                <a16:creationId xmlns:a16="http://schemas.microsoft.com/office/drawing/2014/main" id="{D1CB02AF-290C-44AA-A2D3-53918C790C3E}"/>
              </a:ext>
            </a:extLst>
          </p:cNvPr>
          <p:cNvSpPr>
            <a:spLocks xmlns:a="http://schemas.openxmlformats.org/drawingml/2006/main" noGrp="1"/>
          </p:cNvSpPr>
          <p:nvPr/>
        </p:nvSpPr>
        <p:spPr>
          <a:xfrm xmlns:a="http://schemas.openxmlformats.org/drawingml/2006/main">
            <a:off x="819150" y="4857750"/>
            <a:ext cx="10477500" cy="95250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6</a:t>
            </a:r>
          </a:p>
        </p:txBody>
      </p:sp>
    </p:spTree>
    <p:extLst>
      <p:ext uri="{BB962C8B-B14F-4D97-AF65-F5344CB8AC3E}">
        <p14:creationId xmlns:p14="http://schemas.microsoft.com/office/powerpoint/2010/main" val="8045144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D30185-2C85-432B-963B-7E82895B096E}"/>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8D2C24-C698-4230-A37C-A400AB2D2B1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PC3.04 · Problema y restricciones</a:t>
            </a:r>
          </a:p>
        </p:txBody>
      </p:sp>
      <p:sp>
        <p:nvSpPr>
          <p:cNvPr id="3" name="">
            <a:extLst xmlns:a="http://schemas.openxmlformats.org/drawingml/2006/main">
              <a:ext uri="{FF2B5EF4-FFF2-40B4-BE49-F238E27FC236}">
                <a16:creationId xmlns:a16="http://schemas.microsoft.com/office/drawing/2014/main" id="{B029B1A3-B5F2-4D3B-AF6A-1FA073821AC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ABE9A5-BE5A-4B10-8E7E-8C7B394E9D7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03DA817E-99DE-4FD7-AE15-2915226C46E9}"/>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71E65745-C981-4998-A73B-496A01E57C52}"/>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Leer temperaturas enteras entre -20 y 50 hasta recibir 999. Rechazar datos fuera de rango sin contarlos. Mostrar cantidad, mínimo, máximo y promedio con dos decimales. Si no existen datos, mostrar “Sin datos”. Recuperarse de entradas no numéricas y no usar listas para resolver este ejercicio.</a:t>
            </a:r>
          </a:p>
        </p:txBody>
      </p:sp>
      <p:sp>
        <p:nvSpPr>
          <p:cNvPr id="7" name="">
            <a:extLst xmlns:a="http://schemas.openxmlformats.org/drawingml/2006/main">
              <a:ext uri="{FF2B5EF4-FFF2-40B4-BE49-F238E27FC236}">
                <a16:creationId xmlns:a16="http://schemas.microsoft.com/office/drawing/2014/main" id="{8891C46F-BA56-45B5-8A6C-FF2CF125618B}"/>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58988964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6C31418-CC4E-49BC-832F-748976D37582}"/>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2FFDCE-5043-44F5-ADFF-DB9B2714D255}"/>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PC3.04 · Casos de aceptación</a:t>
            </a:r>
          </a:p>
        </p:txBody>
      </p:sp>
      <p:sp>
        <p:nvSpPr>
          <p:cNvPr id="3" name="">
            <a:extLst xmlns:a="http://schemas.openxmlformats.org/drawingml/2006/main">
              <a:ext uri="{FF2B5EF4-FFF2-40B4-BE49-F238E27FC236}">
                <a16:creationId xmlns:a16="http://schemas.microsoft.com/office/drawing/2014/main" id="{2C3D5213-4C7F-4F91-9DA1-53647BC4820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7C8D8A-34DC-4DE2-A910-4FAD4972BB12}"/>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4ED40775-F7E3-4E0D-B12D-64F56F292710}"/>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A4F58EBB-2F19-4812-A92C-F485CAE92B68}"/>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10, 20, 999</a:t>
            </a:r>
          </a:p>
        </p:txBody>
      </p:sp>
      <p:sp>
        <p:nvSpPr>
          <p:cNvPr id="7" name="">
            <a:extLst xmlns:a="http://schemas.openxmlformats.org/drawingml/2006/main">
              <a:ext uri="{FF2B5EF4-FFF2-40B4-BE49-F238E27FC236}">
                <a16:creationId xmlns:a16="http://schemas.microsoft.com/office/drawing/2014/main" id="{11E66A84-B196-46D7-A6DB-B4E4A920EB8F}"/>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cantidad 2; mínimo 10; máximo 20; promedio 15.00</a:t>
            </a:r>
          </a:p>
        </p:txBody>
      </p:sp>
      <p:sp>
        <p:nvSpPr>
          <p:cNvPr id="8" name="">
            <a:extLst xmlns:a="http://schemas.openxmlformats.org/drawingml/2006/main">
              <a:ext uri="{FF2B5EF4-FFF2-40B4-BE49-F238E27FC236}">
                <a16:creationId xmlns:a16="http://schemas.microsoft.com/office/drawing/2014/main" id="{5D3CF0B5-AED7-4F38-9F7B-342DAE036B0E}"/>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999</a:t>
            </a:r>
          </a:p>
        </p:txBody>
      </p:sp>
      <p:sp>
        <p:nvSpPr>
          <p:cNvPr id="9" name="">
            <a:extLst xmlns:a="http://schemas.openxmlformats.org/drawingml/2006/main">
              <a:ext uri="{FF2B5EF4-FFF2-40B4-BE49-F238E27FC236}">
                <a16:creationId xmlns:a16="http://schemas.microsoft.com/office/drawing/2014/main" id="{336C18E7-0902-448F-9355-17F20FCBF847}"/>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Sin datos</a:t>
            </a:r>
          </a:p>
        </p:txBody>
      </p:sp>
      <p:sp>
        <p:nvSpPr>
          <p:cNvPr id="10" name="">
            <a:extLst xmlns:a="http://schemas.openxmlformats.org/drawingml/2006/main">
              <a:ext uri="{FF2B5EF4-FFF2-40B4-BE49-F238E27FC236}">
                <a16:creationId xmlns:a16="http://schemas.microsoft.com/office/drawing/2014/main" id="{EB0847FE-9C79-4722-9D89-AB9C3865C396}"/>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-30, -10, 999</a:t>
            </a:r>
          </a:p>
        </p:txBody>
      </p:sp>
      <p:sp>
        <p:nvSpPr>
          <p:cNvPr id="11" name="">
            <a:extLst xmlns:a="http://schemas.openxmlformats.org/drawingml/2006/main">
              <a:ext uri="{FF2B5EF4-FFF2-40B4-BE49-F238E27FC236}">
                <a16:creationId xmlns:a16="http://schemas.microsoft.com/office/drawing/2014/main" id="{CCD69EC0-4DD2-4005-A702-409A32BF3DC7}"/>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rechazar -30; promedio -10.00</a:t>
            </a:r>
          </a:p>
        </p:txBody>
      </p:sp>
      <p:sp>
        <p:nvSpPr>
          <p:cNvPr id="12" name="">
            <a:extLst xmlns:a="http://schemas.openxmlformats.org/drawingml/2006/main">
              <a:ext uri="{FF2B5EF4-FFF2-40B4-BE49-F238E27FC236}">
                <a16:creationId xmlns:a16="http://schemas.microsoft.com/office/drawing/2014/main" id="{5306494A-476F-48B1-8E65-646BB2FD0FB6}"/>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abc, 0, 999</a:t>
            </a:r>
          </a:p>
        </p:txBody>
      </p:sp>
      <p:sp>
        <p:nvSpPr>
          <p:cNvPr id="13" name="">
            <a:extLst xmlns:a="http://schemas.openxmlformats.org/drawingml/2006/main">
              <a:ext uri="{FF2B5EF4-FFF2-40B4-BE49-F238E27FC236}">
                <a16:creationId xmlns:a16="http://schemas.microsoft.com/office/drawing/2014/main" id="{DB219283-F4AB-41FA-BA19-2E92FC71EDAE}"/>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rechazar abc; promedio 0.00</a:t>
            </a:r>
          </a:p>
        </p:txBody>
      </p:sp>
    </p:spTree>
    <p:extLst>
      <p:ext uri="{BB962C8B-B14F-4D97-AF65-F5344CB8AC3E}">
        <p14:creationId xmlns:p14="http://schemas.microsoft.com/office/powerpoint/2010/main" val="4757816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E38E21-BC2F-46AF-9B08-4A3C5250EBC1}"/>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CB4562-6512-4234-BF23-7F416D456BD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3CF9D995-AE65-45F3-9FD5-D2C9C48ED59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193745-B0E4-4875-AC28-8FBB5407A8B2}"/>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3.04</a:t>
            </a:r>
          </a:p>
        </p:txBody>
      </p:sp>
      <p:sp>
        <p:nvSpPr>
          <p:cNvPr id="5" name="">
            <a:extLst xmlns:a="http://schemas.openxmlformats.org/drawingml/2006/main">
              <a:ext uri="{FF2B5EF4-FFF2-40B4-BE49-F238E27FC236}">
                <a16:creationId xmlns:a16="http://schemas.microsoft.com/office/drawing/2014/main" id="{C4C3DF3E-B39C-4D02-9498-A81C8E9FB005}"/>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1DD6DF1A-32C8-4847-9DB8-25682D29581F}"/>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AA9AC78C-709C-4F4B-BDF5-D20FCA9B5852}"/>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Inicializar estado antes del ciclo.</a:t>
            </a:r>
          </a:p>
        </p:txBody>
      </p:sp>
      <p:sp>
        <p:nvSpPr>
          <p:cNvPr id="8" name="">
            <a:extLst xmlns:a="http://schemas.openxmlformats.org/drawingml/2006/main">
              <a:ext uri="{FF2B5EF4-FFF2-40B4-BE49-F238E27FC236}">
                <a16:creationId xmlns:a16="http://schemas.microsoft.com/office/drawing/2014/main" id="{8136580F-636E-4394-8AE1-3769F6A593EC}"/>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7FBA91FD-12ED-4E2A-B086-AA29526EDA91}"/>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Excluir el centinela del procesamiento.</a:t>
            </a:r>
          </a:p>
        </p:txBody>
      </p:sp>
      <p:sp>
        <p:nvSpPr>
          <p:cNvPr id="10" name="">
            <a:extLst xmlns:a="http://schemas.openxmlformats.org/drawingml/2006/main">
              <a:ext uri="{FF2B5EF4-FFF2-40B4-BE49-F238E27FC236}">
                <a16:creationId xmlns:a16="http://schemas.microsoft.com/office/drawing/2014/main" id="{CA873E7B-0EF2-412B-9A20-1D05E2596819}"/>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A2261278-FDEF-43F8-BD65-5B130AC2B3A5}"/>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Justificar terminación y límites.</a:t>
            </a:r>
          </a:p>
        </p:txBody>
      </p:sp>
    </p:spTree>
    <p:extLst>
      <p:ext uri="{BB962C8B-B14F-4D97-AF65-F5344CB8AC3E}">
        <p14:creationId xmlns:p14="http://schemas.microsoft.com/office/powerpoint/2010/main" val="135023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2026-09-25T21:15:51.7870000Z</dcterms:created>
  <dcterms:modified xsi:type="dcterms:W3CDTF">2026-09-25T21:15:51.7870000Z</dcterms:modified>
</coreProperties>
</file>