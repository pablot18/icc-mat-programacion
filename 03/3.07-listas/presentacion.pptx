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6a0386aae54dbf" /><Relationship Type="http://schemas.openxmlformats.org/officeDocument/2006/relationships/extended-properties" Target="/docProps/app.xml" Id="Rd2bbb5c067c845d1" /><Relationship Type="http://schemas.openxmlformats.org/officeDocument/2006/relationships/officeDocument" Target="/ppt/presentation.xml" Id="Ra2d0e57c728d44ee" /></Relationships>
</file>

<file path=ppt/presentation.xml><?xml version="1.0" encoding="utf-8"?>
<p:presentation xmlns:p="http://schemas.openxmlformats.org/presentationml/2006/main">
  <p:sldMasterIdLst>
    <p:sldMasterId xmlns:r="http://schemas.openxmlformats.org/officeDocument/2006/relationships" id="2147483648" r:id="R5856274fee044755"/>
  </p:sldMasterIdLst>
  <p:notesMasterIdLst>
    <p:notesMasterId xmlns:r="http://schemas.openxmlformats.org/officeDocument/2006/relationships" r:id="Rc3bec00a90a84db3"/>
  </p:notesMasterIdLst>
  <p:sldIdLst>
    <p:sldId xmlns:r="http://schemas.openxmlformats.org/officeDocument/2006/relationships" id="256" r:id="Rb879ed402ca4419b"/>
    <p:sldId xmlns:r="http://schemas.openxmlformats.org/officeDocument/2006/relationships" id="257" r:id="R857ba54d3fd54fb0"/>
    <p:sldId xmlns:r="http://schemas.openxmlformats.org/officeDocument/2006/relationships" id="258" r:id="R9d0a4cdd0fec47c1"/>
    <p:sldId xmlns:r="http://schemas.openxmlformats.org/officeDocument/2006/relationships" id="259" r:id="Rb575400fd9af4e96"/>
    <p:sldId xmlns:r="http://schemas.openxmlformats.org/officeDocument/2006/relationships" id="260" r:id="Rb64544a18d604bc4"/>
    <p:sldId xmlns:r="http://schemas.openxmlformats.org/officeDocument/2006/relationships" id="261" r:id="R0f37bd38783d458b"/>
    <p:sldId xmlns:r="http://schemas.openxmlformats.org/officeDocument/2006/relationships" id="262" r:id="R744cb282887b40a7"/>
    <p:sldId xmlns:r="http://schemas.openxmlformats.org/officeDocument/2006/relationships" id="263" r:id="R0f464fb5acee48ad"/>
    <p:sldId xmlns:r="http://schemas.openxmlformats.org/officeDocument/2006/relationships" id="264" r:id="R15501aaa22b04f48"/>
    <p:sldId xmlns:r="http://schemas.openxmlformats.org/officeDocument/2006/relationships" id="265" r:id="R6d81b588e145496e"/>
    <p:sldId xmlns:r="http://schemas.openxmlformats.org/officeDocument/2006/relationships" id="266" r:id="R3bddac4576664f40"/>
    <p:sldId xmlns:r="http://schemas.openxmlformats.org/officeDocument/2006/relationships" id="267" r:id="R0509af9c87434a63"/>
    <p:sldId xmlns:r="http://schemas.openxmlformats.org/officeDocument/2006/relationships" id="268" r:id="R8d4453e030ed49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63496a43084426" /><Relationship Type="http://schemas.openxmlformats.org/officeDocument/2006/relationships/slideMaster" Target="/ppt/slideMasters/slideMaster1.xml" Id="R5856274fee044755" /><Relationship Type="http://schemas.openxmlformats.org/officeDocument/2006/relationships/notesMaster" Target="/ppt/notesMasters/notesMaster1.xml" Id="Rc3bec00a90a84db3" /><Relationship Type="http://schemas.openxmlformats.org/officeDocument/2006/relationships/presProps" Target="/ppt/presProps.xml" Id="Rfd8c884ae6bd46b5" /><Relationship Type="http://schemas.openxmlformats.org/officeDocument/2006/relationships/tableStyles" Target="/ppt/tableStyles.xml" Id="R74e36ac41a5b4bde" /><Relationship Type="http://schemas.openxmlformats.org/officeDocument/2006/relationships/slide" Target="/ppt/slides/slide1.xml" Id="Rb879ed402ca4419b" /><Relationship Type="http://schemas.openxmlformats.org/officeDocument/2006/relationships/slide" Target="/ppt/slides/slide2.xml" Id="R857ba54d3fd54fb0" /><Relationship Type="http://schemas.openxmlformats.org/officeDocument/2006/relationships/slide" Target="/ppt/slides/slide3.xml" Id="R9d0a4cdd0fec47c1" /><Relationship Type="http://schemas.openxmlformats.org/officeDocument/2006/relationships/slide" Target="/ppt/slides/slide4.xml" Id="Rb575400fd9af4e96" /><Relationship Type="http://schemas.openxmlformats.org/officeDocument/2006/relationships/slide" Target="/ppt/slides/slide5.xml" Id="Rb64544a18d604bc4" /><Relationship Type="http://schemas.openxmlformats.org/officeDocument/2006/relationships/slide" Target="/ppt/slides/slide6.xml" Id="R0f37bd38783d458b" /><Relationship Type="http://schemas.openxmlformats.org/officeDocument/2006/relationships/slide" Target="/ppt/slides/slide7.xml" Id="R744cb282887b40a7" /><Relationship Type="http://schemas.openxmlformats.org/officeDocument/2006/relationships/slide" Target="/ppt/slides/slide8.xml" Id="R0f464fb5acee48ad" /><Relationship Type="http://schemas.openxmlformats.org/officeDocument/2006/relationships/slide" Target="/ppt/slides/slide9.xml" Id="R15501aaa22b04f48" /><Relationship Type="http://schemas.openxmlformats.org/officeDocument/2006/relationships/slide" Target="/ppt/slides/slide10.xml" Id="R6d81b588e145496e" /><Relationship Type="http://schemas.openxmlformats.org/officeDocument/2006/relationships/slide" Target="/ppt/slides/slide11.xml" Id="R3bddac4576664f40" /><Relationship Type="http://schemas.openxmlformats.org/officeDocument/2006/relationships/slide" Target="/ppt/slides/slide12.xml" Id="R0509af9c87434a63" /><Relationship Type="http://schemas.openxmlformats.org/officeDocument/2006/relationships/slide" Target="/ppt/slides/slide13.xml" Id="R8d4453e030ed49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0fd46a09994a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b31d30db7d4e12" /><Relationship Type="http://schemas.openxmlformats.org/officeDocument/2006/relationships/notesMaster" Target="/ppt/notesMasters/notesMaster1.xml" Id="R1d80db9a4ada49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636705192c40b1" /><Relationship Type="http://schemas.openxmlformats.org/officeDocument/2006/relationships/notesMaster" Target="/ppt/notesMasters/notesMaster1.xml" Id="R33e8fe9fc8ce40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7604b14b114a27" /><Relationship Type="http://schemas.openxmlformats.org/officeDocument/2006/relationships/notesMaster" Target="/ppt/notesMasters/notesMaster1.xml" Id="R7b85ee74fa304b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ce8b8967754015" /><Relationship Type="http://schemas.openxmlformats.org/officeDocument/2006/relationships/notesMaster" Target="/ppt/notesMasters/notesMaster1.xml" Id="Rdb3eb1b28d4c4a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593498dfcf4ed2" /><Relationship Type="http://schemas.openxmlformats.org/officeDocument/2006/relationships/notesMaster" Target="/ppt/notesMasters/notesMaster1.xml" Id="R0b8f0663d66540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dfffa062fd4940" /><Relationship Type="http://schemas.openxmlformats.org/officeDocument/2006/relationships/notesMaster" Target="/ppt/notesMasters/notesMaster1.xml" Id="R3a1018102be443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dd5d285eb44cdd" /><Relationship Type="http://schemas.openxmlformats.org/officeDocument/2006/relationships/notesMaster" Target="/ppt/notesMasters/notesMaster1.xml" Id="R9190a2bb24ec45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571f6283854894" /><Relationship Type="http://schemas.openxmlformats.org/officeDocument/2006/relationships/notesMaster" Target="/ppt/notesMasters/notesMaster1.xml" Id="R886bddd4864447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c068e722074305" /><Relationship Type="http://schemas.openxmlformats.org/officeDocument/2006/relationships/notesMaster" Target="/ppt/notesMasters/notesMaster1.xml" Id="R26e1cc4188ac4d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49666b220d4b0a" /><Relationship Type="http://schemas.openxmlformats.org/officeDocument/2006/relationships/notesMaster" Target="/ppt/notesMasters/notesMaster1.xml" Id="R507d7462a33b48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7786eafc704f8e" /><Relationship Type="http://schemas.openxmlformats.org/officeDocument/2006/relationships/notesMaster" Target="/ppt/notesMasters/notesMaster1.xml" Id="R8beda8b8308447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120fe057da4724" /><Relationship Type="http://schemas.openxmlformats.org/officeDocument/2006/relationships/notesMaster" Target="/ppt/notesMasters/notesMaster1.xml" Id="R7882bc9f219640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476ae9fdba4452" /><Relationship Type="http://schemas.openxmlformats.org/officeDocument/2006/relationships/notesMaster" Target="/ppt/notesMasters/notesMaster1.xml" Id="Rbcfbc919a0a540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vector organiza elementos mediante posiciones. Una lista ofrece una secuencia cuyo tamaño puede cambiar. El primer índice suele ser cero y el último válido es longitud menos uno. Separar posición y valor: buscar la medición 20 no equivale a consultar la posición 20. Antes de acceder, comprobar que la colección tenga elementos y que el índice pertenezca al dominio.</a:t>
            </a:r>
          </a:p>
          <a:p xmlns:a="http://schemas.openxmlformats.org/drawingml/2006/main">
            <a:r>
              <a:t/>
            </a:r>
          </a:p>
          <a:p xmlns:a="http://schemas.openxmlformats.org/drawingml/2006/main">
            <a:r>
              <a:t>list es una secuencia mutable y dinámica de referencias. Puede contener tipos distintos, pero usar elementos homogéneos simplifica el contrato de estos ejercicios. Los índices negativos cuentan desde el final; los positivos fuera de rango producen IndexError.</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operación tiene efectos diferentes. Agregar aumenta el tamaño, reemplazar conserva el tamaño y eliminar desplaza las posiciones posteriores. Al borrar por valor puede haber duplicados y solo eliminarse la primera aparición. Definir si ausencia de un elemento es error o resultado normal. No modificar mientras se recorre hasta comprender cómo cambian los índices.</a:t>
            </a:r>
          </a:p>
          <a:p xmlns:a="http://schemas.openxmlformats.org/drawingml/2006/main">
            <a:r>
              <a:t/>
            </a:r>
          </a:p>
          <a:p xmlns:a="http://schemas.openxmlformats.org/drawingml/2006/main">
            <a:r>
              <a:t>append agrega al final, insert inserta, pop elimina y devuelve por índice, remove elimina la primera coincidencia. Estos métodos mutadores generalmente no devuelven la lista. No escribir lista = lista.append(x), porque append devuelve None.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Asignar una colección a otra variable puede compartir el mismo objeto. Una copia superficial crea un contenedor nuevo, pero puede compartir elementos internos. Con números inmutables basta para muchas transformaciones. Con listas anidadas, copiar solo el contenedor externo no aísla las filas. Definir expresamente si una función puede modificar la entrada.</a:t>
            </a:r>
          </a:p>
          <a:p xmlns:a="http://schemas.openxmlformats.org/drawingml/2006/main">
            <a:r>
              <a:t/>
            </a:r>
          </a:p>
          <a:p xmlns:a="http://schemas.openxmlformats.org/drawingml/2006/main">
            <a:r>
              <a:t>copia = datos.copy() o datos[:] crea una copia superficial. alias = datos comparte la misma lista. is compara identidad y == compara valores de listas. En matrices será necesario copiar cada fila para independizar su estructura.</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colección vacía es una entrada legítima en muchos problemas. La suma vacía puede definirse como cero, mientras que un mínimo sin datos requiere un error o un resultado de ausencia. El ordenamiento cambia el orden, por lo que puede destruir una correspondencia con posiciones originales. Decidir si el algoritmo debe conservar orden, duplicados y valores de entrada.</a:t>
            </a:r>
          </a:p>
          <a:p xmlns:a="http://schemas.openxmlformats.org/drawingml/2006/main">
            <a:r>
              <a:t/>
            </a:r>
          </a:p>
          <a:p xmlns:a="http://schemas.openxmlformats.org/drawingml/2006/main">
            <a:r>
              <a:t>sorted devuelve una lista nueva; sort ordena la existente y devuelve None. min y max fallan sobre una secuencia vacía sin valor predeterminado. Slices permiten seleccionar rangos sin lanzar IndexError por un extremo superior grande.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Guardar varias mediciones permite consultarlas y transformarlas sin crear una variable por observación. Elegir una estructura según su tamaño y mutabilidad, y distinguir una copia de otro nombre para la misma colección.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bcd1c5d74f46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a384dc9bda4ef6" /><Relationship Type="http://schemas.openxmlformats.org/officeDocument/2006/relationships/slideLayout" Target="/ppt/slideLayouts/slideLayout1.xml" Id="R0910d847fad849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10d847fad849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4e6de80c854455" /><Relationship Type="http://schemas.openxmlformats.org/officeDocument/2006/relationships/image" Target="/ppt/media/image.png" Id="R4ddb998647d845c4" /><Relationship Type="http://schemas.openxmlformats.org/officeDocument/2006/relationships/notesSlide" Target="/ppt/notesSlides/notesSlide1.xml" Id="R3a0378d7c46f42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25eb35f2b24e14" /><Relationship Type="http://schemas.openxmlformats.org/officeDocument/2006/relationships/notesSlide" Target="/ppt/notesSlides/notesSlide2.xml" Id="R8cdc5229a58e44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8a6006c8714ba7" /><Relationship Type="http://schemas.openxmlformats.org/officeDocument/2006/relationships/notesSlide" Target="/ppt/notesSlides/notesSlide3.xml" Id="Rf26f57447c2e4b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1117209b244475" /><Relationship Type="http://schemas.openxmlformats.org/officeDocument/2006/relationships/notesSlide" Target="/ppt/notesSlides/notesSlide4.xml" Id="R0e4cdbbc54004d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89cd43e59a406c" /><Relationship Type="http://schemas.openxmlformats.org/officeDocument/2006/relationships/notesSlide" Target="/ppt/notesSlides/notesSlide5.xml" Id="R9a81080aa1694d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c3cc7c763e4e23" /><Relationship Type="http://schemas.openxmlformats.org/officeDocument/2006/relationships/notesSlide" Target="/ppt/notesSlides/notesSlide6.xml" Id="Rfea75e20cc6e4e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049d0ffcd54ff4" /><Relationship Type="http://schemas.openxmlformats.org/officeDocument/2006/relationships/notesSlide" Target="/ppt/notesSlides/notesSlide7.xml" Id="R004f4d90e74e46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0af9d246274228" /><Relationship Type="http://schemas.openxmlformats.org/officeDocument/2006/relationships/notesSlide" Target="/ppt/notesSlides/notesSlide8.xml" Id="R16ddd9464ec24b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5d10ace3464765" /><Relationship Type="http://schemas.openxmlformats.org/officeDocument/2006/relationships/notesSlide" Target="/ppt/notesSlides/notesSlide9.xml" Id="Rb99afca1e39449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fadb297517443e9" /><Relationship Type="http://schemas.openxmlformats.org/officeDocument/2006/relationships/notesSlide" Target="/ppt/notesSlides/notesSlide10.xml" Id="R986c35d5f68344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1242f230e04694" /><Relationship Type="http://schemas.openxmlformats.org/officeDocument/2006/relationships/notesSlide" Target="/ppt/notesSlides/notesSlide11.xml" Id="Rd5ba4d6de6c745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2848faa2b7e4fde" /><Relationship Type="http://schemas.openxmlformats.org/officeDocument/2006/relationships/notesSlide" Target="/ppt/notesSlides/notesSlide12.xml" Id="R90564620b44348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5d385f78fb343e9" /><Relationship Type="http://schemas.openxmlformats.org/officeDocument/2006/relationships/notesSlide" Target="/ppt/notesSlides/notesSlide13.xml" Id="Rf2d1d35d4e9b4a1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ddb998647d845c4"/>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6DB247-AB24-44AB-9CD8-456522C97C6E}"/>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C3E6B1CE-B9A3-4D84-8D12-11D6CECF8113}"/>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Vectores y listas</a:t>
            </a:r>
          </a:p>
        </p:txBody>
      </p:sp>
      <p:sp>
        <p:nvSpPr>
          <p:cNvPr id="4" name="">
            <a:extLst xmlns:a="http://schemas.openxmlformats.org/drawingml/2006/main">
              <a:ext uri="{FF2B5EF4-FFF2-40B4-BE49-F238E27FC236}">
                <a16:creationId xmlns:a16="http://schemas.microsoft.com/office/drawing/2014/main" id="{A7E3E36D-726C-42A2-9AF5-3B17147C7CBC}"/>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760CCC-FB79-4CD0-8FF1-F9BB6E30A7A5}"/>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3.07 · Python</a:t>
            </a:r>
          </a:p>
        </p:txBody>
      </p:sp>
      <p:sp>
        <p:nvSpPr>
          <p:cNvPr id="6" name="">
            <a:extLst xmlns:a="http://schemas.openxmlformats.org/drawingml/2006/main">
              <a:ext uri="{FF2B5EF4-FFF2-40B4-BE49-F238E27FC236}">
                <a16:creationId xmlns:a16="http://schemas.microsoft.com/office/drawing/2014/main" id="{C20FB456-D56E-458D-8935-B6EC3961C652}"/>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6128457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E547B1-855F-4ADC-AFCE-4A69AE5508E3}"/>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AC177F-2351-4D0F-A033-9B0ECE7D6E9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116E2D32-3961-40E0-8D13-E7FC5A1A40D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52639C-2243-45F3-8508-1C33A2A0F8E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180A28D1-8326-4E27-BDE2-170F0F3EC3BA}"/>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B078E22D-F9A8-416D-89DC-57D423FEA0A4}"/>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Guardar varias mediciones permite consultarlas y transformarlas sin crear una variable por observación. Elegir una estructura según su tamaño y mutabilidad, y distinguir una copia de otro nombre para la misma colección.</a:t>
            </a:r>
          </a:p>
        </p:txBody>
      </p:sp>
      <p:sp>
        <p:nvSpPr>
          <p:cNvPr id="7" name="">
            <a:extLst xmlns:a="http://schemas.openxmlformats.org/drawingml/2006/main">
              <a:ext uri="{FF2B5EF4-FFF2-40B4-BE49-F238E27FC236}">
                <a16:creationId xmlns:a16="http://schemas.microsoft.com/office/drawing/2014/main" id="{3C4DF920-CAEC-45A7-A071-D1D98D0B7AB6}"/>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21040073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8238CB-3EB9-4709-B7AF-283A0987281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1231BF-0ADE-4F68-9B50-D62BBC36964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Modelo de secuencia e índices</a:t>
            </a:r>
          </a:p>
        </p:txBody>
      </p:sp>
      <p:sp>
        <p:nvSpPr>
          <p:cNvPr id="3" name="">
            <a:extLst xmlns:a="http://schemas.openxmlformats.org/drawingml/2006/main">
              <a:ext uri="{FF2B5EF4-FFF2-40B4-BE49-F238E27FC236}">
                <a16:creationId xmlns:a16="http://schemas.microsoft.com/office/drawing/2014/main" id="{13EABB21-1EA1-437D-9510-EADCF5E9D71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F585FF-B5B3-4571-8237-1EB1462B6FA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55FA0B5B-26AC-4C03-9495-2295F59C311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D1E55DF7-6456-4083-894D-4246464E232B}"/>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 vector organiza elementos mediante posiciones. Una lista ofrece una secuencia cuyo tamaño puede cambiar.</a:t>
            </a:r>
          </a:p>
        </p:txBody>
      </p:sp>
      <p:sp>
        <p:nvSpPr>
          <p:cNvPr id="7" name="">
            <a:extLst xmlns:a="http://schemas.openxmlformats.org/drawingml/2006/main">
              <a:ext uri="{FF2B5EF4-FFF2-40B4-BE49-F238E27FC236}">
                <a16:creationId xmlns:a16="http://schemas.microsoft.com/office/drawing/2014/main" id="{2AE1F16C-8090-4746-A0E7-4C23867D3297}"/>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notas = [7, 9, 8]</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print(notas[0], len(notas))</a:t>
            </a:r>
          </a:p>
        </p:txBody>
      </p:sp>
      <p:sp>
        <p:nvSpPr>
          <p:cNvPr id="8" name="">
            <a:extLst xmlns:a="http://schemas.openxmlformats.org/drawingml/2006/main">
              <a:ext uri="{FF2B5EF4-FFF2-40B4-BE49-F238E27FC236}">
                <a16:creationId xmlns:a16="http://schemas.microsoft.com/office/drawing/2014/main" id="{FB3910FA-8A34-4E7E-81FA-36843647D441}"/>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list es una secuencia mutable y dinámica de referencias.</a:t>
            </a:r>
          </a:p>
        </p:txBody>
      </p:sp>
    </p:spTree>
    <p:extLst>
      <p:ext uri="{BB962C8B-B14F-4D97-AF65-F5344CB8AC3E}">
        <p14:creationId xmlns:p14="http://schemas.microsoft.com/office/powerpoint/2010/main" val="12975172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429702-A4CF-4CA0-A6C2-BA7A8874C73D}"/>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089720-B264-436F-8E5F-E627D720CD54}"/>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Agregar, consultar y eliminar</a:t>
            </a:r>
          </a:p>
        </p:txBody>
      </p:sp>
      <p:sp>
        <p:nvSpPr>
          <p:cNvPr id="3" name="">
            <a:extLst xmlns:a="http://schemas.openxmlformats.org/drawingml/2006/main">
              <a:ext uri="{FF2B5EF4-FFF2-40B4-BE49-F238E27FC236}">
                <a16:creationId xmlns:a16="http://schemas.microsoft.com/office/drawing/2014/main" id="{E6EDBBE3-5DE8-4FAC-A3F0-5509AD852D0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974891-2CE7-4C4C-81DB-8BC889B26ED7}"/>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3605DFD1-1C11-4CB9-94F5-F89BD324E9D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CA29AC81-2C42-4023-9DA5-B5CCBA1ADC89}"/>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Cada operación tiene efectos diferentes. Agregar aumenta el tamaño, reemplazar conserva el tamaño y eliminar desplaza las posiciones posteriores.</a:t>
            </a:r>
          </a:p>
        </p:txBody>
      </p:sp>
      <p:sp>
        <p:nvSpPr>
          <p:cNvPr id="7" name="">
            <a:extLst xmlns:a="http://schemas.openxmlformats.org/drawingml/2006/main">
              <a:ext uri="{FF2B5EF4-FFF2-40B4-BE49-F238E27FC236}">
                <a16:creationId xmlns:a16="http://schemas.microsoft.com/office/drawing/2014/main" id="{38BD64F5-AF24-46D8-8D29-99F1A0A5ED47}"/>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 [2, 4]</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datos.append(6)</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datos[0] = 3</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print(datos.pop())</a:t>
            </a:r>
          </a:p>
        </p:txBody>
      </p:sp>
      <p:sp>
        <p:nvSpPr>
          <p:cNvPr id="8" name="">
            <a:extLst xmlns:a="http://schemas.openxmlformats.org/drawingml/2006/main">
              <a:ext uri="{FF2B5EF4-FFF2-40B4-BE49-F238E27FC236}">
                <a16:creationId xmlns:a16="http://schemas.microsoft.com/office/drawing/2014/main" id="{EEBD86EB-636E-4C12-AD9B-C22960845265}"/>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append agrega al final, insert inserta, pop elimina y devuelve por índice, remove elimina la primera coincidencia.</a:t>
            </a:r>
          </a:p>
        </p:txBody>
      </p:sp>
    </p:spTree>
    <p:extLst>
      <p:ext uri="{BB962C8B-B14F-4D97-AF65-F5344CB8AC3E}">
        <p14:creationId xmlns:p14="http://schemas.microsoft.com/office/powerpoint/2010/main" val="21116013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3760F6-4D99-45BA-B850-5EA053A00571}"/>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5DBC1A-D377-43C7-B42C-89B28A1AA55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Alias, copia y mutabilidad</a:t>
            </a:r>
          </a:p>
        </p:txBody>
      </p:sp>
      <p:sp>
        <p:nvSpPr>
          <p:cNvPr id="3" name="">
            <a:extLst xmlns:a="http://schemas.openxmlformats.org/drawingml/2006/main">
              <a:ext uri="{FF2B5EF4-FFF2-40B4-BE49-F238E27FC236}">
                <a16:creationId xmlns:a16="http://schemas.microsoft.com/office/drawing/2014/main" id="{687D7E6D-7643-4AC1-8184-A91A391B6F8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7348D6-C4C5-4300-A941-B8D3D6BAE62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2D5E6984-6AFE-4225-A0F5-1E956C31062A}"/>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07A7B4E9-91A0-4025-9041-FC6064558787}"/>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Asignar una colección a otra variable puede compartir el mismo objeto. Una copia superficial crea un contenedor nuevo, pero puede compartir elementos internos.</a:t>
            </a:r>
          </a:p>
        </p:txBody>
      </p:sp>
      <p:sp>
        <p:nvSpPr>
          <p:cNvPr id="7" name="">
            <a:extLst xmlns:a="http://schemas.openxmlformats.org/drawingml/2006/main">
              <a:ext uri="{FF2B5EF4-FFF2-40B4-BE49-F238E27FC236}">
                <a16:creationId xmlns:a16="http://schemas.microsoft.com/office/drawing/2014/main" id="{1B39B6F8-9924-4D3F-ABA8-478EF078F0FB}"/>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original = [2, 4]</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copia = original.copy()</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copia[0] = 9</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print(original, copia)</a:t>
            </a:r>
          </a:p>
        </p:txBody>
      </p:sp>
      <p:sp>
        <p:nvSpPr>
          <p:cNvPr id="8" name="">
            <a:extLst xmlns:a="http://schemas.openxmlformats.org/drawingml/2006/main">
              <a:ext uri="{FF2B5EF4-FFF2-40B4-BE49-F238E27FC236}">
                <a16:creationId xmlns:a16="http://schemas.microsoft.com/office/drawing/2014/main" id="{AA508B91-64C9-4498-8E34-875CA8E8C0B2}"/>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copia = datos.copy() o datos[:] crea una copia superficial.</a:t>
            </a:r>
          </a:p>
        </p:txBody>
      </p:sp>
    </p:spTree>
    <p:extLst>
      <p:ext uri="{BB962C8B-B14F-4D97-AF65-F5344CB8AC3E}">
        <p14:creationId xmlns:p14="http://schemas.microsoft.com/office/powerpoint/2010/main" val="13229265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2AD477-A858-42B7-A772-0B185212B369}"/>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641DD3-ED63-446B-9CAB-4287A9D9F1A6}"/>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Operaciones y casos vacíos</a:t>
            </a:r>
          </a:p>
        </p:txBody>
      </p:sp>
      <p:sp>
        <p:nvSpPr>
          <p:cNvPr id="3" name="">
            <a:extLst xmlns:a="http://schemas.openxmlformats.org/drawingml/2006/main">
              <a:ext uri="{FF2B5EF4-FFF2-40B4-BE49-F238E27FC236}">
                <a16:creationId xmlns:a16="http://schemas.microsoft.com/office/drawing/2014/main" id="{EE5CEDD7-09EC-4688-9017-7A597CECB04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BBEC85-3FB0-4DF3-B920-A396DB40C94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69411111-1BF5-4C2E-88B4-20810BC1D06D}"/>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CEAC3327-4984-4A24-B1BF-B4D875CAE7B3}"/>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colección vacía es una entrada legítima en muchos problemas. La suma vacía puede definirse como cero, mientras que un mínimo sin datos requiere un error o un resultado de ausencia.</a:t>
            </a:r>
          </a:p>
        </p:txBody>
      </p:sp>
      <p:sp>
        <p:nvSpPr>
          <p:cNvPr id="7" name="">
            <a:extLst xmlns:a="http://schemas.openxmlformats.org/drawingml/2006/main">
              <a:ext uri="{FF2B5EF4-FFF2-40B4-BE49-F238E27FC236}">
                <a16:creationId xmlns:a16="http://schemas.microsoft.com/office/drawing/2014/main" id="{BE327B31-D581-43D5-8D68-DD111EDA7673}"/>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 [9, 2, 5]</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print(sorted(datos))</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print(datos)</a:t>
            </a:r>
          </a:p>
        </p:txBody>
      </p:sp>
      <p:sp>
        <p:nvSpPr>
          <p:cNvPr id="8" name="">
            <a:extLst xmlns:a="http://schemas.openxmlformats.org/drawingml/2006/main">
              <a:ext uri="{FF2B5EF4-FFF2-40B4-BE49-F238E27FC236}">
                <a16:creationId xmlns:a16="http://schemas.microsoft.com/office/drawing/2014/main" id="{F7DAB70E-8DA1-4DA0-AA0E-A01343DEB180}"/>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sorted devuelve una lista nueva; sort ordena la existente y devuelve None.</a:t>
            </a:r>
          </a:p>
        </p:txBody>
      </p:sp>
    </p:spTree>
    <p:extLst>
      <p:ext uri="{BB962C8B-B14F-4D97-AF65-F5344CB8AC3E}">
        <p14:creationId xmlns:p14="http://schemas.microsoft.com/office/powerpoint/2010/main" val="7232010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08AA492-586F-439D-8744-9A563651F83A}"/>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769B6E-2D3E-490D-8089-1B0E3D7EB97F}"/>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020FA00B-24DC-48AF-BDF5-7D5B12FDBF5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DEB35D-3D88-4D50-8310-F7F79C407AA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031BEFC2-12C2-41E7-8D8A-47CA3E81209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DE617A8A-AA3E-4897-BFA6-BC2B0B6EAF4E}"/>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90A1D3E-8C58-4DC4-84F0-62278DCB74C5}"/>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1B2F56FD-DA39-4B95-A501-64DA685CFDB9}"/>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8B42F778-A9B5-41DA-B4E3-4DF39B029C83}"/>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585D50F5-8053-4D0B-B8F5-AC233BCB3570}"/>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C3F1682-ED64-4DDA-A03C-677D1DA5A89A}"/>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BB80F3C4-39DE-4D91-AD67-B3C8777035E1}"/>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Agregar, consultar y eliminar</a:t>
            </a:r>
          </a:p>
        </p:txBody>
      </p:sp>
      <p:sp>
        <p:nvSpPr>
          <p:cNvPr id="13" name="">
            <a:extLst xmlns:a="http://schemas.openxmlformats.org/drawingml/2006/main">
              <a:ext uri="{FF2B5EF4-FFF2-40B4-BE49-F238E27FC236}">
                <a16:creationId xmlns:a16="http://schemas.microsoft.com/office/drawing/2014/main" id="{C95291DF-C6B6-41F2-B107-7D7FAA4796A1}"/>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F63B7E68-8FCE-4D6A-9985-B65D35F501EC}"/>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9789AA3-8574-4E25-B01F-8F87466DFE3A}"/>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4DCD5080-9BC9-469B-AC48-6D0D83929602}"/>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Original: 18 21 19</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Copia: 18 21 19 22</a:t>
            </a:r>
          </a:p>
        </p:txBody>
      </p:sp>
      <p:sp>
        <p:nvSpPr>
          <p:cNvPr id="17" name="">
            <a:extLst xmlns:a="http://schemas.openxmlformats.org/drawingml/2006/main">
              <a:ext uri="{FF2B5EF4-FFF2-40B4-BE49-F238E27FC236}">
                <a16:creationId xmlns:a16="http://schemas.microsoft.com/office/drawing/2014/main" id="{7C8F81AB-0080-486F-BBB1-F56445082AE6}"/>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11855678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35ADE4-8AA9-4CC6-88EE-2CCCFC664AE1}"/>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0C1397-5801-4FAD-ABC9-036F9537BAC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B65096C6-F6C2-499E-8136-181ED48965D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AF4E04-1EE8-487C-8D49-54B61230CA17}"/>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7BF94C1C-5235-4E66-B422-3349457C9EA9}"/>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0A573F3F-AAF7-4673-A1F6-8C981567E571}"/>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mediciones = [18, 21, 19]</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copia = mediciones.copy()</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copia.append(22)</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print("Original:", " ".join(str(x) for x in mediciones))</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print("Copia:", " ".join(str(x) for x in copia))</a:t>
            </a:r>
          </a:p>
        </p:txBody>
      </p:sp>
    </p:spTree>
    <p:extLst>
      <p:ext uri="{BB962C8B-B14F-4D97-AF65-F5344CB8AC3E}">
        <p14:creationId xmlns:p14="http://schemas.microsoft.com/office/powerpoint/2010/main" val="15096090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9A0E2D-4086-445A-89A3-DF5D3274CDB1}"/>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E67443-11BE-40A9-A3E9-EAECEC2F5362}"/>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C2197962-A311-48E4-A929-B9C6E09F7FD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444F56-8EE5-4502-A578-E13343742EF3}"/>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FA4406FB-35A4-486C-B231-D9E09A03FE0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6B9C16D1-219D-44AD-B838-5461270E3F70}"/>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Original: 18 21 19</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Copia: 18 21 19 22</a:t>
            </a:r>
          </a:p>
        </p:txBody>
      </p:sp>
      <p:sp>
        <p:nvSpPr>
          <p:cNvPr id="7" name="">
            <a:extLst xmlns:a="http://schemas.openxmlformats.org/drawingml/2006/main">
              <a:ext uri="{FF2B5EF4-FFF2-40B4-BE49-F238E27FC236}">
                <a16:creationId xmlns:a16="http://schemas.microsoft.com/office/drawing/2014/main" id="{2CBACC1A-7CE3-4D7A-AE4F-2CFBB26FE1BA}"/>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16929023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B90C03-8959-4F47-A914-2028111C94D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5658F0-1D99-49F1-B40A-6FBAA770E354}"/>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Eliminar por posición</a:t>
            </a:r>
          </a:p>
        </p:txBody>
      </p:sp>
      <p:sp>
        <p:nvSpPr>
          <p:cNvPr id="3" name="">
            <a:extLst xmlns:a="http://schemas.openxmlformats.org/drawingml/2006/main">
              <a:ext uri="{FF2B5EF4-FFF2-40B4-BE49-F238E27FC236}">
                <a16:creationId xmlns:a16="http://schemas.microsoft.com/office/drawing/2014/main" id="{111D24D5-34F1-414D-957A-94045AAFF90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C25F2A-E71F-4DB2-8834-2A09A7C214C2}"/>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03BB6126-15B8-4E81-B091-6629DE44066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748721F1-1978-45F1-A792-865E4A4B9F94}"/>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Eliminar posición 1 de [5,6,7] y mostrar elemento eliminado y lista final.</a:t>
            </a:r>
          </a:p>
        </p:txBody>
      </p:sp>
      <p:sp>
        <p:nvSpPr>
          <p:cNvPr id="7" name="">
            <a:extLst xmlns:a="http://schemas.openxmlformats.org/drawingml/2006/main">
              <a:ext uri="{FF2B5EF4-FFF2-40B4-BE49-F238E27FC236}">
                <a16:creationId xmlns:a16="http://schemas.microsoft.com/office/drawing/2014/main" id="{5AB24C30-6A33-432C-A29D-86D2DA6FDFD4}"/>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823D4B13-1E7E-4C85-B251-0754A4257A46}"/>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6</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5 7</a:t>
            </a:r>
          </a:p>
        </p:txBody>
      </p:sp>
    </p:spTree>
    <p:extLst>
      <p:ext uri="{BB962C8B-B14F-4D97-AF65-F5344CB8AC3E}">
        <p14:creationId xmlns:p14="http://schemas.microsoft.com/office/powerpoint/2010/main" val="13632685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C22F55-DB8A-4F31-A215-65AAB2FB975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ADF58E-8F1E-4776-BC27-8615E34C2C3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PC3.07 · Problema y restricciones</a:t>
            </a:r>
          </a:p>
        </p:txBody>
      </p:sp>
      <p:sp>
        <p:nvSpPr>
          <p:cNvPr id="3" name="">
            <a:extLst xmlns:a="http://schemas.openxmlformats.org/drawingml/2006/main">
              <a:ext uri="{FF2B5EF4-FFF2-40B4-BE49-F238E27FC236}">
                <a16:creationId xmlns:a16="http://schemas.microsoft.com/office/drawing/2014/main" id="{E955F9E3-E305-4931-8D62-BC430142AFF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C3DF0C-A110-4779-959C-A3C26CD18067}"/>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6D178F04-3293-4FA3-A467-0921A571B50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05A994B9-69DB-4184-A242-1AECDB231CA5}"/>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Implementar actualizar_copia(datos, posicion, valor): devolver una colección nueva con un elemento reemplazado. Conservar tamaño y original. Exigir 0 &lt;= posicion &lt; longitud, incluso en Python. Rechazar índice inválido y colección vacía. Mostrar ambos valores desde una función separada.</a:t>
            </a:r>
          </a:p>
        </p:txBody>
      </p:sp>
      <p:sp>
        <p:nvSpPr>
          <p:cNvPr id="7" name="">
            <a:extLst xmlns:a="http://schemas.openxmlformats.org/drawingml/2006/main">
              <a:ext uri="{FF2B5EF4-FFF2-40B4-BE49-F238E27FC236}">
                <a16:creationId xmlns:a16="http://schemas.microsoft.com/office/drawing/2014/main" id="{F6BEF7B4-F24E-4A95-B435-7BEC489EFCE6}"/>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8365660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1D2211-CD04-4F70-A2B5-BA1708BAEB34}"/>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4C3108-8264-4394-BB58-5F4DF8B2796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PC3.07 · Casos de aceptación</a:t>
            </a:r>
          </a:p>
        </p:txBody>
      </p:sp>
      <p:sp>
        <p:nvSpPr>
          <p:cNvPr id="3" name="">
            <a:extLst xmlns:a="http://schemas.openxmlformats.org/drawingml/2006/main">
              <a:ext uri="{FF2B5EF4-FFF2-40B4-BE49-F238E27FC236}">
                <a16:creationId xmlns:a16="http://schemas.microsoft.com/office/drawing/2014/main" id="{1845813F-65DA-4712-8497-6A64EED4FEF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5D4DF3-E989-4426-A759-E5C457422B8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DE99D92D-DBBA-4F85-AE68-C788FF9D1D9A}"/>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F6105ADE-4D74-4D80-8580-67EFDF531FD3}"/>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[4, 8, 2], 1, 9</a:t>
            </a:r>
          </a:p>
        </p:txBody>
      </p:sp>
      <p:sp>
        <p:nvSpPr>
          <p:cNvPr id="7" name="">
            <a:extLst xmlns:a="http://schemas.openxmlformats.org/drawingml/2006/main">
              <a:ext uri="{FF2B5EF4-FFF2-40B4-BE49-F238E27FC236}">
                <a16:creationId xmlns:a16="http://schemas.microsoft.com/office/drawing/2014/main" id="{7477F541-EDD8-4878-8FC4-AED64AF1EFD2}"/>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[4, 9, 2]; original [4, 8, 2]</a:t>
            </a:r>
          </a:p>
        </p:txBody>
      </p:sp>
      <p:sp>
        <p:nvSpPr>
          <p:cNvPr id="8" name="">
            <a:extLst xmlns:a="http://schemas.openxmlformats.org/drawingml/2006/main">
              <a:ext uri="{FF2B5EF4-FFF2-40B4-BE49-F238E27FC236}">
                <a16:creationId xmlns:a16="http://schemas.microsoft.com/office/drawing/2014/main" id="{67158031-9E4B-428D-B089-1B00F46C31AF}"/>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[4], 0, 0</a:t>
            </a:r>
          </a:p>
        </p:txBody>
      </p:sp>
      <p:sp>
        <p:nvSpPr>
          <p:cNvPr id="9" name="">
            <a:extLst xmlns:a="http://schemas.openxmlformats.org/drawingml/2006/main">
              <a:ext uri="{FF2B5EF4-FFF2-40B4-BE49-F238E27FC236}">
                <a16:creationId xmlns:a16="http://schemas.microsoft.com/office/drawing/2014/main" id="{FC227782-10CB-45EE-BAF6-5F1018B27B42}"/>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[0]</a:t>
            </a:r>
          </a:p>
        </p:txBody>
      </p:sp>
      <p:sp>
        <p:nvSpPr>
          <p:cNvPr id="10" name="">
            <a:extLst xmlns:a="http://schemas.openxmlformats.org/drawingml/2006/main">
              <a:ext uri="{FF2B5EF4-FFF2-40B4-BE49-F238E27FC236}">
                <a16:creationId xmlns:a16="http://schemas.microsoft.com/office/drawing/2014/main" id="{6CF822D7-2AE9-4C82-935E-2A4E98B0DA19}"/>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 0, 1</a:t>
            </a:r>
          </a:p>
        </p:txBody>
      </p:sp>
      <p:sp>
        <p:nvSpPr>
          <p:cNvPr id="11" name="">
            <a:extLst xmlns:a="http://schemas.openxmlformats.org/drawingml/2006/main">
              <a:ext uri="{FF2B5EF4-FFF2-40B4-BE49-F238E27FC236}">
                <a16:creationId xmlns:a16="http://schemas.microsoft.com/office/drawing/2014/main" id="{44D76140-69AB-4C12-AC3E-FF9CE4E259BE}"/>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índice inválido</a:t>
            </a:r>
          </a:p>
        </p:txBody>
      </p:sp>
      <p:sp>
        <p:nvSpPr>
          <p:cNvPr id="12" name="">
            <a:extLst xmlns:a="http://schemas.openxmlformats.org/drawingml/2006/main">
              <a:ext uri="{FF2B5EF4-FFF2-40B4-BE49-F238E27FC236}">
                <a16:creationId xmlns:a16="http://schemas.microsoft.com/office/drawing/2014/main" id="{A97B1AFE-89B8-41F8-B03F-803AFFAE8E2C}"/>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[4], -1, 3</a:t>
            </a:r>
          </a:p>
        </p:txBody>
      </p:sp>
      <p:sp>
        <p:nvSpPr>
          <p:cNvPr id="13" name="">
            <a:extLst xmlns:a="http://schemas.openxmlformats.org/drawingml/2006/main">
              <a:ext uri="{FF2B5EF4-FFF2-40B4-BE49-F238E27FC236}">
                <a16:creationId xmlns:a16="http://schemas.microsoft.com/office/drawing/2014/main" id="{A430F550-BB24-4FCB-A130-A65428127800}"/>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índice inválido</a:t>
            </a:r>
          </a:p>
        </p:txBody>
      </p:sp>
    </p:spTree>
    <p:extLst>
      <p:ext uri="{BB962C8B-B14F-4D97-AF65-F5344CB8AC3E}">
        <p14:creationId xmlns:p14="http://schemas.microsoft.com/office/powerpoint/2010/main" val="66433498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D7CFA4-F5A9-47F8-9804-0D6307B1145D}"/>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6042B3-49A3-454E-9FEA-2DB13542233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BB782F5D-20F6-4443-A134-90C349654BE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99C59E-2A86-46F6-95D8-92BAB9AD7EBE}"/>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3.07</a:t>
            </a:r>
          </a:p>
        </p:txBody>
      </p:sp>
      <p:sp>
        <p:nvSpPr>
          <p:cNvPr id="5" name="">
            <a:extLst xmlns:a="http://schemas.openxmlformats.org/drawingml/2006/main">
              <a:ext uri="{FF2B5EF4-FFF2-40B4-BE49-F238E27FC236}">
                <a16:creationId xmlns:a16="http://schemas.microsoft.com/office/drawing/2014/main" id="{9FE1FED4-C3F7-4965-A2F8-C74E32A6CFE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B5385A75-9130-4415-A6DE-8EE620E7F1E5}"/>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7EAE3471-B825-44BE-A604-9BBC7E9AA1D8}"/>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Distinguir índice y valor.</a:t>
            </a:r>
          </a:p>
        </p:txBody>
      </p:sp>
      <p:sp>
        <p:nvSpPr>
          <p:cNvPr id="8" name="">
            <a:extLst xmlns:a="http://schemas.openxmlformats.org/drawingml/2006/main">
              <a:ext uri="{FF2B5EF4-FFF2-40B4-BE49-F238E27FC236}">
                <a16:creationId xmlns:a16="http://schemas.microsoft.com/office/drawing/2014/main" id="{36231BD8-3EEC-45E2-8AF4-3C0738CE2875}"/>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4FA6CA95-93F6-46DF-82C8-E2FE00D93E4E}"/>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Diferenciar alias de copia.</a:t>
            </a:r>
          </a:p>
        </p:txBody>
      </p:sp>
      <p:sp>
        <p:nvSpPr>
          <p:cNvPr id="10" name="">
            <a:extLst xmlns:a="http://schemas.openxmlformats.org/drawingml/2006/main">
              <a:ext uri="{FF2B5EF4-FFF2-40B4-BE49-F238E27FC236}">
                <a16:creationId xmlns:a16="http://schemas.microsoft.com/office/drawing/2014/main" id="{43394004-28FB-4C86-940A-5B12C2983BFA}"/>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20BFB7F6-750A-4A96-AAB8-AF722AFBB820}"/>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Definir comportamiento para colección vacía.</a:t>
            </a:r>
          </a:p>
        </p:txBody>
      </p:sp>
    </p:spTree>
    <p:extLst>
      <p:ext uri="{BB962C8B-B14F-4D97-AF65-F5344CB8AC3E}">
        <p14:creationId xmlns:p14="http://schemas.microsoft.com/office/powerpoint/2010/main" val="8906453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2026-09-25T21:16:01.4130000Z</dcterms:created>
  <dcterms:modified xsi:type="dcterms:W3CDTF">2026-09-25T21:16:01.4130000Z</dcterms:modified>
</coreProperties>
</file>