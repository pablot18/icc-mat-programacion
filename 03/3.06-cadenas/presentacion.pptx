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4f1aa225c734d89" /><Relationship Type="http://schemas.openxmlformats.org/officeDocument/2006/relationships/extended-properties" Target="/docProps/app.xml" Id="Re2d893809e7a44a5" /><Relationship Type="http://schemas.openxmlformats.org/officeDocument/2006/relationships/officeDocument" Target="/ppt/presentation.xml" Id="Rb23ef354d05242d2" /></Relationships>
</file>

<file path=ppt/presentation.xml><?xml version="1.0" encoding="utf-8"?>
<p:presentation xmlns:p="http://schemas.openxmlformats.org/presentationml/2006/main">
  <p:sldMasterIdLst>
    <p:sldMasterId xmlns:r="http://schemas.openxmlformats.org/officeDocument/2006/relationships" id="2147483648" r:id="Rc0d66797198447e7"/>
  </p:sldMasterIdLst>
  <p:notesMasterIdLst>
    <p:notesMasterId xmlns:r="http://schemas.openxmlformats.org/officeDocument/2006/relationships" r:id="Rfe609bdace1048d0"/>
  </p:notesMasterIdLst>
  <p:sldIdLst>
    <p:sldId xmlns:r="http://schemas.openxmlformats.org/officeDocument/2006/relationships" id="256" r:id="Rd2d9ff277c904d0e"/>
    <p:sldId xmlns:r="http://schemas.openxmlformats.org/officeDocument/2006/relationships" id="257" r:id="R1c8152d07e124103"/>
    <p:sldId xmlns:r="http://schemas.openxmlformats.org/officeDocument/2006/relationships" id="258" r:id="R780b2893a0a9480c"/>
    <p:sldId xmlns:r="http://schemas.openxmlformats.org/officeDocument/2006/relationships" id="259" r:id="R45d749edccd24378"/>
    <p:sldId xmlns:r="http://schemas.openxmlformats.org/officeDocument/2006/relationships" id="260" r:id="R46f1f111378d4508"/>
    <p:sldId xmlns:r="http://schemas.openxmlformats.org/officeDocument/2006/relationships" id="261" r:id="R0aa1c924c97f496f"/>
    <p:sldId xmlns:r="http://schemas.openxmlformats.org/officeDocument/2006/relationships" id="262" r:id="R172e3a824e7e4b18"/>
    <p:sldId xmlns:r="http://schemas.openxmlformats.org/officeDocument/2006/relationships" id="263" r:id="R1950a741cb404e1b"/>
    <p:sldId xmlns:r="http://schemas.openxmlformats.org/officeDocument/2006/relationships" id="264" r:id="R88d1c97d3d5a4e35"/>
    <p:sldId xmlns:r="http://schemas.openxmlformats.org/officeDocument/2006/relationships" id="265" r:id="R7b6f0a2653964a93"/>
    <p:sldId xmlns:r="http://schemas.openxmlformats.org/officeDocument/2006/relationships" id="266" r:id="R996fca325e1c4bd9"/>
    <p:sldId xmlns:r="http://schemas.openxmlformats.org/officeDocument/2006/relationships" id="267" r:id="R0d5b9af84a9f4bbc"/>
    <p:sldId xmlns:r="http://schemas.openxmlformats.org/officeDocument/2006/relationships" id="268" r:id="Rf006e424b9d942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8efea2d2ce4d7b" /><Relationship Type="http://schemas.openxmlformats.org/officeDocument/2006/relationships/slideMaster" Target="/ppt/slideMasters/slideMaster1.xml" Id="Rc0d66797198447e7" /><Relationship Type="http://schemas.openxmlformats.org/officeDocument/2006/relationships/notesMaster" Target="/ppt/notesMasters/notesMaster1.xml" Id="Rfe609bdace1048d0" /><Relationship Type="http://schemas.openxmlformats.org/officeDocument/2006/relationships/presProps" Target="/ppt/presProps.xml" Id="R1d504d0b802f4a61" /><Relationship Type="http://schemas.openxmlformats.org/officeDocument/2006/relationships/tableStyles" Target="/ppt/tableStyles.xml" Id="R8018b77d1a0e4573" /><Relationship Type="http://schemas.openxmlformats.org/officeDocument/2006/relationships/slide" Target="/ppt/slides/slide1.xml" Id="Rd2d9ff277c904d0e" /><Relationship Type="http://schemas.openxmlformats.org/officeDocument/2006/relationships/slide" Target="/ppt/slides/slide2.xml" Id="R1c8152d07e124103" /><Relationship Type="http://schemas.openxmlformats.org/officeDocument/2006/relationships/slide" Target="/ppt/slides/slide3.xml" Id="R780b2893a0a9480c" /><Relationship Type="http://schemas.openxmlformats.org/officeDocument/2006/relationships/slide" Target="/ppt/slides/slide4.xml" Id="R45d749edccd24378" /><Relationship Type="http://schemas.openxmlformats.org/officeDocument/2006/relationships/slide" Target="/ppt/slides/slide5.xml" Id="R46f1f111378d4508" /><Relationship Type="http://schemas.openxmlformats.org/officeDocument/2006/relationships/slide" Target="/ppt/slides/slide6.xml" Id="R0aa1c924c97f496f" /><Relationship Type="http://schemas.openxmlformats.org/officeDocument/2006/relationships/slide" Target="/ppt/slides/slide7.xml" Id="R172e3a824e7e4b18" /><Relationship Type="http://schemas.openxmlformats.org/officeDocument/2006/relationships/slide" Target="/ppt/slides/slide8.xml" Id="R1950a741cb404e1b" /><Relationship Type="http://schemas.openxmlformats.org/officeDocument/2006/relationships/slide" Target="/ppt/slides/slide9.xml" Id="R88d1c97d3d5a4e35" /><Relationship Type="http://schemas.openxmlformats.org/officeDocument/2006/relationships/slide" Target="/ppt/slides/slide10.xml" Id="R7b6f0a2653964a93" /><Relationship Type="http://schemas.openxmlformats.org/officeDocument/2006/relationships/slide" Target="/ppt/slides/slide11.xml" Id="R996fca325e1c4bd9" /><Relationship Type="http://schemas.openxmlformats.org/officeDocument/2006/relationships/slide" Target="/ppt/slides/slide12.xml" Id="R0d5b9af84a9f4bbc" /><Relationship Type="http://schemas.openxmlformats.org/officeDocument/2006/relationships/slide" Target="/ppt/slides/slide13.xml" Id="Rf006e424b9d942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a10eada67545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990ee15bcb4228" /><Relationship Type="http://schemas.openxmlformats.org/officeDocument/2006/relationships/notesMaster" Target="/ppt/notesMasters/notesMaster1.xml" Id="R97d759f559ec4f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087b3e8c224de8" /><Relationship Type="http://schemas.openxmlformats.org/officeDocument/2006/relationships/notesMaster" Target="/ppt/notesMasters/notesMaster1.xml" Id="Rff89b32c02c04f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3f0b584d904791" /><Relationship Type="http://schemas.openxmlformats.org/officeDocument/2006/relationships/notesMaster" Target="/ppt/notesMasters/notesMaster1.xml" Id="Rb311956ffff2456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e836d04188461c" /><Relationship Type="http://schemas.openxmlformats.org/officeDocument/2006/relationships/notesMaster" Target="/ppt/notesMasters/notesMaster1.xml" Id="R9132968dd3f24d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919716b1174272" /><Relationship Type="http://schemas.openxmlformats.org/officeDocument/2006/relationships/notesMaster" Target="/ppt/notesMasters/notesMaster1.xml" Id="R49c080187ec445e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09015afb16459f" /><Relationship Type="http://schemas.openxmlformats.org/officeDocument/2006/relationships/notesMaster" Target="/ppt/notesMasters/notesMaster1.xml" Id="R9c882478ada1480f"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017b58494f4e92" /><Relationship Type="http://schemas.openxmlformats.org/officeDocument/2006/relationships/notesMaster" Target="/ppt/notesMasters/notesMaster1.xml" Id="R15a8d9f9c76f434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6e253048ef4444" /><Relationship Type="http://schemas.openxmlformats.org/officeDocument/2006/relationships/notesMaster" Target="/ppt/notesMasters/notesMaster1.xml" Id="R808fa2b7e13b46a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f0e24dc904b4df4" /><Relationship Type="http://schemas.openxmlformats.org/officeDocument/2006/relationships/notesMaster" Target="/ppt/notesMasters/notesMaster1.xml" Id="R0f8b738d09304e7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73b3855327b49a8" /><Relationship Type="http://schemas.openxmlformats.org/officeDocument/2006/relationships/notesMaster" Target="/ppt/notesMasters/notesMaster1.xml" Id="R81b0c403b1644a9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3bad4b7277f490b" /><Relationship Type="http://schemas.openxmlformats.org/officeDocument/2006/relationships/notesMaster" Target="/ppt/notesMasters/notesMaster1.xml" Id="Ra1ba59eab9b54e3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b60e6cc973e4d07" /><Relationship Type="http://schemas.openxmlformats.org/officeDocument/2006/relationships/notesMaster" Target="/ppt/notesMasters/notesMaster1.xml" Id="Red806db70c13418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7b6e306030c4447" /><Relationship Type="http://schemas.openxmlformats.org/officeDocument/2006/relationships/notesMaster" Target="/ppt/notesMasters/notesMaster1.xml" Id="R59bb0e0affaf41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cadena es una secuencia de elementos de texto. Su longitud, índices y reglas de comparación dependen del lenguaje. Las cadenas son inmutables: una transformación produce otro valor. Definir si espacios, tildes y mayúsculas son significativos. Un carácter visible puede requerir varios puntos de código, por lo que “cantidad de letras” no siempre coincide con una longitud técnica.</a:t>
            </a:r>
          </a:p>
          <a:p xmlns:a="http://schemas.openxmlformats.org/drawingml/2006/main">
            <a:r>
              <a:t/>
            </a:r>
          </a:p>
          <a:p xmlns:a="http://schemas.openxmlformats.org/drawingml/2006/main">
            <a:r>
              <a:t>Los índices de str seleccionan puntos de código Unicode. len cuenta esos puntos de código, no grafemas visibles. Usar texto[0] solo cuando no esté vacío. Un índice negativo cuenta desde el final. Asignar texto[0] = "A" produce TypeError.</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Normalizar significa aplicar transformaciones acordadas, no eliminar arbitrariamente información. Quitar espacios externos no quita todos los espacios interiores. Buscar una subcadena puede servir para clasificar, pero no demuestra que un texto cumpla un formato completo. Conservar el original cuando se necesite mostrar exactamente lo recibido.</a:t>
            </a:r>
          </a:p>
          <a:p xmlns:a="http://schemas.openxmlformats.org/drawingml/2006/main">
            <a:r>
              <a:t/>
            </a:r>
          </a:p>
          <a:p xmlns:a="http://schemas.openxmlformats.org/drawingml/2006/main">
            <a:r>
              <a:t>strip elimina espacios en extremos. lower o casefold sirven para comparaciones sin distinguir mayúsculas, con diferencias Unicode. in comprueba pertenencia de una subcadena. El corte [inicio:fin] excluye fin y no modifica el texto.</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Procesar texto carácter por carácter permite contar vocales, detectar símbolos o construir una versión transformada. Inicializar un acumulador, evaluar cada elemento y definir qué hacer con los no reconocidos. Si el problema cuenta solo a, e, i, o, u, las vocales acentuadas no se incluyen a menos que el contrato lo indique. Probar cadena vacía y texto compuesto únicamente por separadores.</a:t>
            </a:r>
          </a:p>
          <a:p xmlns:a="http://schemas.openxmlformats.org/drawingml/2006/main">
            <a:r>
              <a:t/>
            </a:r>
          </a:p>
          <a:p xmlns:a="http://schemas.openxmlformats.org/drawingml/2006/main">
            <a:r>
              <a:t>for letra in texto recorre caracteres. Para conservar claridad, empezar con un contador explícito. La concatenación repetida puede ser costosa en textos grandes; reunir partes y unirlas será útil después de listas.</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Dividir un texto en palabras y volver a unirlo son operaciones distintas. Definir qué ocurre con separadores repetidos, espacios vacíos y signos. Una salida sin corchetes ni comas debe construirse desde los elementos, no desde la representación de una colección. Estas operaciones preparan el procesamiento de filas y archivos.</a:t>
            </a:r>
          </a:p>
          <a:p xmlns:a="http://schemas.openxmlformats.org/drawingml/2006/main">
            <a:r>
              <a:t/>
            </a:r>
          </a:p>
          <a:p xmlns:a="http://schemas.openxmlformats.org/drawingml/2006/main">
            <a:r>
              <a:t>split sin argumento agrupa espacios consecutivos y omite vacíos en extremos. split(",") conserva campos vacíos entre comas. join requiere elementos str. No confundir replace con una modificación del mismo objeto.</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 en python/ejemplos/demo.py. Normalizar nombres y extraer información de mensajes requiere tratar el texto como una secuencia. Definir qué cuenta como letra, vocal o palabra evita que dos programas aparentemente correctos resuelvan problemas diferentes.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b88d6160a945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31afc1779f4b09" /><Relationship Type="http://schemas.openxmlformats.org/officeDocument/2006/relationships/slideLayout" Target="/ppt/slideLayouts/slideLayout1.xml" Id="Rc89669849c6d47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9669849c6d47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d7e3ee4e90342b5" /><Relationship Type="http://schemas.openxmlformats.org/officeDocument/2006/relationships/image" Target="/ppt/media/image.png" Id="R20b1e9aa7b104734" /><Relationship Type="http://schemas.openxmlformats.org/officeDocument/2006/relationships/notesSlide" Target="/ppt/notesSlides/notesSlide1.xml" Id="Rc4bb4dfa39a44c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1ec4ac0217342d4" /><Relationship Type="http://schemas.openxmlformats.org/officeDocument/2006/relationships/notesSlide" Target="/ppt/notesSlides/notesSlide2.xml" Id="R4f9ca7c5f7e844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82ee9e168184db0" /><Relationship Type="http://schemas.openxmlformats.org/officeDocument/2006/relationships/notesSlide" Target="/ppt/notesSlides/notesSlide3.xml" Id="Rc8226dd15ddd4a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e0822831df84e6b" /><Relationship Type="http://schemas.openxmlformats.org/officeDocument/2006/relationships/notesSlide" Target="/ppt/notesSlides/notesSlide4.xml" Id="Re148db6b1db1400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7a32b3c26e40b4" /><Relationship Type="http://schemas.openxmlformats.org/officeDocument/2006/relationships/notesSlide" Target="/ppt/notesSlides/notesSlide5.xml" Id="Rdc983da3b2a646c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b710b2faa924cb1" /><Relationship Type="http://schemas.openxmlformats.org/officeDocument/2006/relationships/notesSlide" Target="/ppt/notesSlides/notesSlide6.xml" Id="R64c3a3a5028645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d70c0349c004481" /><Relationship Type="http://schemas.openxmlformats.org/officeDocument/2006/relationships/notesSlide" Target="/ppt/notesSlides/notesSlide7.xml" Id="R39680b314528484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1488ffa15fe46b3" /><Relationship Type="http://schemas.openxmlformats.org/officeDocument/2006/relationships/notesSlide" Target="/ppt/notesSlides/notesSlide8.xml" Id="R647f4cf2efa046c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4784e26d4574c6a" /><Relationship Type="http://schemas.openxmlformats.org/officeDocument/2006/relationships/notesSlide" Target="/ppt/notesSlides/notesSlide9.xml" Id="Rdfbab69ed1604b1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5d53a1538c64394" /><Relationship Type="http://schemas.openxmlformats.org/officeDocument/2006/relationships/notesSlide" Target="/ppt/notesSlides/notesSlide10.xml" Id="Rf7ce7a5f580049c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3e185e81acd4792" /><Relationship Type="http://schemas.openxmlformats.org/officeDocument/2006/relationships/notesSlide" Target="/ppt/notesSlides/notesSlide11.xml" Id="R3ade6be1923c459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36f8483bcd5487c" /><Relationship Type="http://schemas.openxmlformats.org/officeDocument/2006/relationships/notesSlide" Target="/ppt/notesSlides/notesSlide12.xml" Id="Rb7b3a22aa2974df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3c2b755135d4606" /><Relationship Type="http://schemas.openxmlformats.org/officeDocument/2006/relationships/notesSlide" Target="/ppt/notesSlides/notesSlide13.xml" Id="Rae5a3fdd21af4c6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0b1e9aa7b104734"/>
          <a:stretch xmlns:a="http://schemas.openxmlformats.org/drawingml/2006/main"/>
        </p:blipFill>
        <p:spPr>
          <a:xfrm xmlns:a="http://schemas.openxmlformats.org/drawingml/2006/main">
            <a:off x="609600" y="452158"/>
            <a:ext cx="7239000" cy="119118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AA026AB-C522-47D6-A2EE-47ADBF045FEE}"/>
              </a:ext>
            </a:extLst>
          </p:cNvPr>
          <p:cNvSpPr>
            <a:spLocks xmlns:a="http://schemas.openxmlformats.org/drawingml/2006/main" noGrp="1"/>
          </p:cNvSpPr>
          <p:nvPr/>
        </p:nvSpPr>
        <p:spPr>
          <a:xfrm xmlns:a="http://schemas.openxmlformats.org/drawingml/2006/main">
            <a:off x="695325" y="21907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75" b="1">
                <a:solidFill>
                  <a:srgbClr val="003772"/>
                </a:solidFill>
                <a:latin typeface="DejaVu Sans"/>
                <a:ea typeface="DejaVu Sans"/>
                <a:cs typeface="DejaVu Sans"/>
              </a:defRPr>
            </a:pPr>
            <a:r>
              <a:rPr sz="3375" b="1">
                <a:solidFill>
                  <a:srgbClr val="003772"/>
                </a:solidFill>
                <a:latin typeface="DejaVu Sans"/>
                <a:ea typeface="DejaVu Sans"/>
                <a:cs typeface="DejaVu Sans"/>
              </a:rPr>
              <a:t>Programación</a:t>
            </a:r>
          </a:p>
        </p:txBody>
      </p:sp>
      <p:sp>
        <p:nvSpPr>
          <p:cNvPr id="3" name="">
            <a:extLst xmlns:a="http://schemas.openxmlformats.org/drawingml/2006/main">
              <a:ext uri="{FF2B5EF4-FFF2-40B4-BE49-F238E27FC236}">
                <a16:creationId xmlns:a16="http://schemas.microsoft.com/office/drawing/2014/main" id="{34CBB96A-DD94-4BED-B1AD-4D34BD1BCE04}"/>
              </a:ext>
            </a:extLst>
          </p:cNvPr>
          <p:cNvSpPr>
            <a:spLocks xmlns:a="http://schemas.openxmlformats.org/drawingml/2006/main" noGrp="1"/>
          </p:cNvSpPr>
          <p:nvPr/>
        </p:nvSpPr>
        <p:spPr>
          <a:xfrm xmlns:a="http://schemas.openxmlformats.org/drawingml/2006/main">
            <a:off x="695325" y="3190875"/>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003772"/>
                </a:solidFill>
                <a:latin typeface="DejaVu Sans"/>
                <a:ea typeface="DejaVu Sans"/>
                <a:cs typeface="DejaVu Sans"/>
              </a:defRPr>
            </a:pPr>
            <a:r>
              <a:rPr sz="3225" b="1">
                <a:solidFill>
                  <a:srgbClr val="003772"/>
                </a:solidFill>
                <a:latin typeface="DejaVu Sans"/>
                <a:ea typeface="DejaVu Sans"/>
                <a:cs typeface="DejaVu Sans"/>
              </a:rPr>
              <a:t>Cadenas y procesamiento de texto</a:t>
            </a:r>
          </a:p>
        </p:txBody>
      </p:sp>
      <p:sp>
        <p:nvSpPr>
          <p:cNvPr id="4" name="">
            <a:extLst xmlns:a="http://schemas.openxmlformats.org/drawingml/2006/main">
              <a:ext uri="{FF2B5EF4-FFF2-40B4-BE49-F238E27FC236}">
                <a16:creationId xmlns:a16="http://schemas.microsoft.com/office/drawing/2014/main" id="{D1B8CB93-BA83-4BD7-BC6D-B767B8EEFE43}"/>
              </a:ext>
            </a:extLst>
          </p:cNvPr>
          <p:cNvSpPr>
            <a:spLocks xmlns:a="http://schemas.openxmlformats.org/drawingml/2006/main" noGrp="1"/>
          </p:cNvSpPr>
          <p:nvPr/>
        </p:nvSpPr>
        <p:spPr>
          <a:xfrm xmlns:a="http://schemas.openxmlformats.org/drawingml/2006/main">
            <a:off x="609600" y="5000625"/>
            <a:ext cx="1390650"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2192BC0-C0B3-4E5F-91F6-6106E3888AF5}"/>
              </a:ext>
            </a:extLst>
          </p:cNvPr>
          <p:cNvSpPr>
            <a:spLocks xmlns:a="http://schemas.openxmlformats.org/drawingml/2006/main" noGrp="1"/>
          </p:cNvSpPr>
          <p:nvPr/>
        </p:nvSpPr>
        <p:spPr>
          <a:xfrm xmlns:a="http://schemas.openxmlformats.org/drawingml/2006/main">
            <a:off x="695325" y="53816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003772"/>
                </a:solidFill>
                <a:latin typeface="DejaVu Sans"/>
                <a:ea typeface="DejaVu Sans"/>
                <a:cs typeface="DejaVu Sans"/>
              </a:defRPr>
            </a:pPr>
            <a:r>
              <a:rPr sz="1800" b="0">
                <a:solidFill>
                  <a:srgbClr val="003772"/>
                </a:solidFill>
                <a:latin typeface="DejaVu Sans"/>
                <a:ea typeface="DejaVu Sans"/>
                <a:cs typeface="DejaVu Sans"/>
              </a:rPr>
              <a:t>Unidad 3 · 3.06 · Python</a:t>
            </a:r>
          </a:p>
        </p:txBody>
      </p:sp>
      <p:sp>
        <p:nvSpPr>
          <p:cNvPr id="6" name="">
            <a:extLst xmlns:a="http://schemas.openxmlformats.org/drawingml/2006/main">
              <a:ext uri="{FF2B5EF4-FFF2-40B4-BE49-F238E27FC236}">
                <a16:creationId xmlns:a16="http://schemas.microsoft.com/office/drawing/2014/main" id="{47F074EA-6153-4096-A887-BA28E2E9297B}"/>
              </a:ext>
            </a:extLst>
          </p:cNvPr>
          <p:cNvSpPr>
            <a:spLocks xmlns:a="http://schemas.openxmlformats.org/drawingml/2006/main" noGrp="1"/>
          </p:cNvSpPr>
          <p:nvPr/>
        </p:nvSpPr>
        <p:spPr>
          <a:xfrm xmlns:a="http://schemas.openxmlformats.org/drawingml/2006/main">
            <a:off x="695325" y="60293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C5B5F"/>
                </a:solidFill>
                <a:latin typeface="DejaVu Sans"/>
                <a:ea typeface="DejaVu Sans"/>
                <a:cs typeface="DejaVu Sans"/>
              </a:defRPr>
            </a:pPr>
            <a:r>
              <a:rPr sz="1650"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16077878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F44006-A0FE-45D4-9201-B0B080745FDC}"/>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2F2E4E-2900-4F8D-9322-97B0D4722C86}"/>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Problema inicial</a:t>
            </a:r>
          </a:p>
        </p:txBody>
      </p:sp>
      <p:sp>
        <p:nvSpPr>
          <p:cNvPr id="3" name="">
            <a:extLst xmlns:a="http://schemas.openxmlformats.org/drawingml/2006/main">
              <a:ext uri="{FF2B5EF4-FFF2-40B4-BE49-F238E27FC236}">
                <a16:creationId xmlns:a16="http://schemas.microsoft.com/office/drawing/2014/main" id="{282609EF-0EBD-4A88-BDA4-5E032BBE4B7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107140-A03B-4A3D-BC69-8FE78285D16B}"/>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3.06</a:t>
            </a:r>
          </a:p>
        </p:txBody>
      </p:sp>
      <p:sp>
        <p:nvSpPr>
          <p:cNvPr id="5" name="">
            <a:extLst xmlns:a="http://schemas.openxmlformats.org/drawingml/2006/main">
              <a:ext uri="{FF2B5EF4-FFF2-40B4-BE49-F238E27FC236}">
                <a16:creationId xmlns:a16="http://schemas.microsoft.com/office/drawing/2014/main" id="{8C0DED6C-8350-4696-BE42-2288723700A9}"/>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95BABBDA-E617-40C4-93C2-B69521D2FDF9}"/>
              </a:ext>
            </a:extLst>
          </p:cNvPr>
          <p:cNvSpPr>
            <a:spLocks xmlns:a="http://schemas.openxmlformats.org/drawingml/2006/main" noGrp="1"/>
          </p:cNvSpPr>
          <p:nvPr/>
        </p:nvSpPr>
        <p:spPr>
          <a:xfrm xmlns:a="http://schemas.openxmlformats.org/drawingml/2006/main">
            <a:off x="819150" y="1714500"/>
            <a:ext cx="10477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403F3B"/>
                </a:solidFill>
                <a:latin typeface="DejaVu Sans"/>
                <a:ea typeface="DejaVu Sans"/>
                <a:cs typeface="DejaVu Sans"/>
              </a:defRPr>
            </a:pPr>
            <a:r>
              <a:rPr sz="2475" b="0">
                <a:solidFill>
                  <a:srgbClr val="403F3B"/>
                </a:solidFill>
                <a:latin typeface="DejaVu Sans"/>
                <a:ea typeface="DejaVu Sans"/>
                <a:cs typeface="DejaVu Sans"/>
              </a:rPr>
              <a:t>Normalizar nombres y extraer información de mensajes requiere tratar el texto como una secuencia. Definir qué cuenta como letra, vocal o palabra evita que dos programas aparentemente correctos resuelvan problemas diferentes.</a:t>
            </a:r>
          </a:p>
        </p:txBody>
      </p:sp>
      <p:sp>
        <p:nvSpPr>
          <p:cNvPr id="7" name="">
            <a:extLst xmlns:a="http://schemas.openxmlformats.org/drawingml/2006/main">
              <a:ext uri="{FF2B5EF4-FFF2-40B4-BE49-F238E27FC236}">
                <a16:creationId xmlns:a16="http://schemas.microsoft.com/office/drawing/2014/main" id="{52B9592D-B966-4F52-9E3F-44444B19E683}"/>
              </a:ext>
            </a:extLst>
          </p:cNvPr>
          <p:cNvSpPr>
            <a:spLocks xmlns:a="http://schemas.openxmlformats.org/drawingml/2006/main" noGrp="1"/>
          </p:cNvSpPr>
          <p:nvPr/>
        </p:nvSpPr>
        <p:spPr>
          <a:xfrm xmlns:a="http://schemas.openxmlformats.org/drawingml/2006/main">
            <a:off x="819150" y="47625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3772"/>
                </a:solidFill>
                <a:latin typeface="DejaVu Sans"/>
                <a:ea typeface="DejaVu Sans"/>
                <a:cs typeface="DejaVu Sans"/>
              </a:defRPr>
            </a:pPr>
            <a:r>
              <a:rPr sz="2100" b="1">
                <a:solidFill>
                  <a:srgbClr val="003772"/>
                </a:solidFill>
                <a:latin typeface="DejaVu Sans"/>
                <a:ea typeface="DejaVu Sans"/>
                <a:cs typeface="DejaVu Sans"/>
              </a:rPr>
              <a:t>Anticipar entradas, reglas y salida antes de ejecutar.</a:t>
            </a:r>
          </a:p>
        </p:txBody>
      </p:sp>
    </p:spTree>
    <p:extLst>
      <p:ext uri="{BB962C8B-B14F-4D97-AF65-F5344CB8AC3E}">
        <p14:creationId xmlns:p14="http://schemas.microsoft.com/office/powerpoint/2010/main" val="1321488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48EC14A-6CC6-4EDA-A5DC-F6D1A342EBEF}"/>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E1854AE-6ADB-42F2-ACDA-B1F19B7F5AFE}"/>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Secuencias e inmutabilidad</a:t>
            </a:r>
          </a:p>
        </p:txBody>
      </p:sp>
      <p:sp>
        <p:nvSpPr>
          <p:cNvPr id="3" name="">
            <a:extLst xmlns:a="http://schemas.openxmlformats.org/drawingml/2006/main">
              <a:ext uri="{FF2B5EF4-FFF2-40B4-BE49-F238E27FC236}">
                <a16:creationId xmlns:a16="http://schemas.microsoft.com/office/drawing/2014/main" id="{1BC59410-567F-4FFF-8EFE-8DF76C4B299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9E08050-9992-4B74-9855-E3C54252D6B3}"/>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3.06</a:t>
            </a:r>
          </a:p>
        </p:txBody>
      </p:sp>
      <p:sp>
        <p:nvSpPr>
          <p:cNvPr id="5" name="">
            <a:extLst xmlns:a="http://schemas.openxmlformats.org/drawingml/2006/main">
              <a:ext uri="{FF2B5EF4-FFF2-40B4-BE49-F238E27FC236}">
                <a16:creationId xmlns:a16="http://schemas.microsoft.com/office/drawing/2014/main" id="{DD25CCD3-3C2E-4F42-8B07-DB81E4508D94}"/>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EBD0233D-0F11-4BF9-8D6D-0596404CE701}"/>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Una cadena es una secuencia de elementos de texto. Su longitud, índices y reglas de comparación dependen del lenguaje.</a:t>
            </a:r>
          </a:p>
        </p:txBody>
      </p:sp>
      <p:sp>
        <p:nvSpPr>
          <p:cNvPr id="7" name="">
            <a:extLst xmlns:a="http://schemas.openxmlformats.org/drawingml/2006/main">
              <a:ext uri="{FF2B5EF4-FFF2-40B4-BE49-F238E27FC236}">
                <a16:creationId xmlns:a16="http://schemas.microsoft.com/office/drawing/2014/main" id="{A6BA918C-4F6A-4F1E-B7BE-D3D3E916EA8C}"/>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403F3B"/>
                </a:solidFill>
                <a:latin typeface="DejaVu Sans"/>
                <a:ea typeface="DejaVu Sans"/>
                <a:cs typeface="DejaVu Sans"/>
              </a:defRPr>
            </a:pPr>
            <a:r>
              <a:rPr sz="1650" b="0">
                <a:solidFill>
                  <a:srgbClr val="403F3B"/>
                </a:solidFill>
                <a:latin typeface="DejaVu Sans"/>
                <a:ea typeface="DejaVu Sans"/>
                <a:cs typeface="DejaVu Sans"/>
              </a:rPr>
              <a:t>texto = "Cuenca"</a:t>
            </a:r>
          </a:p>
          <a:p xmlns:a="http://schemas.openxmlformats.org/drawingml/2006/main">
            <a:pPr>
              <a:defRPr sz="1650" b="0">
                <a:solidFill>
                  <a:srgbClr val="403F3B"/>
                </a:solidFill>
                <a:latin typeface="DejaVu Sans"/>
                <a:ea typeface="DejaVu Sans"/>
                <a:cs typeface="DejaVu Sans"/>
              </a:defRPr>
            </a:pPr>
            <a:r>
              <a:rPr sz="1650" b="0">
                <a:solidFill>
                  <a:srgbClr val="403F3B"/>
                </a:solidFill>
                <a:latin typeface="DejaVu Sans"/>
                <a:ea typeface="DejaVu Sans"/>
                <a:cs typeface="DejaVu Sans"/>
              </a:rPr>
              <a:t>print(len(texto), texto[0], texto[-1])</a:t>
            </a:r>
          </a:p>
        </p:txBody>
      </p:sp>
      <p:sp>
        <p:nvSpPr>
          <p:cNvPr id="8" name="">
            <a:extLst xmlns:a="http://schemas.openxmlformats.org/drawingml/2006/main">
              <a:ext uri="{FF2B5EF4-FFF2-40B4-BE49-F238E27FC236}">
                <a16:creationId xmlns:a16="http://schemas.microsoft.com/office/drawing/2014/main" id="{F0828E2B-4965-4583-A349-6C0CD6E5F66D}"/>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Los índices de str seleccionan puntos de código Unicode.</a:t>
            </a:r>
          </a:p>
        </p:txBody>
      </p:sp>
    </p:spTree>
    <p:extLst>
      <p:ext uri="{BB962C8B-B14F-4D97-AF65-F5344CB8AC3E}">
        <p14:creationId xmlns:p14="http://schemas.microsoft.com/office/powerpoint/2010/main" val="15493296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387FBFB-6E7A-4770-9098-7415601642EF}"/>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CFB36E-47E5-4AF2-B6CC-6C5DE77A4BEC}"/>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Recorte, búsqueda y normalización</a:t>
            </a:r>
          </a:p>
        </p:txBody>
      </p:sp>
      <p:sp>
        <p:nvSpPr>
          <p:cNvPr id="3" name="">
            <a:extLst xmlns:a="http://schemas.openxmlformats.org/drawingml/2006/main">
              <a:ext uri="{FF2B5EF4-FFF2-40B4-BE49-F238E27FC236}">
                <a16:creationId xmlns:a16="http://schemas.microsoft.com/office/drawing/2014/main" id="{30BE3DE6-BE51-4C5A-BADE-CED53ED25DE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BA64390-597F-4788-8EA9-29CE7808B2FD}"/>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3.06</a:t>
            </a:r>
          </a:p>
        </p:txBody>
      </p:sp>
      <p:sp>
        <p:nvSpPr>
          <p:cNvPr id="5" name="">
            <a:extLst xmlns:a="http://schemas.openxmlformats.org/drawingml/2006/main">
              <a:ext uri="{FF2B5EF4-FFF2-40B4-BE49-F238E27FC236}">
                <a16:creationId xmlns:a16="http://schemas.microsoft.com/office/drawing/2014/main" id="{C35EA3CE-A33F-41A8-AD76-17315D9F412E}"/>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02536AD8-1AF6-4E0F-8C15-2833F1556118}"/>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Normalizar significa aplicar transformaciones acordadas, no eliminar arbitrariamente información. Quitar espacios externos no quita todos los espacios interiores.</a:t>
            </a:r>
          </a:p>
        </p:txBody>
      </p:sp>
      <p:sp>
        <p:nvSpPr>
          <p:cNvPr id="7" name="">
            <a:extLst xmlns:a="http://schemas.openxmlformats.org/drawingml/2006/main">
              <a:ext uri="{FF2B5EF4-FFF2-40B4-BE49-F238E27FC236}">
                <a16:creationId xmlns:a16="http://schemas.microsoft.com/office/drawing/2014/main" id="{71C31CB0-758C-4BA2-B655-C61A4D59C475}"/>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texto = "  Aula A  "</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limpio = texto.strip().lower()</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print(limpio, "aula" in limpio)</a:t>
            </a:r>
          </a:p>
        </p:txBody>
      </p:sp>
      <p:sp>
        <p:nvSpPr>
          <p:cNvPr id="8" name="">
            <a:extLst xmlns:a="http://schemas.openxmlformats.org/drawingml/2006/main">
              <a:ext uri="{FF2B5EF4-FFF2-40B4-BE49-F238E27FC236}">
                <a16:creationId xmlns:a16="http://schemas.microsoft.com/office/drawing/2014/main" id="{5D6FEB2F-64E3-48F2-BA3D-47D636A4E3C6}"/>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strip elimina espacios en extremos.</a:t>
            </a:r>
          </a:p>
        </p:txBody>
      </p:sp>
    </p:spTree>
    <p:extLst>
      <p:ext uri="{BB962C8B-B14F-4D97-AF65-F5344CB8AC3E}">
        <p14:creationId xmlns:p14="http://schemas.microsoft.com/office/powerpoint/2010/main" val="10679223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2713D08-932A-4A82-A110-EAC8D5EB9002}"/>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123E0D-865D-4546-8C57-FDD20BA09E71}"/>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Recorrido y conteo</a:t>
            </a:r>
          </a:p>
        </p:txBody>
      </p:sp>
      <p:sp>
        <p:nvSpPr>
          <p:cNvPr id="3" name="">
            <a:extLst xmlns:a="http://schemas.openxmlformats.org/drawingml/2006/main">
              <a:ext uri="{FF2B5EF4-FFF2-40B4-BE49-F238E27FC236}">
                <a16:creationId xmlns:a16="http://schemas.microsoft.com/office/drawing/2014/main" id="{E4DA3220-6028-4720-84D2-8B41B9BDB23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15D1ED5-ED17-4BF4-9354-85A073A8655D}"/>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3.06</a:t>
            </a:r>
          </a:p>
        </p:txBody>
      </p:sp>
      <p:sp>
        <p:nvSpPr>
          <p:cNvPr id="5" name="">
            <a:extLst xmlns:a="http://schemas.openxmlformats.org/drawingml/2006/main">
              <a:ext uri="{FF2B5EF4-FFF2-40B4-BE49-F238E27FC236}">
                <a16:creationId xmlns:a16="http://schemas.microsoft.com/office/drawing/2014/main" id="{950518D5-8EBC-4045-9089-A81673A18B6C}"/>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0206D1C9-6578-4F9D-B82E-0E3237F815A6}"/>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Procesar texto carácter por carácter permite contar vocales, detectar símbolos o construir una versión transformada. Inicializar un acumulador, evaluar cada elemento y definir qué hacer con los no reconocidos.</a:t>
            </a:r>
          </a:p>
        </p:txBody>
      </p:sp>
      <p:sp>
        <p:nvSpPr>
          <p:cNvPr id="7" name="">
            <a:extLst xmlns:a="http://schemas.openxmlformats.org/drawingml/2006/main">
              <a:ext uri="{FF2B5EF4-FFF2-40B4-BE49-F238E27FC236}">
                <a16:creationId xmlns:a16="http://schemas.microsoft.com/office/drawing/2014/main" id="{AF2877BE-F381-4AB0-B9CE-C27A763192DA}"/>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cantidad = 0</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for letra in "Aula".lower():</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if letra in "aeiou":</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cantidad += 1</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print(cantidad)</a:t>
            </a:r>
          </a:p>
        </p:txBody>
      </p:sp>
      <p:sp>
        <p:nvSpPr>
          <p:cNvPr id="8" name="">
            <a:extLst xmlns:a="http://schemas.openxmlformats.org/drawingml/2006/main">
              <a:ext uri="{FF2B5EF4-FFF2-40B4-BE49-F238E27FC236}">
                <a16:creationId xmlns:a16="http://schemas.microsoft.com/office/drawing/2014/main" id="{0C3E34FF-9194-4A8D-8445-ACD55B182009}"/>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for letra in texto recorre caracteres.</a:t>
            </a:r>
          </a:p>
        </p:txBody>
      </p:sp>
    </p:spTree>
    <p:extLst>
      <p:ext uri="{BB962C8B-B14F-4D97-AF65-F5344CB8AC3E}">
        <p14:creationId xmlns:p14="http://schemas.microsoft.com/office/powerpoint/2010/main" val="19926287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94DEE51-E8F7-479F-8876-CB3AEA1D827C}"/>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6E6267-7311-43FD-AD2F-DEA4E4E06600}"/>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Separación, unión y contratos de formato</a:t>
            </a:r>
          </a:p>
        </p:txBody>
      </p:sp>
      <p:sp>
        <p:nvSpPr>
          <p:cNvPr id="3" name="">
            <a:extLst xmlns:a="http://schemas.openxmlformats.org/drawingml/2006/main">
              <a:ext uri="{FF2B5EF4-FFF2-40B4-BE49-F238E27FC236}">
                <a16:creationId xmlns:a16="http://schemas.microsoft.com/office/drawing/2014/main" id="{BA215107-930F-40CC-ABB9-4027A07A77E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832E7E4-ACDE-49A3-97AD-412EFAE273DD}"/>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3.06</a:t>
            </a:r>
          </a:p>
        </p:txBody>
      </p:sp>
      <p:sp>
        <p:nvSpPr>
          <p:cNvPr id="5" name="">
            <a:extLst xmlns:a="http://schemas.openxmlformats.org/drawingml/2006/main">
              <a:ext uri="{FF2B5EF4-FFF2-40B4-BE49-F238E27FC236}">
                <a16:creationId xmlns:a16="http://schemas.microsoft.com/office/drawing/2014/main" id="{3582F991-5B89-4D24-8039-BC50B2C59AFC}"/>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914955E1-92E5-4779-BA07-D6C917A2014B}"/>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Dividir un texto en palabras y volver a unirlo son operaciones distintas. Definir qué ocurre con separadores repetidos, espacios vacíos y signos.</a:t>
            </a:r>
          </a:p>
        </p:txBody>
      </p:sp>
      <p:sp>
        <p:nvSpPr>
          <p:cNvPr id="7" name="">
            <a:extLst xmlns:a="http://schemas.openxmlformats.org/drawingml/2006/main">
              <a:ext uri="{FF2B5EF4-FFF2-40B4-BE49-F238E27FC236}">
                <a16:creationId xmlns:a16="http://schemas.microsoft.com/office/drawing/2014/main" id="{7115BF9E-9046-4430-9EA3-39AA9E453C88}"/>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403F3B"/>
                </a:solidFill>
                <a:latin typeface="DejaVu Sans"/>
                <a:ea typeface="DejaVu Sans"/>
                <a:cs typeface="DejaVu Sans"/>
              </a:defRPr>
            </a:pPr>
            <a:r>
              <a:rPr sz="1650" b="0">
                <a:solidFill>
                  <a:srgbClr val="403F3B"/>
                </a:solidFill>
                <a:latin typeface="DejaVu Sans"/>
                <a:ea typeface="DejaVu Sans"/>
                <a:cs typeface="DejaVu Sans"/>
              </a:rPr>
              <a:t>print(" | ".join("rojo azul".split()))</a:t>
            </a:r>
          </a:p>
        </p:txBody>
      </p:sp>
      <p:sp>
        <p:nvSpPr>
          <p:cNvPr id="8" name="">
            <a:extLst xmlns:a="http://schemas.openxmlformats.org/drawingml/2006/main">
              <a:ext uri="{FF2B5EF4-FFF2-40B4-BE49-F238E27FC236}">
                <a16:creationId xmlns:a16="http://schemas.microsoft.com/office/drawing/2014/main" id="{6C60ED16-EC0D-495D-87B0-E09533EB0B19}"/>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split sin argumento agrupa espacios consecutivos y omite vacíos en extremos.</a:t>
            </a:r>
          </a:p>
        </p:txBody>
      </p:sp>
    </p:spTree>
    <p:extLst>
      <p:ext uri="{BB962C8B-B14F-4D97-AF65-F5344CB8AC3E}">
        <p14:creationId xmlns:p14="http://schemas.microsoft.com/office/powerpoint/2010/main" val="105207959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856F96C-4527-410A-B890-BAB8E1BBCD44}"/>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77E057B-1C7A-4D5D-969F-23EC47024921}"/>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Contrato y recorrido de la demostración</a:t>
            </a:r>
          </a:p>
        </p:txBody>
      </p:sp>
      <p:sp>
        <p:nvSpPr>
          <p:cNvPr id="3" name="">
            <a:extLst xmlns:a="http://schemas.openxmlformats.org/drawingml/2006/main">
              <a:ext uri="{FF2B5EF4-FFF2-40B4-BE49-F238E27FC236}">
                <a16:creationId xmlns:a16="http://schemas.microsoft.com/office/drawing/2014/main" id="{BF1F51DD-A885-4513-B1CB-6CF775E2157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98309BB-E3A3-4BAE-B6FF-6BBEC8741EA3}"/>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3.06</a:t>
            </a:r>
          </a:p>
        </p:txBody>
      </p:sp>
      <p:sp>
        <p:nvSpPr>
          <p:cNvPr id="5" name="">
            <a:extLst xmlns:a="http://schemas.openxmlformats.org/drawingml/2006/main">
              <a:ext uri="{FF2B5EF4-FFF2-40B4-BE49-F238E27FC236}">
                <a16:creationId xmlns:a16="http://schemas.microsoft.com/office/drawing/2014/main" id="{85EA5400-845F-41EE-ACC4-DEF6A45735C2}"/>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48076634-517E-4EDF-AE43-CB6B81F0DDBB}"/>
              </a:ext>
            </a:extLst>
          </p:cNvPr>
          <p:cNvSpPr>
            <a:spLocks xmlns:a="http://schemas.openxmlformats.org/drawingml/2006/main" noGrp="1"/>
          </p:cNvSpPr>
          <p:nvPr/>
        </p:nvSpPr>
        <p:spPr>
          <a:xfrm xmlns:a="http://schemas.openxmlformats.org/drawingml/2006/main">
            <a:off x="809625"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EB8335E-CDE0-467C-8811-7D376C6A0321}"/>
              </a:ext>
            </a:extLst>
          </p:cNvPr>
          <p:cNvSpPr>
            <a:spLocks xmlns:a="http://schemas.openxmlformats.org/drawingml/2006/main" noGrp="1"/>
          </p:cNvSpPr>
          <p:nvPr/>
        </p:nvSpPr>
        <p:spPr>
          <a:xfrm xmlns:a="http://schemas.openxmlformats.org/drawingml/2006/main">
            <a:off x="1000125"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ENTRADA</a:t>
            </a:r>
          </a:p>
        </p:txBody>
      </p:sp>
      <p:sp>
        <p:nvSpPr>
          <p:cNvPr id="8" name="">
            <a:extLst xmlns:a="http://schemas.openxmlformats.org/drawingml/2006/main">
              <a:ext uri="{FF2B5EF4-FFF2-40B4-BE49-F238E27FC236}">
                <a16:creationId xmlns:a16="http://schemas.microsoft.com/office/drawing/2014/main" id="{FDBD33C3-8136-4A8A-B738-0E7F98504E19}"/>
              </a:ext>
            </a:extLst>
          </p:cNvPr>
          <p:cNvSpPr>
            <a:spLocks xmlns:a="http://schemas.openxmlformats.org/drawingml/2006/main" noGrp="1"/>
          </p:cNvSpPr>
          <p:nvPr/>
        </p:nvSpPr>
        <p:spPr>
          <a:xfrm xmlns:a="http://schemas.openxmlformats.org/drawingml/2006/main">
            <a:off x="1000125"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Datos definidos en el ejemplo</a:t>
            </a:r>
          </a:p>
        </p:txBody>
      </p:sp>
      <p:sp>
        <p:nvSpPr>
          <p:cNvPr id="9" name="">
            <a:extLst xmlns:a="http://schemas.openxmlformats.org/drawingml/2006/main">
              <a:ext uri="{FF2B5EF4-FFF2-40B4-BE49-F238E27FC236}">
                <a16:creationId xmlns:a16="http://schemas.microsoft.com/office/drawing/2014/main" id="{3AF6F5D3-E13C-45FE-B226-A57B30384D8B}"/>
              </a:ext>
            </a:extLst>
          </p:cNvPr>
          <p:cNvSpPr>
            <a:spLocks xmlns:a="http://schemas.openxmlformats.org/drawingml/2006/main" noGrp="1"/>
          </p:cNvSpPr>
          <p:nvPr/>
        </p:nvSpPr>
        <p:spPr>
          <a:xfrm xmlns:a="http://schemas.openxmlformats.org/drawingml/2006/main">
            <a:off x="4143375" y="3095625"/>
            <a:ext cx="38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003772"/>
                </a:solidFill>
                <a:latin typeface="DejaVu Sans"/>
                <a:ea typeface="DejaVu Sans"/>
                <a:cs typeface="DejaVu Sans"/>
              </a:defRPr>
            </a:pPr>
            <a:r>
              <a:rPr sz="2475" b="1">
                <a:solidFill>
                  <a:srgbClr val="003772"/>
                </a:solidFill>
                <a:latin typeface="DejaVu Sans"/>
                <a:ea typeface="DejaVu Sans"/>
                <a:cs typeface="DejaVu Sans"/>
              </a:rPr>
              <a:t>→</a:t>
            </a:r>
          </a:p>
        </p:txBody>
      </p:sp>
      <p:sp>
        <p:nvSpPr>
          <p:cNvPr id="10" name="">
            <a:extLst xmlns:a="http://schemas.openxmlformats.org/drawingml/2006/main">
              <a:ext uri="{FF2B5EF4-FFF2-40B4-BE49-F238E27FC236}">
                <a16:creationId xmlns:a16="http://schemas.microsoft.com/office/drawing/2014/main" id="{7E155FC7-8A96-4523-A687-B01E0222FCD8}"/>
              </a:ext>
            </a:extLst>
          </p:cNvPr>
          <p:cNvSpPr>
            <a:spLocks xmlns:a="http://schemas.openxmlformats.org/drawingml/2006/main" noGrp="1"/>
          </p:cNvSpPr>
          <p:nvPr/>
        </p:nvSpPr>
        <p:spPr>
          <a:xfrm xmlns:a="http://schemas.openxmlformats.org/drawingml/2006/main">
            <a:off x="4552950"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1F554EB-BDF3-4CDD-82F1-EB5482F9F7B5}"/>
              </a:ext>
            </a:extLst>
          </p:cNvPr>
          <p:cNvSpPr>
            <a:spLocks xmlns:a="http://schemas.openxmlformats.org/drawingml/2006/main" noGrp="1"/>
          </p:cNvSpPr>
          <p:nvPr/>
        </p:nvSpPr>
        <p:spPr>
          <a:xfrm xmlns:a="http://schemas.openxmlformats.org/drawingml/2006/main">
            <a:off x="4743450"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PROCESO</a:t>
            </a:r>
          </a:p>
        </p:txBody>
      </p:sp>
      <p:sp>
        <p:nvSpPr>
          <p:cNvPr id="12" name="">
            <a:extLst xmlns:a="http://schemas.openxmlformats.org/drawingml/2006/main">
              <a:ext uri="{FF2B5EF4-FFF2-40B4-BE49-F238E27FC236}">
                <a16:creationId xmlns:a16="http://schemas.microsoft.com/office/drawing/2014/main" id="{FB9BEDDF-79C8-4EBA-9E5A-E2F9C00828D0}"/>
              </a:ext>
            </a:extLst>
          </p:cNvPr>
          <p:cNvSpPr>
            <a:spLocks xmlns:a="http://schemas.openxmlformats.org/drawingml/2006/main" noGrp="1"/>
          </p:cNvSpPr>
          <p:nvPr/>
        </p:nvSpPr>
        <p:spPr>
          <a:xfrm xmlns:a="http://schemas.openxmlformats.org/drawingml/2006/main">
            <a:off x="4743450"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Recorte, búsqueda y normalización</a:t>
            </a:r>
          </a:p>
        </p:txBody>
      </p:sp>
      <p:sp>
        <p:nvSpPr>
          <p:cNvPr id="13" name="">
            <a:extLst xmlns:a="http://schemas.openxmlformats.org/drawingml/2006/main">
              <a:ext uri="{FF2B5EF4-FFF2-40B4-BE49-F238E27FC236}">
                <a16:creationId xmlns:a16="http://schemas.microsoft.com/office/drawing/2014/main" id="{D51FE134-52F9-4071-91BC-12885305362D}"/>
              </a:ext>
            </a:extLst>
          </p:cNvPr>
          <p:cNvSpPr>
            <a:spLocks xmlns:a="http://schemas.openxmlformats.org/drawingml/2006/main" noGrp="1"/>
          </p:cNvSpPr>
          <p:nvPr/>
        </p:nvSpPr>
        <p:spPr>
          <a:xfrm xmlns:a="http://schemas.openxmlformats.org/drawingml/2006/main">
            <a:off x="7886700" y="3095625"/>
            <a:ext cx="38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003772"/>
                </a:solidFill>
                <a:latin typeface="DejaVu Sans"/>
                <a:ea typeface="DejaVu Sans"/>
                <a:cs typeface="DejaVu Sans"/>
              </a:defRPr>
            </a:pPr>
            <a:r>
              <a:rPr sz="2475" b="1">
                <a:solidFill>
                  <a:srgbClr val="003772"/>
                </a:solidFill>
                <a:latin typeface="DejaVu Sans"/>
                <a:ea typeface="DejaVu Sans"/>
                <a:cs typeface="DejaVu Sans"/>
              </a:rPr>
              <a:t>→</a:t>
            </a:r>
          </a:p>
        </p:txBody>
      </p:sp>
      <p:sp>
        <p:nvSpPr>
          <p:cNvPr id="14" name="">
            <a:extLst xmlns:a="http://schemas.openxmlformats.org/drawingml/2006/main">
              <a:ext uri="{FF2B5EF4-FFF2-40B4-BE49-F238E27FC236}">
                <a16:creationId xmlns:a16="http://schemas.microsoft.com/office/drawing/2014/main" id="{B7603DD4-079A-44EB-9B1A-6E9A5E6777B0}"/>
              </a:ext>
            </a:extLst>
          </p:cNvPr>
          <p:cNvSpPr>
            <a:spLocks xmlns:a="http://schemas.openxmlformats.org/drawingml/2006/main" noGrp="1"/>
          </p:cNvSpPr>
          <p:nvPr/>
        </p:nvSpPr>
        <p:spPr>
          <a:xfrm xmlns:a="http://schemas.openxmlformats.org/drawingml/2006/main">
            <a:off x="8296275"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7E835BC-948D-486E-96BE-36E7E070DC70}"/>
              </a:ext>
            </a:extLst>
          </p:cNvPr>
          <p:cNvSpPr>
            <a:spLocks xmlns:a="http://schemas.openxmlformats.org/drawingml/2006/main" noGrp="1"/>
          </p:cNvSpPr>
          <p:nvPr/>
        </p:nvSpPr>
        <p:spPr>
          <a:xfrm xmlns:a="http://schemas.openxmlformats.org/drawingml/2006/main">
            <a:off x="8486775"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SALIDA</a:t>
            </a:r>
          </a:p>
        </p:txBody>
      </p:sp>
      <p:sp>
        <p:nvSpPr>
          <p:cNvPr id="16" name="">
            <a:extLst xmlns:a="http://schemas.openxmlformats.org/drawingml/2006/main">
              <a:ext uri="{FF2B5EF4-FFF2-40B4-BE49-F238E27FC236}">
                <a16:creationId xmlns:a16="http://schemas.microsoft.com/office/drawing/2014/main" id="{A9D5C1D4-EDE3-4FDD-BB34-3C5BFD6264BF}"/>
              </a:ext>
            </a:extLst>
          </p:cNvPr>
          <p:cNvSpPr>
            <a:spLocks xmlns:a="http://schemas.openxmlformats.org/drawingml/2006/main" noGrp="1"/>
          </p:cNvSpPr>
          <p:nvPr/>
        </p:nvSpPr>
        <p:spPr>
          <a:xfrm xmlns:a="http://schemas.openxmlformats.org/drawingml/2006/main">
            <a:off x="8486775"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Cuenca</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Vocales: 3</a:t>
            </a:r>
          </a:p>
        </p:txBody>
      </p:sp>
      <p:sp>
        <p:nvSpPr>
          <p:cNvPr id="17" name="">
            <a:extLst xmlns:a="http://schemas.openxmlformats.org/drawingml/2006/main">
              <a:ext uri="{FF2B5EF4-FFF2-40B4-BE49-F238E27FC236}">
                <a16:creationId xmlns:a16="http://schemas.microsoft.com/office/drawing/2014/main" id="{0C457FB1-170E-4078-84A8-C2C10A08F34C}"/>
              </a:ext>
            </a:extLst>
          </p:cNvPr>
          <p:cNvSpPr>
            <a:spLocks xmlns:a="http://schemas.openxmlformats.org/drawingml/2006/main" noGrp="1"/>
          </p:cNvSpPr>
          <p:nvPr/>
        </p:nvSpPr>
        <p:spPr>
          <a:xfrm xmlns:a="http://schemas.openxmlformats.org/drawingml/2006/main">
            <a:off x="819150" y="51911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3772"/>
                </a:solidFill>
                <a:latin typeface="DejaVu Sans"/>
                <a:ea typeface="DejaVu Sans"/>
                <a:cs typeface="DejaVu Sans"/>
              </a:defRPr>
            </a:pPr>
            <a:r>
              <a:rPr sz="2100" b="1">
                <a:solidFill>
                  <a:srgbClr val="003772"/>
                </a:solidFill>
                <a:latin typeface="DejaVu Sans"/>
                <a:ea typeface="DejaVu Sans"/>
                <a:cs typeface="DejaVu Sans"/>
              </a:rPr>
              <a:t>Conservar el contrato al cambiar de lenguaje.</a:t>
            </a:r>
          </a:p>
        </p:txBody>
      </p:sp>
    </p:spTree>
    <p:extLst>
      <p:ext uri="{BB962C8B-B14F-4D97-AF65-F5344CB8AC3E}">
        <p14:creationId xmlns:p14="http://schemas.microsoft.com/office/powerpoint/2010/main" val="20171643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6B96D96-9934-46A2-ABC9-AADF3B70F08A}"/>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912314-3F0F-4CAF-8475-56D4F8716E65}"/>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Demostración guiada</a:t>
            </a:r>
          </a:p>
        </p:txBody>
      </p:sp>
      <p:sp>
        <p:nvSpPr>
          <p:cNvPr id="3" name="">
            <a:extLst xmlns:a="http://schemas.openxmlformats.org/drawingml/2006/main">
              <a:ext uri="{FF2B5EF4-FFF2-40B4-BE49-F238E27FC236}">
                <a16:creationId xmlns:a16="http://schemas.microsoft.com/office/drawing/2014/main" id="{917C6D80-C36B-4CF6-A3E1-998EAB786F9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BCB54DE-4DEF-4346-85DF-CEC69EF2A73C}"/>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3.06</a:t>
            </a:r>
          </a:p>
        </p:txBody>
      </p:sp>
      <p:sp>
        <p:nvSpPr>
          <p:cNvPr id="5" name="">
            <a:extLst xmlns:a="http://schemas.openxmlformats.org/drawingml/2006/main">
              <a:ext uri="{FF2B5EF4-FFF2-40B4-BE49-F238E27FC236}">
                <a16:creationId xmlns:a16="http://schemas.microsoft.com/office/drawing/2014/main" id="{702B3EFB-3A87-4557-B97E-F227B8ACF95C}"/>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8</a:t>
            </a:r>
          </a:p>
        </p:txBody>
      </p:sp>
      <p:sp>
        <p:nvSpPr>
          <p:cNvPr id="6" name="">
            <a:extLst xmlns:a="http://schemas.openxmlformats.org/drawingml/2006/main">
              <a:ext uri="{FF2B5EF4-FFF2-40B4-BE49-F238E27FC236}">
                <a16:creationId xmlns:a16="http://schemas.microsoft.com/office/drawing/2014/main" id="{77AC082A-7C0C-493B-9C10-1BB22E440553}"/>
              </a:ext>
            </a:extLst>
          </p:cNvPr>
          <p:cNvSpPr>
            <a:spLocks xmlns:a="http://schemas.openxmlformats.org/drawingml/2006/main" noGrp="1"/>
          </p:cNvSpPr>
          <p:nvPr/>
        </p:nvSpPr>
        <p:spPr>
          <a:xfrm xmlns:a="http://schemas.openxmlformats.org/drawingml/2006/main">
            <a:off x="819150" y="1666875"/>
            <a:ext cx="10572750" cy="4048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def contar_vocales(texto):</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    cantidad = 0</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    for letra in texto.lower():</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        if letra in "aeiou":</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            cantidad += 1</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    return cantidad</a:t>
            </a:r>
          </a:p>
          <a:p xmlns:a="http://schemas.openxmlformats.org/drawingml/2006/main">
            <a:r>
              <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nombre = "  Cuenca  ".strip()</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print(nombre)</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print(f"Vocales: {contar_vocales(nombre)}")</a:t>
            </a:r>
          </a:p>
        </p:txBody>
      </p:sp>
    </p:spTree>
    <p:extLst>
      <p:ext uri="{BB962C8B-B14F-4D97-AF65-F5344CB8AC3E}">
        <p14:creationId xmlns:p14="http://schemas.microsoft.com/office/powerpoint/2010/main" val="90968060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D6A406F-150E-4FA4-A723-2875FBE4BCBF}"/>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21FA71-82A0-4702-BE00-86BC00B7367B}"/>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Resultado esperado y comprobación</a:t>
            </a:r>
          </a:p>
        </p:txBody>
      </p:sp>
      <p:sp>
        <p:nvSpPr>
          <p:cNvPr id="3" name="">
            <a:extLst xmlns:a="http://schemas.openxmlformats.org/drawingml/2006/main">
              <a:ext uri="{FF2B5EF4-FFF2-40B4-BE49-F238E27FC236}">
                <a16:creationId xmlns:a16="http://schemas.microsoft.com/office/drawing/2014/main" id="{169813E0-27BC-4BAE-A2CC-2DE2FB2D7F8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DABC402-1EF7-4055-9F1B-3FAA31654B0F}"/>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3.06</a:t>
            </a:r>
          </a:p>
        </p:txBody>
      </p:sp>
      <p:sp>
        <p:nvSpPr>
          <p:cNvPr id="5" name="">
            <a:extLst xmlns:a="http://schemas.openxmlformats.org/drawingml/2006/main">
              <a:ext uri="{FF2B5EF4-FFF2-40B4-BE49-F238E27FC236}">
                <a16:creationId xmlns:a16="http://schemas.microsoft.com/office/drawing/2014/main" id="{58C1344B-37D3-4852-9734-A2A5A0DB58B4}"/>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6F7FF411-3FB8-4116-AD70-1DF15187F343}"/>
              </a:ext>
            </a:extLst>
          </p:cNvPr>
          <p:cNvSpPr>
            <a:spLocks xmlns:a="http://schemas.openxmlformats.org/drawingml/2006/main" noGrp="1"/>
          </p:cNvSpPr>
          <p:nvPr/>
        </p:nvSpPr>
        <p:spPr>
          <a:xfrm xmlns:a="http://schemas.openxmlformats.org/drawingml/2006/main">
            <a:off x="819150" y="1666875"/>
            <a:ext cx="6381750" cy="3333750"/>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Cuenca</a:t>
            </a:r>
          </a:p>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Vocales: 3</a:t>
            </a:r>
          </a:p>
        </p:txBody>
      </p:sp>
      <p:sp>
        <p:nvSpPr>
          <p:cNvPr id="7" name="">
            <a:extLst xmlns:a="http://schemas.openxmlformats.org/drawingml/2006/main">
              <a:ext uri="{FF2B5EF4-FFF2-40B4-BE49-F238E27FC236}">
                <a16:creationId xmlns:a16="http://schemas.microsoft.com/office/drawing/2014/main" id="{13DD4A2F-FB2B-4924-BB13-D02C07B34165}"/>
              </a:ext>
            </a:extLst>
          </p:cNvPr>
          <p:cNvSpPr>
            <a:spLocks xmlns:a="http://schemas.openxmlformats.org/drawingml/2006/main" noGrp="1"/>
          </p:cNvSpPr>
          <p:nvPr/>
        </p:nvSpPr>
        <p:spPr>
          <a:xfrm xmlns:a="http://schemas.openxmlformats.org/drawingml/2006/main">
            <a:off x="7667625" y="1714500"/>
            <a:ext cx="3714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Ejecutar con los datos indicados.</a:t>
            </a:r>
          </a:p>
          <a:p xmlns:a="http://schemas.openxmlformats.org/drawingml/2006/main">
            <a:r>
              <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Relacionar cada línea con una instrucción.</a:t>
            </a:r>
          </a:p>
          <a:p xmlns:a="http://schemas.openxmlformats.org/drawingml/2006/main">
            <a:r>
              <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Cambiar un dato y anticipar la nueva salida.</a:t>
            </a:r>
          </a:p>
        </p:txBody>
      </p:sp>
    </p:spTree>
    <p:extLst>
      <p:ext uri="{BB962C8B-B14F-4D97-AF65-F5344CB8AC3E}">
        <p14:creationId xmlns:p14="http://schemas.microsoft.com/office/powerpoint/2010/main" val="38534929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F391516-658B-4474-8579-D33A655B27B2}"/>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2C3913-C6F6-4D66-BD36-AAC633A3F176}"/>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Ejercicio práctico · Conteo de dígitos ASCII</a:t>
            </a:r>
          </a:p>
        </p:txBody>
      </p:sp>
      <p:sp>
        <p:nvSpPr>
          <p:cNvPr id="3" name="">
            <a:extLst xmlns:a="http://schemas.openxmlformats.org/drawingml/2006/main">
              <a:ext uri="{FF2B5EF4-FFF2-40B4-BE49-F238E27FC236}">
                <a16:creationId xmlns:a16="http://schemas.microsoft.com/office/drawing/2014/main" id="{4C4A15F0-89EC-4D28-9997-D444461A5F9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7FF8531-3B1A-4488-A8B7-040F7584B421}"/>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3.06</a:t>
            </a:r>
          </a:p>
        </p:txBody>
      </p:sp>
      <p:sp>
        <p:nvSpPr>
          <p:cNvPr id="5" name="">
            <a:extLst xmlns:a="http://schemas.openxmlformats.org/drawingml/2006/main">
              <a:ext uri="{FF2B5EF4-FFF2-40B4-BE49-F238E27FC236}">
                <a16:creationId xmlns:a16="http://schemas.microsoft.com/office/drawing/2014/main" id="{742ABBBC-A563-46D9-849B-AE3D05497BCF}"/>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B76D8B91-4D82-4419-BFCD-DD04159B6619}"/>
              </a:ext>
            </a:extLst>
          </p:cNvPr>
          <p:cNvSpPr>
            <a:spLocks xmlns:a="http://schemas.openxmlformats.org/drawingml/2006/main" noGrp="1"/>
          </p:cNvSpPr>
          <p:nvPr/>
        </p:nvSpPr>
        <p:spPr>
          <a:xfrm xmlns:a="http://schemas.openxmlformats.org/drawingml/2006/main">
            <a:off x="819150" y="1714500"/>
            <a:ext cx="10477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Contar caracteres 0 a 9 en “A2B45”. No aceptar dígitos de otros alfabetos.</a:t>
            </a:r>
          </a:p>
        </p:txBody>
      </p:sp>
      <p:sp>
        <p:nvSpPr>
          <p:cNvPr id="7" name="">
            <a:extLst xmlns:a="http://schemas.openxmlformats.org/drawingml/2006/main">
              <a:ext uri="{FF2B5EF4-FFF2-40B4-BE49-F238E27FC236}">
                <a16:creationId xmlns:a16="http://schemas.microsoft.com/office/drawing/2014/main" id="{3347E2A3-5E01-4D09-AFBF-C7DBC5F109B0}"/>
              </a:ext>
            </a:extLst>
          </p:cNvPr>
          <p:cNvSpPr>
            <a:spLocks xmlns:a="http://schemas.openxmlformats.org/drawingml/2006/main" noGrp="1"/>
          </p:cNvSpPr>
          <p:nvPr/>
        </p:nvSpPr>
        <p:spPr>
          <a:xfrm xmlns:a="http://schemas.openxmlformats.org/drawingml/2006/main">
            <a:off x="819150" y="42862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Resultado de comprobación</a:t>
            </a:r>
          </a:p>
        </p:txBody>
      </p:sp>
      <p:sp>
        <p:nvSpPr>
          <p:cNvPr id="8" name="">
            <a:extLst xmlns:a="http://schemas.openxmlformats.org/drawingml/2006/main">
              <a:ext uri="{FF2B5EF4-FFF2-40B4-BE49-F238E27FC236}">
                <a16:creationId xmlns:a16="http://schemas.microsoft.com/office/drawing/2014/main" id="{ACF8E950-5740-4BD9-BF1A-606EDC413595}"/>
              </a:ext>
            </a:extLst>
          </p:cNvPr>
          <p:cNvSpPr>
            <a:spLocks xmlns:a="http://schemas.openxmlformats.org/drawingml/2006/main" noGrp="1"/>
          </p:cNvSpPr>
          <p:nvPr/>
        </p:nvSpPr>
        <p:spPr>
          <a:xfrm xmlns:a="http://schemas.openxmlformats.org/drawingml/2006/main">
            <a:off x="819150" y="4857750"/>
            <a:ext cx="10477500" cy="952500"/>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3</a:t>
            </a:r>
          </a:p>
        </p:txBody>
      </p:sp>
    </p:spTree>
    <p:extLst>
      <p:ext uri="{BB962C8B-B14F-4D97-AF65-F5344CB8AC3E}">
        <p14:creationId xmlns:p14="http://schemas.microsoft.com/office/powerpoint/2010/main" val="12623367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AE4DF49-8E22-4D47-9E94-9432BB1B5E0E}"/>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10A437-6E3C-42A7-A3F9-FBA80CC675E9}"/>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PC3.06 · Problema y restricciones</a:t>
            </a:r>
          </a:p>
        </p:txBody>
      </p:sp>
      <p:sp>
        <p:nvSpPr>
          <p:cNvPr id="3" name="">
            <a:extLst xmlns:a="http://schemas.openxmlformats.org/drawingml/2006/main">
              <a:ext uri="{FF2B5EF4-FFF2-40B4-BE49-F238E27FC236}">
                <a16:creationId xmlns:a16="http://schemas.microsoft.com/office/drawing/2014/main" id="{A8CBEEF7-1ED7-41B3-9DA1-A29B17E62E8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32BA855-2B2C-4993-8179-29B1677E8BA0}"/>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3.06</a:t>
            </a:r>
          </a:p>
        </p:txBody>
      </p:sp>
      <p:sp>
        <p:nvSpPr>
          <p:cNvPr id="5" name="">
            <a:extLst xmlns:a="http://schemas.openxmlformats.org/drawingml/2006/main">
              <a:ext uri="{FF2B5EF4-FFF2-40B4-BE49-F238E27FC236}">
                <a16:creationId xmlns:a16="http://schemas.microsoft.com/office/drawing/2014/main" id="{1E523C5F-256B-4682-8355-2AF290E76D02}"/>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11</a:t>
            </a:r>
          </a:p>
        </p:txBody>
      </p:sp>
      <p:sp>
        <p:nvSpPr>
          <p:cNvPr id="6" name="">
            <a:extLst xmlns:a="http://schemas.openxmlformats.org/drawingml/2006/main">
              <a:ext uri="{FF2B5EF4-FFF2-40B4-BE49-F238E27FC236}">
                <a16:creationId xmlns:a16="http://schemas.microsoft.com/office/drawing/2014/main" id="{5E5FC162-08AD-4538-A49B-3A89BC32F38F}"/>
              </a:ext>
            </a:extLst>
          </p:cNvPr>
          <p:cNvSpPr>
            <a:spLocks xmlns:a="http://schemas.openxmlformats.org/drawingml/2006/main" noGrp="1"/>
          </p:cNvSpPr>
          <p:nvPr/>
        </p:nvSpPr>
        <p:spPr>
          <a:xfrm xmlns:a="http://schemas.openxmlformats.org/drawingml/2006/main">
            <a:off x="819150" y="1571625"/>
            <a:ext cx="105727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403F3B"/>
                </a:solidFill>
                <a:latin typeface="DejaVu Sans"/>
                <a:ea typeface="DejaVu Sans"/>
                <a:cs typeface="DejaVu Sans"/>
              </a:defRPr>
            </a:pPr>
            <a:r>
              <a:rPr sz="2250" b="0">
                <a:solidFill>
                  <a:srgbClr val="403F3B"/>
                </a:solidFill>
                <a:latin typeface="DejaVu Sans"/>
                <a:ea typeface="DejaVu Sans"/>
                <a:cs typeface="DejaVu Sans"/>
              </a:rPr>
              <a:t>Definir analizar_codigo(texto): quitar espacios externos, aceptar de 3 a 8 caracteres ASCII alfanuméricos y exigir al menos una letra y un dígito. Retornar una versión en mayúsculas cuando sea válido; lanzar un error concreto cuando no lo sea. No aceptar espacios internos, tildes ni símbolos. Separar validación y presentación.</a:t>
            </a:r>
          </a:p>
        </p:txBody>
      </p:sp>
      <p:sp>
        <p:nvSpPr>
          <p:cNvPr id="7" name="">
            <a:extLst xmlns:a="http://schemas.openxmlformats.org/drawingml/2006/main">
              <a:ext uri="{FF2B5EF4-FFF2-40B4-BE49-F238E27FC236}">
                <a16:creationId xmlns:a16="http://schemas.microsoft.com/office/drawing/2014/main" id="{F1399218-3957-4398-BE1F-0AF6833CE13A}"/>
              </a:ext>
            </a:extLst>
          </p:cNvPr>
          <p:cNvSpPr>
            <a:spLocks xmlns:a="http://schemas.openxmlformats.org/drawingml/2006/main" noGrp="1"/>
          </p:cNvSpPr>
          <p:nvPr/>
        </p:nvSpPr>
        <p:spPr>
          <a:xfrm xmlns:a="http://schemas.openxmlformats.org/drawingml/2006/main">
            <a:off x="819150" y="54768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3772"/>
                </a:solidFill>
                <a:latin typeface="DejaVu Sans"/>
                <a:ea typeface="DejaVu Sans"/>
                <a:cs typeface="DejaVu Sans"/>
              </a:defRPr>
            </a:pPr>
            <a:r>
              <a:rPr sz="1875" b="1">
                <a:solidFill>
                  <a:srgbClr val="003772"/>
                </a:solidFill>
                <a:latin typeface="DejaVu Sans"/>
                <a:ea typeface="DejaVu Sans"/>
                <a:cs typeface="DejaVu Sans"/>
              </a:rPr>
              <a:t>Resolver de forma autónoma y registrar evidencia real.</a:t>
            </a:r>
          </a:p>
        </p:txBody>
      </p:sp>
    </p:spTree>
    <p:extLst>
      <p:ext uri="{BB962C8B-B14F-4D97-AF65-F5344CB8AC3E}">
        <p14:creationId xmlns:p14="http://schemas.microsoft.com/office/powerpoint/2010/main" val="41693211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1B600F4-9E67-43FF-B9B6-4462D17B72A8}"/>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E27DAB-B695-46A0-985E-8467EB4150A3}"/>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PC3.06 · Casos de aceptación</a:t>
            </a:r>
          </a:p>
        </p:txBody>
      </p:sp>
      <p:sp>
        <p:nvSpPr>
          <p:cNvPr id="3" name="">
            <a:extLst xmlns:a="http://schemas.openxmlformats.org/drawingml/2006/main">
              <a:ext uri="{FF2B5EF4-FFF2-40B4-BE49-F238E27FC236}">
                <a16:creationId xmlns:a16="http://schemas.microsoft.com/office/drawing/2014/main" id="{8C5819B5-0034-49BA-B439-8DD33EB8E44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9560831-6DC1-4486-92ED-7E43EFD8596F}"/>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3.06</a:t>
            </a:r>
          </a:p>
        </p:txBody>
      </p:sp>
      <p:sp>
        <p:nvSpPr>
          <p:cNvPr id="5" name="">
            <a:extLst xmlns:a="http://schemas.openxmlformats.org/drawingml/2006/main">
              <a:ext uri="{FF2B5EF4-FFF2-40B4-BE49-F238E27FC236}">
                <a16:creationId xmlns:a16="http://schemas.microsoft.com/office/drawing/2014/main" id="{35021F88-A37D-4EB0-9989-F91D4AD4D50B}"/>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12</a:t>
            </a:r>
          </a:p>
        </p:txBody>
      </p:sp>
      <p:sp>
        <p:nvSpPr>
          <p:cNvPr id="6" name="">
            <a:extLst xmlns:a="http://schemas.openxmlformats.org/drawingml/2006/main">
              <a:ext uri="{FF2B5EF4-FFF2-40B4-BE49-F238E27FC236}">
                <a16:creationId xmlns:a16="http://schemas.microsoft.com/office/drawing/2014/main" id="{E3055757-8DE7-47C7-A1FB-6401F95CE942}"/>
              </a:ext>
            </a:extLst>
          </p:cNvPr>
          <p:cNvSpPr>
            <a:spLocks xmlns:a="http://schemas.openxmlformats.org/drawingml/2006/main" noGrp="1"/>
          </p:cNvSpPr>
          <p:nvPr/>
        </p:nvSpPr>
        <p:spPr>
          <a:xfrm xmlns:a="http://schemas.openxmlformats.org/drawingml/2006/main">
            <a:off x="819150" y="1619250"/>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 ab3 </a:t>
            </a:r>
          </a:p>
        </p:txBody>
      </p:sp>
      <p:sp>
        <p:nvSpPr>
          <p:cNvPr id="7" name="">
            <a:extLst xmlns:a="http://schemas.openxmlformats.org/drawingml/2006/main">
              <a:ext uri="{FF2B5EF4-FFF2-40B4-BE49-F238E27FC236}">
                <a16:creationId xmlns:a16="http://schemas.microsoft.com/office/drawing/2014/main" id="{0E7BDB71-E947-4325-9BA7-F9F010606B3C}"/>
              </a:ext>
            </a:extLst>
          </p:cNvPr>
          <p:cNvSpPr>
            <a:spLocks xmlns:a="http://schemas.openxmlformats.org/drawingml/2006/main" noGrp="1"/>
          </p:cNvSpPr>
          <p:nvPr/>
        </p:nvSpPr>
        <p:spPr>
          <a:xfrm xmlns:a="http://schemas.openxmlformats.org/drawingml/2006/main">
            <a:off x="5953125" y="1619250"/>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AB3</a:t>
            </a:r>
          </a:p>
        </p:txBody>
      </p:sp>
      <p:sp>
        <p:nvSpPr>
          <p:cNvPr id="8" name="">
            <a:extLst xmlns:a="http://schemas.openxmlformats.org/drawingml/2006/main">
              <a:ext uri="{FF2B5EF4-FFF2-40B4-BE49-F238E27FC236}">
                <a16:creationId xmlns:a16="http://schemas.microsoft.com/office/drawing/2014/main" id="{E703E17E-7BFE-41F9-907B-E35532FABB98}"/>
              </a:ext>
            </a:extLst>
          </p:cNvPr>
          <p:cNvSpPr>
            <a:spLocks xmlns:a="http://schemas.openxmlformats.org/drawingml/2006/main" noGrp="1"/>
          </p:cNvSpPr>
          <p:nvPr/>
        </p:nvSpPr>
        <p:spPr>
          <a:xfrm xmlns:a="http://schemas.openxmlformats.org/drawingml/2006/main">
            <a:off x="819150" y="2600325"/>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abc</a:t>
            </a:r>
          </a:p>
        </p:txBody>
      </p:sp>
      <p:sp>
        <p:nvSpPr>
          <p:cNvPr id="9" name="">
            <a:extLst xmlns:a="http://schemas.openxmlformats.org/drawingml/2006/main">
              <a:ext uri="{FF2B5EF4-FFF2-40B4-BE49-F238E27FC236}">
                <a16:creationId xmlns:a16="http://schemas.microsoft.com/office/drawing/2014/main" id="{569F5677-30E8-40BC-B4ED-42A587347723}"/>
              </a:ext>
            </a:extLst>
          </p:cNvPr>
          <p:cNvSpPr>
            <a:spLocks xmlns:a="http://schemas.openxmlformats.org/drawingml/2006/main" noGrp="1"/>
          </p:cNvSpPr>
          <p:nvPr/>
        </p:nvSpPr>
        <p:spPr>
          <a:xfrm xmlns:a="http://schemas.openxmlformats.org/drawingml/2006/main">
            <a:off x="5953125" y="2600325"/>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falta dígito</a:t>
            </a:r>
          </a:p>
        </p:txBody>
      </p:sp>
      <p:sp>
        <p:nvSpPr>
          <p:cNvPr id="10" name="">
            <a:extLst xmlns:a="http://schemas.openxmlformats.org/drawingml/2006/main">
              <a:ext uri="{FF2B5EF4-FFF2-40B4-BE49-F238E27FC236}">
                <a16:creationId xmlns:a16="http://schemas.microsoft.com/office/drawing/2014/main" id="{23E18EAE-2C4D-4626-91C0-7773CE70C198}"/>
              </a:ext>
            </a:extLst>
          </p:cNvPr>
          <p:cNvSpPr>
            <a:spLocks xmlns:a="http://schemas.openxmlformats.org/drawingml/2006/main" noGrp="1"/>
          </p:cNvSpPr>
          <p:nvPr/>
        </p:nvSpPr>
        <p:spPr>
          <a:xfrm xmlns:a="http://schemas.openxmlformats.org/drawingml/2006/main">
            <a:off x="819150" y="3581400"/>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123</a:t>
            </a:r>
          </a:p>
        </p:txBody>
      </p:sp>
      <p:sp>
        <p:nvSpPr>
          <p:cNvPr id="11" name="">
            <a:extLst xmlns:a="http://schemas.openxmlformats.org/drawingml/2006/main">
              <a:ext uri="{FF2B5EF4-FFF2-40B4-BE49-F238E27FC236}">
                <a16:creationId xmlns:a16="http://schemas.microsoft.com/office/drawing/2014/main" id="{6721A043-7528-446F-A6EA-3615B312CD5B}"/>
              </a:ext>
            </a:extLst>
          </p:cNvPr>
          <p:cNvSpPr>
            <a:spLocks xmlns:a="http://schemas.openxmlformats.org/drawingml/2006/main" noGrp="1"/>
          </p:cNvSpPr>
          <p:nvPr/>
        </p:nvSpPr>
        <p:spPr>
          <a:xfrm xmlns:a="http://schemas.openxmlformats.org/drawingml/2006/main">
            <a:off x="5953125" y="3581400"/>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falta letra</a:t>
            </a:r>
          </a:p>
        </p:txBody>
      </p:sp>
      <p:sp>
        <p:nvSpPr>
          <p:cNvPr id="12" name="">
            <a:extLst xmlns:a="http://schemas.openxmlformats.org/drawingml/2006/main">
              <a:ext uri="{FF2B5EF4-FFF2-40B4-BE49-F238E27FC236}">
                <a16:creationId xmlns:a16="http://schemas.microsoft.com/office/drawing/2014/main" id="{FE4CD753-7FF3-4064-AEFC-66F1B2D56B41}"/>
              </a:ext>
            </a:extLst>
          </p:cNvPr>
          <p:cNvSpPr>
            <a:spLocks xmlns:a="http://schemas.openxmlformats.org/drawingml/2006/main" noGrp="1"/>
          </p:cNvSpPr>
          <p:nvPr/>
        </p:nvSpPr>
        <p:spPr>
          <a:xfrm xmlns:a="http://schemas.openxmlformats.org/drawingml/2006/main">
            <a:off x="819150" y="4562475"/>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a 1</a:t>
            </a:r>
          </a:p>
        </p:txBody>
      </p:sp>
      <p:sp>
        <p:nvSpPr>
          <p:cNvPr id="13" name="">
            <a:extLst xmlns:a="http://schemas.openxmlformats.org/drawingml/2006/main">
              <a:ext uri="{FF2B5EF4-FFF2-40B4-BE49-F238E27FC236}">
                <a16:creationId xmlns:a16="http://schemas.microsoft.com/office/drawing/2014/main" id="{505E7BA9-08EE-4785-868A-0ADF8BFD9FC5}"/>
              </a:ext>
            </a:extLst>
          </p:cNvPr>
          <p:cNvSpPr>
            <a:spLocks xmlns:a="http://schemas.openxmlformats.org/drawingml/2006/main" noGrp="1"/>
          </p:cNvSpPr>
          <p:nvPr/>
        </p:nvSpPr>
        <p:spPr>
          <a:xfrm xmlns:a="http://schemas.openxmlformats.org/drawingml/2006/main">
            <a:off x="5953125" y="4562475"/>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carácter inválido</a:t>
            </a:r>
          </a:p>
        </p:txBody>
      </p:sp>
    </p:spTree>
    <p:extLst>
      <p:ext uri="{BB962C8B-B14F-4D97-AF65-F5344CB8AC3E}">
        <p14:creationId xmlns:p14="http://schemas.microsoft.com/office/powerpoint/2010/main" val="164859237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0EE1E14-3C14-4940-B378-C052F570B928}"/>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CDDB04-1980-4E91-946F-E2E6CD4046A1}"/>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F609DB50-7130-4A4A-A5FF-BBDDC39778E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C578E5A-4B75-46BC-AC7C-DF97FFE7DE14}"/>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3.06</a:t>
            </a:r>
          </a:p>
        </p:txBody>
      </p:sp>
      <p:sp>
        <p:nvSpPr>
          <p:cNvPr id="5" name="">
            <a:extLst xmlns:a="http://schemas.openxmlformats.org/drawingml/2006/main">
              <a:ext uri="{FF2B5EF4-FFF2-40B4-BE49-F238E27FC236}">
                <a16:creationId xmlns:a16="http://schemas.microsoft.com/office/drawing/2014/main" id="{CFCA51A4-D172-43B6-A69B-5EE829B0C3BC}"/>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13</a:t>
            </a:r>
          </a:p>
        </p:txBody>
      </p:sp>
      <p:sp>
        <p:nvSpPr>
          <p:cNvPr id="6" name="">
            <a:extLst xmlns:a="http://schemas.openxmlformats.org/drawingml/2006/main">
              <a:ext uri="{FF2B5EF4-FFF2-40B4-BE49-F238E27FC236}">
                <a16:creationId xmlns:a16="http://schemas.microsoft.com/office/drawing/2014/main" id="{668525F6-03B6-4EC4-B50D-367FFE675685}"/>
              </a:ext>
            </a:extLst>
          </p:cNvPr>
          <p:cNvSpPr>
            <a:spLocks xmlns:a="http://schemas.openxmlformats.org/drawingml/2006/main" noGrp="1"/>
          </p:cNvSpPr>
          <p:nvPr/>
        </p:nvSpPr>
        <p:spPr>
          <a:xfrm xmlns:a="http://schemas.openxmlformats.org/drawingml/2006/main">
            <a:off x="762000" y="1809750"/>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01</a:t>
            </a:r>
          </a:p>
        </p:txBody>
      </p:sp>
      <p:sp>
        <p:nvSpPr>
          <p:cNvPr id="7" name="">
            <a:extLst xmlns:a="http://schemas.openxmlformats.org/drawingml/2006/main">
              <a:ext uri="{FF2B5EF4-FFF2-40B4-BE49-F238E27FC236}">
                <a16:creationId xmlns:a16="http://schemas.microsoft.com/office/drawing/2014/main" id="{4C6A623F-A6C3-49D6-9A59-5D7720DAA5D9}"/>
              </a:ext>
            </a:extLst>
          </p:cNvPr>
          <p:cNvSpPr>
            <a:spLocks xmlns:a="http://schemas.openxmlformats.org/drawingml/2006/main" noGrp="1"/>
          </p:cNvSpPr>
          <p:nvPr/>
        </p:nvSpPr>
        <p:spPr>
          <a:xfrm xmlns:a="http://schemas.openxmlformats.org/drawingml/2006/main">
            <a:off x="1571625" y="1809750"/>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Acordar qué caracteres se aceptan.</a:t>
            </a:r>
          </a:p>
        </p:txBody>
      </p:sp>
      <p:sp>
        <p:nvSpPr>
          <p:cNvPr id="8" name="">
            <a:extLst xmlns:a="http://schemas.openxmlformats.org/drawingml/2006/main">
              <a:ext uri="{FF2B5EF4-FFF2-40B4-BE49-F238E27FC236}">
                <a16:creationId xmlns:a16="http://schemas.microsoft.com/office/drawing/2014/main" id="{D71265C1-1158-4979-B49D-8A5A1681BEF0}"/>
              </a:ext>
            </a:extLst>
          </p:cNvPr>
          <p:cNvSpPr>
            <a:spLocks xmlns:a="http://schemas.openxmlformats.org/drawingml/2006/main" noGrp="1"/>
          </p:cNvSpPr>
          <p:nvPr/>
        </p:nvSpPr>
        <p:spPr>
          <a:xfrm xmlns:a="http://schemas.openxmlformats.org/drawingml/2006/main">
            <a:off x="762000" y="3000375"/>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02</a:t>
            </a:r>
          </a:p>
        </p:txBody>
      </p:sp>
      <p:sp>
        <p:nvSpPr>
          <p:cNvPr id="9" name="">
            <a:extLst xmlns:a="http://schemas.openxmlformats.org/drawingml/2006/main">
              <a:ext uri="{FF2B5EF4-FFF2-40B4-BE49-F238E27FC236}">
                <a16:creationId xmlns:a16="http://schemas.microsoft.com/office/drawing/2014/main" id="{C621C7E6-30DC-48D9-BA60-DC7A635D3AF4}"/>
              </a:ext>
            </a:extLst>
          </p:cNvPr>
          <p:cNvSpPr>
            <a:spLocks xmlns:a="http://schemas.openxmlformats.org/drawingml/2006/main" noGrp="1"/>
          </p:cNvSpPr>
          <p:nvPr/>
        </p:nvSpPr>
        <p:spPr>
          <a:xfrm xmlns:a="http://schemas.openxmlformats.org/drawingml/2006/main">
            <a:off x="1571625" y="3000375"/>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Conservar el original cuando importe.</a:t>
            </a:r>
          </a:p>
        </p:txBody>
      </p:sp>
      <p:sp>
        <p:nvSpPr>
          <p:cNvPr id="10" name="">
            <a:extLst xmlns:a="http://schemas.openxmlformats.org/drawingml/2006/main">
              <a:ext uri="{FF2B5EF4-FFF2-40B4-BE49-F238E27FC236}">
                <a16:creationId xmlns:a16="http://schemas.microsoft.com/office/drawing/2014/main" id="{33309000-A57E-4D09-8289-01AC0568E68B}"/>
              </a:ext>
            </a:extLst>
          </p:cNvPr>
          <p:cNvSpPr>
            <a:spLocks xmlns:a="http://schemas.openxmlformats.org/drawingml/2006/main" noGrp="1"/>
          </p:cNvSpPr>
          <p:nvPr/>
        </p:nvSpPr>
        <p:spPr>
          <a:xfrm xmlns:a="http://schemas.openxmlformats.org/drawingml/2006/main">
            <a:off x="762000" y="4191000"/>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D0345A84-D5EC-4E3E-B7F5-D26C057B7E59}"/>
              </a:ext>
            </a:extLst>
          </p:cNvPr>
          <p:cNvSpPr>
            <a:spLocks xmlns:a="http://schemas.openxmlformats.org/drawingml/2006/main" noGrp="1"/>
          </p:cNvSpPr>
          <p:nvPr/>
        </p:nvSpPr>
        <p:spPr>
          <a:xfrm xmlns:a="http://schemas.openxmlformats.org/drawingml/2006/main">
            <a:off x="1571625" y="4191000"/>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Separar transformación, validación y salida.</a:t>
            </a:r>
          </a:p>
        </p:txBody>
      </p:sp>
    </p:spTree>
    <p:extLst>
      <p:ext uri="{BB962C8B-B14F-4D97-AF65-F5344CB8AC3E}">
        <p14:creationId xmlns:p14="http://schemas.microsoft.com/office/powerpoint/2010/main" val="12802422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2026-09-25T21:15:58.2470000Z</dcterms:created>
  <dcterms:modified xsi:type="dcterms:W3CDTF">2026-09-25T21:15:58.2470000Z</dcterms:modified>
</coreProperties>
</file>