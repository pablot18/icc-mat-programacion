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ee8e94824dc4e2c" /><Relationship Type="http://schemas.openxmlformats.org/officeDocument/2006/relationships/extended-properties" Target="/docProps/app.xml" Id="R878799f95c8b419d" /><Relationship Type="http://schemas.openxmlformats.org/officeDocument/2006/relationships/officeDocument" Target="/ppt/presentation.xml" Id="R480ed0af34ac4732" /></Relationships>
</file>

<file path=ppt/presentation.xml><?xml version="1.0" encoding="utf-8"?>
<p:presentation xmlns:p="http://schemas.openxmlformats.org/presentationml/2006/main">
  <p:sldMasterIdLst>
    <p:sldMasterId xmlns:r="http://schemas.openxmlformats.org/officeDocument/2006/relationships" id="2147483648" r:id="R7a3f2506108e4a0e"/>
  </p:sldMasterIdLst>
  <p:notesMasterIdLst>
    <p:notesMasterId xmlns:r="http://schemas.openxmlformats.org/officeDocument/2006/relationships" r:id="Ra73554df4d824e89"/>
  </p:notesMasterIdLst>
  <p:sldIdLst>
    <p:sldId xmlns:r="http://schemas.openxmlformats.org/officeDocument/2006/relationships" id="256" r:id="Rbae65574c2b0437f"/>
    <p:sldId xmlns:r="http://schemas.openxmlformats.org/officeDocument/2006/relationships" id="257" r:id="Re2fb6f4570c64eee"/>
    <p:sldId xmlns:r="http://schemas.openxmlformats.org/officeDocument/2006/relationships" id="258" r:id="Redecdc6b186c412d"/>
    <p:sldId xmlns:r="http://schemas.openxmlformats.org/officeDocument/2006/relationships" id="259" r:id="R9c816c962ce84fe8"/>
    <p:sldId xmlns:r="http://schemas.openxmlformats.org/officeDocument/2006/relationships" id="260" r:id="R85eb0797eead484d"/>
    <p:sldId xmlns:r="http://schemas.openxmlformats.org/officeDocument/2006/relationships" id="261" r:id="Rb01541c5c9c5445d"/>
    <p:sldId xmlns:r="http://schemas.openxmlformats.org/officeDocument/2006/relationships" id="262" r:id="Rae1793eb3f5140ae"/>
    <p:sldId xmlns:r="http://schemas.openxmlformats.org/officeDocument/2006/relationships" id="263" r:id="R5146caa05f17487f"/>
    <p:sldId xmlns:r="http://schemas.openxmlformats.org/officeDocument/2006/relationships" id="264" r:id="Rb8d7cce9fe01452f"/>
    <p:sldId xmlns:r="http://schemas.openxmlformats.org/officeDocument/2006/relationships" id="265" r:id="Rdc908e4618354726"/>
    <p:sldId xmlns:r="http://schemas.openxmlformats.org/officeDocument/2006/relationships" id="266" r:id="R6d087be318f74d6a"/>
    <p:sldId xmlns:r="http://schemas.openxmlformats.org/officeDocument/2006/relationships" id="267" r:id="R7ca82a4c31c64a6d"/>
    <p:sldId xmlns:r="http://schemas.openxmlformats.org/officeDocument/2006/relationships" id="268" r:id="Ra987dae04a65405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9a810f763a646f1" /><Relationship Type="http://schemas.openxmlformats.org/officeDocument/2006/relationships/slideMaster" Target="/ppt/slideMasters/slideMaster1.xml" Id="R7a3f2506108e4a0e" /><Relationship Type="http://schemas.openxmlformats.org/officeDocument/2006/relationships/notesMaster" Target="/ppt/notesMasters/notesMaster1.xml" Id="Ra73554df4d824e89" /><Relationship Type="http://schemas.openxmlformats.org/officeDocument/2006/relationships/presProps" Target="/ppt/presProps.xml" Id="Rc87943b297c442ad" /><Relationship Type="http://schemas.openxmlformats.org/officeDocument/2006/relationships/tableStyles" Target="/ppt/tableStyles.xml" Id="R924bedcf8a02413f" /><Relationship Type="http://schemas.openxmlformats.org/officeDocument/2006/relationships/slide" Target="/ppt/slides/slide1.xml" Id="Rbae65574c2b0437f" /><Relationship Type="http://schemas.openxmlformats.org/officeDocument/2006/relationships/slide" Target="/ppt/slides/slide2.xml" Id="Re2fb6f4570c64eee" /><Relationship Type="http://schemas.openxmlformats.org/officeDocument/2006/relationships/slide" Target="/ppt/slides/slide3.xml" Id="Redecdc6b186c412d" /><Relationship Type="http://schemas.openxmlformats.org/officeDocument/2006/relationships/slide" Target="/ppt/slides/slide4.xml" Id="R9c816c962ce84fe8" /><Relationship Type="http://schemas.openxmlformats.org/officeDocument/2006/relationships/slide" Target="/ppt/slides/slide5.xml" Id="R85eb0797eead484d" /><Relationship Type="http://schemas.openxmlformats.org/officeDocument/2006/relationships/slide" Target="/ppt/slides/slide6.xml" Id="Rb01541c5c9c5445d" /><Relationship Type="http://schemas.openxmlformats.org/officeDocument/2006/relationships/slide" Target="/ppt/slides/slide7.xml" Id="Rae1793eb3f5140ae" /><Relationship Type="http://schemas.openxmlformats.org/officeDocument/2006/relationships/slide" Target="/ppt/slides/slide8.xml" Id="R5146caa05f17487f" /><Relationship Type="http://schemas.openxmlformats.org/officeDocument/2006/relationships/slide" Target="/ppt/slides/slide9.xml" Id="Rb8d7cce9fe01452f" /><Relationship Type="http://schemas.openxmlformats.org/officeDocument/2006/relationships/slide" Target="/ppt/slides/slide10.xml" Id="Rdc908e4618354726" /><Relationship Type="http://schemas.openxmlformats.org/officeDocument/2006/relationships/slide" Target="/ppt/slides/slide11.xml" Id="R6d087be318f74d6a" /><Relationship Type="http://schemas.openxmlformats.org/officeDocument/2006/relationships/slide" Target="/ppt/slides/slide12.xml" Id="R7ca82a4c31c64a6d" /><Relationship Type="http://schemas.openxmlformats.org/officeDocument/2006/relationships/slide" Target="/ppt/slides/slide13.xml" Id="Ra987dae04a65405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d6ff52a1f39434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47b8dae61344619" /><Relationship Type="http://schemas.openxmlformats.org/officeDocument/2006/relationships/notesMaster" Target="/ppt/notesMasters/notesMaster1.xml" Id="Rfbc6ed7969aa41fc" /></Relationships>
</file>

<file path=ppt/notesSlides/_rels/notesSlide2.xml.rels>&#65279;<?xml version="1.0" encoding="utf-8"?><Relationships xmlns="http://schemas.openxmlformats.org/package/2006/relationships"><Relationship Type="http://schemas.openxmlformats.org/officeDocument/2006/relationships/slide" Target="/ppt/slides/slide2.xml" Id="R7da72a9a5b1e49e4" /><Relationship Type="http://schemas.openxmlformats.org/officeDocument/2006/relationships/notesMaster" Target="/ppt/notesMasters/notesMaster1.xml" Id="Rfe9a7bdf152e4f0a" /></Relationships>
</file>

<file path=ppt/notesSlides/_rels/notesSlide3.xml.rels>&#65279;<?xml version="1.0" encoding="utf-8"?><Relationships xmlns="http://schemas.openxmlformats.org/package/2006/relationships"><Relationship Type="http://schemas.openxmlformats.org/officeDocument/2006/relationships/slide" Target="/ppt/slides/slide3.xml" Id="Rababba3d0c194357" /><Relationship Type="http://schemas.openxmlformats.org/officeDocument/2006/relationships/notesMaster" Target="/ppt/notesMasters/notesMaster1.xml" Id="Re1acd1cd6ba9437f" /></Relationships>
</file>

<file path=ppt/notesSlides/_rels/notesSlide4.xml.rels>&#65279;<?xml version="1.0" encoding="utf-8"?><Relationships xmlns="http://schemas.openxmlformats.org/package/2006/relationships"><Relationship Type="http://schemas.openxmlformats.org/officeDocument/2006/relationships/slide" Target="/ppt/slides/slide4.xml" Id="Rfc4808eabd084794" /><Relationship Type="http://schemas.openxmlformats.org/officeDocument/2006/relationships/notesMaster" Target="/ppt/notesMasters/notesMaster1.xml" Id="R07df511c74c14ccf" /></Relationships>
</file>

<file path=ppt/notesSlides/_rels/notesSlide5.xml.rels>&#65279;<?xml version="1.0" encoding="utf-8"?><Relationships xmlns="http://schemas.openxmlformats.org/package/2006/relationships"><Relationship Type="http://schemas.openxmlformats.org/officeDocument/2006/relationships/slide" Target="/ppt/slides/slide5.xml" Id="R52f63513e0494951" /><Relationship Type="http://schemas.openxmlformats.org/officeDocument/2006/relationships/notesMaster" Target="/ppt/notesMasters/notesMaster1.xml" Id="R59c9d7bc02754285" /></Relationships>
</file>

<file path=ppt/notesSlides/_rels/notesSlide6.xml.rels>&#65279;<?xml version="1.0" encoding="utf-8"?><Relationships xmlns="http://schemas.openxmlformats.org/package/2006/relationships"><Relationship Type="http://schemas.openxmlformats.org/officeDocument/2006/relationships/slide" Target="/ppt/slides/slide6.xml" Id="R1bfa6b91ddc648ab" /><Relationship Type="http://schemas.openxmlformats.org/officeDocument/2006/relationships/notesMaster" Target="/ppt/notesMasters/notesMaster1.xml" Id="R36beee050d554fd5" /></Relationships>
</file>

<file path=ppt/notesSlides/_rels/notesSlide7.xml.rels>&#65279;<?xml version="1.0" encoding="utf-8"?><Relationships xmlns="http://schemas.openxmlformats.org/package/2006/relationships"><Relationship Type="http://schemas.openxmlformats.org/officeDocument/2006/relationships/slide" Target="/ppt/slides/slide7.xml" Id="R4aad70e13432453a" /><Relationship Type="http://schemas.openxmlformats.org/officeDocument/2006/relationships/notesMaster" Target="/ppt/notesMasters/notesMaster1.xml" Id="R28c232647e8a4cc5" /></Relationships>
</file>

<file path=ppt/notesSlides/_rels/notesSlide8.xml.rels>&#65279;<?xml version="1.0" encoding="utf-8"?><Relationships xmlns="http://schemas.openxmlformats.org/package/2006/relationships"><Relationship Type="http://schemas.openxmlformats.org/officeDocument/2006/relationships/slide" Target="/ppt/slides/slide8.xml" Id="R7b9d267e1cb14b91" /><Relationship Type="http://schemas.openxmlformats.org/officeDocument/2006/relationships/notesMaster" Target="/ppt/notesMasters/notesMaster1.xml" Id="R26732d115f99473a" /></Relationships>
</file>

<file path=ppt/notesSlides/_rels/notesSlide9.xml.rels>&#65279;<?xml version="1.0" encoding="utf-8"?><Relationships xmlns="http://schemas.openxmlformats.org/package/2006/relationships"><Relationship Type="http://schemas.openxmlformats.org/officeDocument/2006/relationships/slide" Target="/ppt/slides/slide9.xml" Id="R9b6175eefd194260" /><Relationship Type="http://schemas.openxmlformats.org/officeDocument/2006/relationships/notesMaster" Target="/ppt/notesMasters/notesMaster1.xml" Id="Ra3001baea0f745a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0989365e6454226" /><Relationship Type="http://schemas.openxmlformats.org/officeDocument/2006/relationships/notesMaster" Target="/ppt/notesMasters/notesMaster1.xml" Id="R2cff5c849a3547d8"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2c5904d5654b4e51" /><Relationship Type="http://schemas.openxmlformats.org/officeDocument/2006/relationships/notesMaster" Target="/ppt/notesMasters/notesMaster1.xml" Id="R498cf1b2886341b5"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e7f0d0d134b04fc5" /><Relationship Type="http://schemas.openxmlformats.org/officeDocument/2006/relationships/notesMaster" Target="/ppt/notesMasters/notesMaster1.xml" Id="R01ac8cd4267b4e84"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13a6ebf8df124573" /><Relationship Type="http://schemas.openxmlformats.org/officeDocument/2006/relationships/notesMaster" Target="/ppt/notesMasters/notesMaster1.xml" Id="Rcbf7fe3dc7984d4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entrada de teclado contiene caracteres. Antes de operar, determinar qué campos son texto y cuáles deben convertirse. Conservar códigos y teléfonos como cadenas si no representan cantidades. Definir el separador decimal y el dominio de cada campo. En esta sección el contrato exige texto numérico válido; la recuperación de entradas inválidas se implementará después de estudiar decisiones.</a:t>
            </a:r>
          </a:p>
          <a:p xmlns:a="http://schemas.openxmlformats.org/drawingml/2006/main">
            <a:r>
              <a:t/>
            </a:r>
          </a:p>
          <a:p xmlns:a="http://schemas.openxmlformats.org/drawingml/2006/main">
            <a:r>
              <a:t>input devuelve str y elimina el salto de línea final. int convierte enteros representados en texto; float convierte decimales con punto. int("3.5") genera ValueError, no redondea. Convertir float a int trunca hacia cero y no valida que el original fuera entero.</a:t>
            </a:r>
          </a:p>
          <a:p xmlns:a="http://schemas.openxmlformats.org/drawingml/2006/main">
            <a:r>
              <a:t>Fuente: https://docs.python.org/3.14/tutorial/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salida debe responder al problema con unidades, precisión y orden definidos. Separar mensajes de interacción de datos utilizados por una prueba automática. Acordar si se permiten espacios extra. Mostrar dos decimales mejora una presentación, pero no modifica el valor numérico almacenado ni corrige errores de precisión.</a:t>
            </a:r>
          </a:p>
          <a:p xmlns:a="http://schemas.openxmlformats.org/drawingml/2006/main">
            <a:r>
              <a:t/>
            </a:r>
          </a:p>
          <a:p xmlns:a="http://schemas.openxmlformats.org/drawingml/2006/main">
            <a:r>
              <a:t>print admite varios valores con sep y end. Una f-string inserta expresiones entre llaves; :.2f presenta dos decimales. No concatenar directamente una cadena y un entero con +. Convertir con str o usar formato.</a:t>
            </a:r>
          </a:p>
          <a:p xmlns:a="http://schemas.openxmlformats.org/drawingml/2006/main">
            <a:r>
              <a:t>Fuente: https://docs.python.org/3.14/tutorial/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Convertir no es cambiar una etiqueta sin consecuencias. El texto "007" convertido a entero pierde los ceros de presentación. Un número real convertido a entero pierde su parte fraccionaria. Distinguir transformación necesaria para calcular de transformación necesaria para mostrar. Guardar datos originales cuando el contrato exija conservar su representación.</a:t>
            </a:r>
          </a:p>
          <a:p xmlns:a="http://schemas.openxmlformats.org/drawingml/2006/main">
            <a:r>
              <a:t/>
            </a:r>
          </a:p>
          <a:p xmlns:a="http://schemas.openxmlformats.org/drawingml/2006/main">
            <a:r>
              <a:t>str(12) produce "12". bool("False") da True porque la cadena no está vacía; no usar bool(input()) para interpretar respuestas sí/no. Todavía no aceptar comas decimales silenciosamente: explicar que el formato de entrada solicitado usa punto.</a:t>
            </a:r>
          </a:p>
          <a:p xmlns:a="http://schemas.openxmlformats.org/drawingml/2006/main">
            <a:r>
              <a:t>Fuente: https://docs.python.org/3.14/tutorial/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Una sesión interactiva es difícil de repetir si no se registra qué se escribió. Guardar un archivo de entrada con un dato por línea permite ejecutar la misma prueba varias veces. Calcular la salida esperada de forma independiente y compararla completa. Registrar también el comportamiento de un dato inválido como diagnóstico, sin afirmar que ya existe un manejo amigable del error.</a:t>
            </a:r>
          </a:p>
          <a:p xmlns:a="http://schemas.openxmlformats.org/drawingml/2006/main">
            <a:r>
              <a:t/>
            </a:r>
          </a:p>
          <a:p xmlns:a="http://schemas.openxmlformats.org/drawingml/2006/main">
            <a:r>
              <a:t>Usar python3 demo.py &lt; entrada.txt. El ejemplo no imprime solicitudes para que stdout sea comparable. Una entrada no numérica interrumpe la ejecución con ValueError; esto queda documentado como límite de esta primera versión.</a:t>
            </a:r>
          </a:p>
          <a:p xmlns:a="http://schemas.openxmlformats.org/drawingml/2006/main">
            <a:r>
              <a:t>Fuente: https://docs.python.org/3.14/tutorial/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Código completo en python/ejemplos/demo.py. Generar un recibo a partir del nombre de un producto, su cantidad y su precio. Separar el texto ingresado del valor numérico que el cálculo requiere y especificar el formato exacto de la salida.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4560a4fb9244f1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d2a793cb0f04273" /><Relationship Type="http://schemas.openxmlformats.org/officeDocument/2006/relationships/slideLayout" Target="/ppt/slideLayouts/slideLayout1.xml" Id="Rd3961a83257b435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3961a83257b435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4ec24fb678554153" /><Relationship Type="http://schemas.openxmlformats.org/officeDocument/2006/relationships/image" Target="/ppt/media/image.png" Id="Rcc2c81d48a994c59" /><Relationship Type="http://schemas.openxmlformats.org/officeDocument/2006/relationships/notesSlide" Target="/ppt/notesSlides/notesSlide1.xml" Id="R7c236262d2724311"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8bb5241500084c20" /><Relationship Type="http://schemas.openxmlformats.org/officeDocument/2006/relationships/notesSlide" Target="/ppt/notesSlides/notesSlide2.xml" Id="R0d6a8a06ad7a4023"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7db81a3720c44322" /><Relationship Type="http://schemas.openxmlformats.org/officeDocument/2006/relationships/notesSlide" Target="/ppt/notesSlides/notesSlide3.xml" Id="R5a418e596de9419a"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0aad9207720b416f" /><Relationship Type="http://schemas.openxmlformats.org/officeDocument/2006/relationships/notesSlide" Target="/ppt/notesSlides/notesSlide4.xml" Id="Ra476ff758d154744"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d8dd8ae1bb1c474a" /><Relationship Type="http://schemas.openxmlformats.org/officeDocument/2006/relationships/notesSlide" Target="/ppt/notesSlides/notesSlide5.xml" Id="R050531cfc1ed4756"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ab72a18ae12040b1" /><Relationship Type="http://schemas.openxmlformats.org/officeDocument/2006/relationships/notesSlide" Target="/ppt/notesSlides/notesSlide6.xml" Id="Ra932a03801594629"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a14370ecc90f4b58" /><Relationship Type="http://schemas.openxmlformats.org/officeDocument/2006/relationships/notesSlide" Target="/ppt/notesSlides/notesSlide7.xml" Id="Rf39982ca331e485b"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aab1b9e3b54f4cd0" /><Relationship Type="http://schemas.openxmlformats.org/officeDocument/2006/relationships/notesSlide" Target="/ppt/notesSlides/notesSlide8.xml" Id="R231c12602ba9448b"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20426bef8804448c" /><Relationship Type="http://schemas.openxmlformats.org/officeDocument/2006/relationships/notesSlide" Target="/ppt/notesSlides/notesSlide9.xml" Id="R9a2f025711da46b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267ddeb7b59c4639" /><Relationship Type="http://schemas.openxmlformats.org/officeDocument/2006/relationships/notesSlide" Target="/ppt/notesSlides/notesSlide10.xml" Id="R17170d8e93ac40ef"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c2b7c304761e4bc0" /><Relationship Type="http://schemas.openxmlformats.org/officeDocument/2006/relationships/notesSlide" Target="/ppt/notesSlides/notesSlide11.xml" Id="Ra84f0bd7702a4f76"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98f3fdb276144fc3" /><Relationship Type="http://schemas.openxmlformats.org/officeDocument/2006/relationships/notesSlide" Target="/ppt/notesSlides/notesSlide12.xml" Id="R3ce1ca2720d44a2d"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95922738d7d340c1" /><Relationship Type="http://schemas.openxmlformats.org/officeDocument/2006/relationships/notesSlide" Target="/ppt/notesSlides/notesSlide13.xml" Id="R0cd7bbfa09814026"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cc2c81d48a994c59"/>
          <a:stretch xmlns:a="http://schemas.openxmlformats.org/drawingml/2006/main"/>
        </p:blipFill>
        <p:spPr>
          <a:xfrm xmlns:a="http://schemas.openxmlformats.org/drawingml/2006/main">
            <a:off x="609600" y="452158"/>
            <a:ext cx="7239000" cy="1191183"/>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CF6581EC-82D9-479E-A528-AB931A389124}"/>
              </a:ext>
            </a:extLst>
          </p:cNvPr>
          <p:cNvSpPr>
            <a:spLocks xmlns:a="http://schemas.openxmlformats.org/drawingml/2006/main" noGrp="1"/>
          </p:cNvSpPr>
          <p:nvPr/>
        </p:nvSpPr>
        <p:spPr>
          <a:xfrm xmlns:a="http://schemas.openxmlformats.org/drawingml/2006/main">
            <a:off x="695325" y="2190750"/>
            <a:ext cx="10763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75" b="1">
                <a:solidFill>
                  <a:srgbClr val="003772"/>
                </a:solidFill>
                <a:latin typeface="DejaVu Sans"/>
                <a:ea typeface="DejaVu Sans"/>
                <a:cs typeface="DejaVu Sans"/>
              </a:defRPr>
            </a:pPr>
            <a:r>
              <a:rPr sz="3375" b="1">
                <a:solidFill>
                  <a:srgbClr val="003772"/>
                </a:solidFill>
                <a:latin typeface="DejaVu Sans"/>
                <a:ea typeface="DejaVu Sans"/>
                <a:cs typeface="DejaVu Sans"/>
              </a:rPr>
              <a:t>Programación</a:t>
            </a:r>
          </a:p>
        </p:txBody>
      </p:sp>
      <p:sp>
        <p:nvSpPr>
          <p:cNvPr id="3" name="">
            <a:extLst xmlns:a="http://schemas.openxmlformats.org/drawingml/2006/main">
              <a:ext uri="{FF2B5EF4-FFF2-40B4-BE49-F238E27FC236}">
                <a16:creationId xmlns:a16="http://schemas.microsoft.com/office/drawing/2014/main" id="{C70D6F84-D17E-4A46-A52B-7E390FCA1182}"/>
              </a:ext>
            </a:extLst>
          </p:cNvPr>
          <p:cNvSpPr>
            <a:spLocks xmlns:a="http://schemas.openxmlformats.org/drawingml/2006/main" noGrp="1"/>
          </p:cNvSpPr>
          <p:nvPr/>
        </p:nvSpPr>
        <p:spPr>
          <a:xfrm xmlns:a="http://schemas.openxmlformats.org/drawingml/2006/main">
            <a:off x="695325" y="3190875"/>
            <a:ext cx="1076325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225" b="1">
                <a:solidFill>
                  <a:srgbClr val="003772"/>
                </a:solidFill>
                <a:latin typeface="DejaVu Sans"/>
                <a:ea typeface="DejaVu Sans"/>
                <a:cs typeface="DejaVu Sans"/>
              </a:defRPr>
            </a:pPr>
            <a:r>
              <a:rPr sz="3225" b="1">
                <a:solidFill>
                  <a:srgbClr val="003772"/>
                </a:solidFill>
                <a:latin typeface="DejaVu Sans"/>
                <a:ea typeface="DejaVu Sans"/>
                <a:cs typeface="DejaVu Sans"/>
              </a:rPr>
              <a:t>Entradas, salidas y conversiones</a:t>
            </a:r>
          </a:p>
        </p:txBody>
      </p:sp>
      <p:sp>
        <p:nvSpPr>
          <p:cNvPr id="4" name="">
            <a:extLst xmlns:a="http://schemas.openxmlformats.org/drawingml/2006/main">
              <a:ext uri="{FF2B5EF4-FFF2-40B4-BE49-F238E27FC236}">
                <a16:creationId xmlns:a16="http://schemas.microsoft.com/office/drawing/2014/main" id="{B9B61320-BE2E-4E8B-A6A8-6544DD56503D}"/>
              </a:ext>
            </a:extLst>
          </p:cNvPr>
          <p:cNvSpPr>
            <a:spLocks xmlns:a="http://schemas.openxmlformats.org/drawingml/2006/main" noGrp="1"/>
          </p:cNvSpPr>
          <p:nvPr/>
        </p:nvSpPr>
        <p:spPr>
          <a:xfrm xmlns:a="http://schemas.openxmlformats.org/drawingml/2006/main">
            <a:off x="609600" y="5000625"/>
            <a:ext cx="1390650" cy="47625"/>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6F374661-393A-41BA-A877-693E2BDFD066}"/>
              </a:ext>
            </a:extLst>
          </p:cNvPr>
          <p:cNvSpPr>
            <a:spLocks xmlns:a="http://schemas.openxmlformats.org/drawingml/2006/main" noGrp="1"/>
          </p:cNvSpPr>
          <p:nvPr/>
        </p:nvSpPr>
        <p:spPr>
          <a:xfrm xmlns:a="http://schemas.openxmlformats.org/drawingml/2006/main">
            <a:off x="695325" y="5381625"/>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003772"/>
                </a:solidFill>
                <a:latin typeface="DejaVu Sans"/>
                <a:ea typeface="DejaVu Sans"/>
                <a:cs typeface="DejaVu Sans"/>
              </a:defRPr>
            </a:pPr>
            <a:r>
              <a:rPr sz="1800" b="0">
                <a:solidFill>
                  <a:srgbClr val="003772"/>
                </a:solidFill>
                <a:latin typeface="DejaVu Sans"/>
                <a:ea typeface="DejaVu Sans"/>
                <a:cs typeface="DejaVu Sans"/>
              </a:rPr>
              <a:t>Unidad 3 · 3.02 · Python</a:t>
            </a:r>
          </a:p>
        </p:txBody>
      </p:sp>
      <p:sp>
        <p:nvSpPr>
          <p:cNvPr id="6" name="">
            <a:extLst xmlns:a="http://schemas.openxmlformats.org/drawingml/2006/main">
              <a:ext uri="{FF2B5EF4-FFF2-40B4-BE49-F238E27FC236}">
                <a16:creationId xmlns:a16="http://schemas.microsoft.com/office/drawing/2014/main" id="{01B04B7A-DAB7-4D42-B8F1-2CBE3A446C7E}"/>
              </a:ext>
            </a:extLst>
          </p:cNvPr>
          <p:cNvSpPr>
            <a:spLocks xmlns:a="http://schemas.openxmlformats.org/drawingml/2006/main" noGrp="1"/>
          </p:cNvSpPr>
          <p:nvPr/>
        </p:nvSpPr>
        <p:spPr>
          <a:xfrm xmlns:a="http://schemas.openxmlformats.org/drawingml/2006/main">
            <a:off x="695325" y="6029325"/>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650" b="0">
                <a:solidFill>
                  <a:srgbClr val="5C5B5F"/>
                </a:solidFill>
                <a:latin typeface="DejaVu Sans"/>
                <a:ea typeface="DejaVu Sans"/>
                <a:cs typeface="DejaVu Sans"/>
              </a:defRPr>
            </a:pPr>
            <a:r>
              <a:rPr sz="1650" b="0">
                <a:solidFill>
                  <a:srgbClr val="5C5B5F"/>
                </a:solidFill>
                <a:latin typeface="DejaVu Sans"/>
                <a:ea typeface="DejaVu Sans"/>
                <a:cs typeface="DejaVu Sans"/>
              </a:rPr>
              <a:t>Ing. Pablo Torres, Mgtr.</a:t>
            </a:r>
          </a:p>
        </p:txBody>
      </p:sp>
    </p:spTree>
    <p:extLst>
      <p:ext uri="{BB962C8B-B14F-4D97-AF65-F5344CB8AC3E}">
        <p14:creationId xmlns:p14="http://schemas.microsoft.com/office/powerpoint/2010/main" val="581189363"/>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0890B09-67D6-4FDD-9317-B98CF1F5EE82}"/>
              </a:ext>
            </a:extLst>
          </p:cNvPr>
          <p:cNvSpPr>
            <a:spLocks xmlns:a="http://schemas.openxmlformats.org/drawingml/2006/main" noGrp="1"/>
          </p:cNvSpPr>
          <p:nvPr/>
        </p:nvSpPr>
        <p:spPr>
          <a:xfrm xmlns:a="http://schemas.openxmlformats.org/drawingml/2006/main">
            <a:off x="533400" y="457200"/>
            <a:ext cx="47625" cy="43815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1AC5092-B74B-410F-926A-69B2A3E40F64}"/>
              </a:ext>
            </a:extLst>
          </p:cNvPr>
          <p:cNvSpPr>
            <a:spLocks xmlns:a="http://schemas.openxmlformats.org/drawingml/2006/main" noGrp="1"/>
          </p:cNvSpPr>
          <p:nvPr/>
        </p:nvSpPr>
        <p:spPr>
          <a:xfrm xmlns:a="http://schemas.openxmlformats.org/drawingml/2006/main">
            <a:off x="809625" y="428625"/>
            <a:ext cx="10668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925" b="1">
                <a:solidFill>
                  <a:srgbClr val="003772"/>
                </a:solidFill>
                <a:latin typeface="DejaVu Sans"/>
                <a:ea typeface="DejaVu Sans"/>
                <a:cs typeface="DejaVu Sans"/>
              </a:defRPr>
            </a:pPr>
            <a:r>
              <a:rPr sz="2925" b="1">
                <a:solidFill>
                  <a:srgbClr val="003772"/>
                </a:solidFill>
                <a:latin typeface="DejaVu Sans"/>
                <a:ea typeface="DejaVu Sans"/>
                <a:cs typeface="DejaVu Sans"/>
              </a:rPr>
              <a:t>Problema inicial</a:t>
            </a:r>
          </a:p>
        </p:txBody>
      </p:sp>
      <p:sp>
        <p:nvSpPr>
          <p:cNvPr id="3" name="">
            <a:extLst xmlns:a="http://schemas.openxmlformats.org/drawingml/2006/main">
              <a:ext uri="{FF2B5EF4-FFF2-40B4-BE49-F238E27FC236}">
                <a16:creationId xmlns:a16="http://schemas.microsoft.com/office/drawing/2014/main" id="{4EC297D5-1FDC-48F4-A0B0-026734A31B07}"/>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8DFE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9B87F471-C66A-40BE-A85C-65C07D3D9088}"/>
              </a:ext>
            </a:extLst>
          </p:cNvPr>
          <p:cNvSpPr>
            <a:spLocks xmlns:a="http://schemas.openxmlformats.org/drawingml/2006/main" noGrp="1"/>
          </p:cNvSpPr>
          <p:nvPr/>
        </p:nvSpPr>
        <p:spPr>
          <a:xfrm xmlns:a="http://schemas.openxmlformats.org/drawingml/2006/main">
            <a:off x="695325" y="6381750"/>
            <a:ext cx="923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5C5B5F"/>
                </a:solidFill>
                <a:latin typeface="DejaVu Sans"/>
                <a:ea typeface="DejaVu Sans"/>
                <a:cs typeface="DejaVu Sans"/>
              </a:defRPr>
            </a:pPr>
            <a:r>
              <a:rPr sz="1200" b="0">
                <a:solidFill>
                  <a:srgbClr val="5C5B5F"/>
                </a:solidFill>
                <a:latin typeface="DejaVu Sans"/>
                <a:ea typeface="DejaVu Sans"/>
                <a:cs typeface="DejaVu Sans"/>
              </a:rPr>
              <a:t>Programación · 3.02</a:t>
            </a:r>
          </a:p>
        </p:txBody>
      </p:sp>
      <p:sp>
        <p:nvSpPr>
          <p:cNvPr id="5" name="">
            <a:extLst xmlns:a="http://schemas.openxmlformats.org/drawingml/2006/main">
              <a:ext uri="{FF2B5EF4-FFF2-40B4-BE49-F238E27FC236}">
                <a16:creationId xmlns:a16="http://schemas.microsoft.com/office/drawing/2014/main" id="{483793BC-7E5D-4144-965B-46896C946BA8}"/>
              </a:ext>
            </a:extLst>
          </p:cNvPr>
          <p:cNvSpPr>
            <a:spLocks xmlns:a="http://schemas.openxmlformats.org/drawingml/2006/main" noGrp="1"/>
          </p:cNvSpPr>
          <p:nvPr/>
        </p:nvSpPr>
        <p:spPr>
          <a:xfrm xmlns:a="http://schemas.openxmlformats.org/drawingml/2006/main">
            <a:off x="11049000" y="6381750"/>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5C5B5F"/>
                </a:solidFill>
                <a:latin typeface="DejaVu Sans"/>
                <a:ea typeface="DejaVu Sans"/>
                <a:cs typeface="DejaVu Sans"/>
              </a:defRPr>
            </a:pPr>
            <a:r>
              <a:rPr sz="1200" b="0">
                <a:solidFill>
                  <a:srgbClr val="5C5B5F"/>
                </a:solidFill>
                <a:latin typeface="DejaVu Sans"/>
                <a:ea typeface="DejaVu Sans"/>
                <a:cs typeface="DejaVu Sans"/>
              </a:rPr>
              <a:t>2</a:t>
            </a:r>
          </a:p>
        </p:txBody>
      </p:sp>
      <p:sp>
        <p:nvSpPr>
          <p:cNvPr id="6" name="">
            <a:extLst xmlns:a="http://schemas.openxmlformats.org/drawingml/2006/main">
              <a:ext uri="{FF2B5EF4-FFF2-40B4-BE49-F238E27FC236}">
                <a16:creationId xmlns:a16="http://schemas.microsoft.com/office/drawing/2014/main" id="{72922222-5852-4A22-AD6E-C8AED42EB6D3}"/>
              </a:ext>
            </a:extLst>
          </p:cNvPr>
          <p:cNvSpPr>
            <a:spLocks xmlns:a="http://schemas.openxmlformats.org/drawingml/2006/main" noGrp="1"/>
          </p:cNvSpPr>
          <p:nvPr/>
        </p:nvSpPr>
        <p:spPr>
          <a:xfrm xmlns:a="http://schemas.openxmlformats.org/drawingml/2006/main">
            <a:off x="819150" y="1714500"/>
            <a:ext cx="10477500" cy="2381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75" b="0">
                <a:solidFill>
                  <a:srgbClr val="403F3B"/>
                </a:solidFill>
                <a:latin typeface="DejaVu Sans"/>
                <a:ea typeface="DejaVu Sans"/>
                <a:cs typeface="DejaVu Sans"/>
              </a:defRPr>
            </a:pPr>
            <a:r>
              <a:rPr sz="2475" b="0">
                <a:solidFill>
                  <a:srgbClr val="403F3B"/>
                </a:solidFill>
                <a:latin typeface="DejaVu Sans"/>
                <a:ea typeface="DejaVu Sans"/>
                <a:cs typeface="DejaVu Sans"/>
              </a:rPr>
              <a:t>Generar un recibo a partir del nombre de un producto, su cantidad y su precio. Separar el texto ingresado del valor numérico que el cálculo requiere y especificar el formato exacto de la salida.</a:t>
            </a:r>
          </a:p>
        </p:txBody>
      </p:sp>
      <p:sp>
        <p:nvSpPr>
          <p:cNvPr id="7" name="">
            <a:extLst xmlns:a="http://schemas.openxmlformats.org/drawingml/2006/main">
              <a:ext uri="{FF2B5EF4-FFF2-40B4-BE49-F238E27FC236}">
                <a16:creationId xmlns:a16="http://schemas.microsoft.com/office/drawing/2014/main" id="{BF00694D-9572-4A89-8B1B-4A7AA1167531}"/>
              </a:ext>
            </a:extLst>
          </p:cNvPr>
          <p:cNvSpPr>
            <a:spLocks xmlns:a="http://schemas.openxmlformats.org/drawingml/2006/main" noGrp="1"/>
          </p:cNvSpPr>
          <p:nvPr/>
        </p:nvSpPr>
        <p:spPr>
          <a:xfrm xmlns:a="http://schemas.openxmlformats.org/drawingml/2006/main">
            <a:off x="819150" y="4762500"/>
            <a:ext cx="10477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1">
                <a:solidFill>
                  <a:srgbClr val="003772"/>
                </a:solidFill>
                <a:latin typeface="DejaVu Sans"/>
                <a:ea typeface="DejaVu Sans"/>
                <a:cs typeface="DejaVu Sans"/>
              </a:defRPr>
            </a:pPr>
            <a:r>
              <a:rPr sz="2100" b="1">
                <a:solidFill>
                  <a:srgbClr val="003772"/>
                </a:solidFill>
                <a:latin typeface="DejaVu Sans"/>
                <a:ea typeface="DejaVu Sans"/>
                <a:cs typeface="DejaVu Sans"/>
              </a:rPr>
              <a:t>Anticipar entradas, reglas y salida antes de ejecutar.</a:t>
            </a:r>
          </a:p>
        </p:txBody>
      </p:sp>
    </p:spTree>
    <p:extLst>
      <p:ext uri="{BB962C8B-B14F-4D97-AF65-F5344CB8AC3E}">
        <p14:creationId xmlns:p14="http://schemas.microsoft.com/office/powerpoint/2010/main" val="1568089794"/>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2775F46C-2108-44C9-825C-8740D89E6601}"/>
              </a:ext>
            </a:extLst>
          </p:cNvPr>
          <p:cNvSpPr>
            <a:spLocks xmlns:a="http://schemas.openxmlformats.org/drawingml/2006/main" noGrp="1"/>
          </p:cNvSpPr>
          <p:nvPr/>
        </p:nvSpPr>
        <p:spPr>
          <a:xfrm xmlns:a="http://schemas.openxmlformats.org/drawingml/2006/main">
            <a:off x="533400" y="457200"/>
            <a:ext cx="47625" cy="43815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C5C488E-132A-455E-8E91-2F26D0B496A7}"/>
              </a:ext>
            </a:extLst>
          </p:cNvPr>
          <p:cNvSpPr>
            <a:spLocks xmlns:a="http://schemas.openxmlformats.org/drawingml/2006/main" noGrp="1"/>
          </p:cNvSpPr>
          <p:nvPr/>
        </p:nvSpPr>
        <p:spPr>
          <a:xfrm xmlns:a="http://schemas.openxmlformats.org/drawingml/2006/main">
            <a:off x="809625" y="428625"/>
            <a:ext cx="10668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925" b="1">
                <a:solidFill>
                  <a:srgbClr val="003772"/>
                </a:solidFill>
                <a:latin typeface="DejaVu Sans"/>
                <a:ea typeface="DejaVu Sans"/>
                <a:cs typeface="DejaVu Sans"/>
              </a:defRPr>
            </a:pPr>
            <a:r>
              <a:rPr sz="2925" b="1">
                <a:solidFill>
                  <a:srgbClr val="003772"/>
                </a:solidFill>
                <a:latin typeface="DejaVu Sans"/>
                <a:ea typeface="DejaVu Sans"/>
                <a:cs typeface="DejaVu Sans"/>
              </a:rPr>
              <a:t>Entrada como texto</a:t>
            </a:r>
          </a:p>
        </p:txBody>
      </p:sp>
      <p:sp>
        <p:nvSpPr>
          <p:cNvPr id="3" name="">
            <a:extLst xmlns:a="http://schemas.openxmlformats.org/drawingml/2006/main">
              <a:ext uri="{FF2B5EF4-FFF2-40B4-BE49-F238E27FC236}">
                <a16:creationId xmlns:a16="http://schemas.microsoft.com/office/drawing/2014/main" id="{CE263F71-6F83-43FF-A8D7-6CEF67830EE3}"/>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8DFE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8EBE0E73-629F-48D0-936F-BC6B17C07F18}"/>
              </a:ext>
            </a:extLst>
          </p:cNvPr>
          <p:cNvSpPr>
            <a:spLocks xmlns:a="http://schemas.openxmlformats.org/drawingml/2006/main" noGrp="1"/>
          </p:cNvSpPr>
          <p:nvPr/>
        </p:nvSpPr>
        <p:spPr>
          <a:xfrm xmlns:a="http://schemas.openxmlformats.org/drawingml/2006/main">
            <a:off x="695325" y="6381750"/>
            <a:ext cx="923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5C5B5F"/>
                </a:solidFill>
                <a:latin typeface="DejaVu Sans"/>
                <a:ea typeface="DejaVu Sans"/>
                <a:cs typeface="DejaVu Sans"/>
              </a:defRPr>
            </a:pPr>
            <a:r>
              <a:rPr sz="1200" b="0">
                <a:solidFill>
                  <a:srgbClr val="5C5B5F"/>
                </a:solidFill>
                <a:latin typeface="DejaVu Sans"/>
                <a:ea typeface="DejaVu Sans"/>
                <a:cs typeface="DejaVu Sans"/>
              </a:rPr>
              <a:t>Programación · 3.02</a:t>
            </a:r>
          </a:p>
        </p:txBody>
      </p:sp>
      <p:sp>
        <p:nvSpPr>
          <p:cNvPr id="5" name="">
            <a:extLst xmlns:a="http://schemas.openxmlformats.org/drawingml/2006/main">
              <a:ext uri="{FF2B5EF4-FFF2-40B4-BE49-F238E27FC236}">
                <a16:creationId xmlns:a16="http://schemas.microsoft.com/office/drawing/2014/main" id="{1DD1CB69-B2D2-4104-B907-F1C0CCF38359}"/>
              </a:ext>
            </a:extLst>
          </p:cNvPr>
          <p:cNvSpPr>
            <a:spLocks xmlns:a="http://schemas.openxmlformats.org/drawingml/2006/main" noGrp="1"/>
          </p:cNvSpPr>
          <p:nvPr/>
        </p:nvSpPr>
        <p:spPr>
          <a:xfrm xmlns:a="http://schemas.openxmlformats.org/drawingml/2006/main">
            <a:off x="11049000" y="6381750"/>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5C5B5F"/>
                </a:solidFill>
                <a:latin typeface="DejaVu Sans"/>
                <a:ea typeface="DejaVu Sans"/>
                <a:cs typeface="DejaVu Sans"/>
              </a:defRPr>
            </a:pPr>
            <a:r>
              <a:rPr sz="1200" b="0">
                <a:solidFill>
                  <a:srgbClr val="5C5B5F"/>
                </a:solidFill>
                <a:latin typeface="DejaVu Sans"/>
                <a:ea typeface="DejaVu Sans"/>
                <a:cs typeface="DejaVu Sans"/>
              </a:rPr>
              <a:t>3</a:t>
            </a:r>
          </a:p>
        </p:txBody>
      </p:sp>
      <p:sp>
        <p:nvSpPr>
          <p:cNvPr id="6" name="">
            <a:extLst xmlns:a="http://schemas.openxmlformats.org/drawingml/2006/main">
              <a:ext uri="{FF2B5EF4-FFF2-40B4-BE49-F238E27FC236}">
                <a16:creationId xmlns:a16="http://schemas.microsoft.com/office/drawing/2014/main" id="{1283C6DA-F795-4D3E-87BC-E6C8CE9EFF19}"/>
              </a:ext>
            </a:extLst>
          </p:cNvPr>
          <p:cNvSpPr>
            <a:spLocks xmlns:a="http://schemas.openxmlformats.org/drawingml/2006/main" noGrp="1"/>
          </p:cNvSpPr>
          <p:nvPr/>
        </p:nvSpPr>
        <p:spPr>
          <a:xfrm xmlns:a="http://schemas.openxmlformats.org/drawingml/2006/main">
            <a:off x="819150" y="1619250"/>
            <a:ext cx="4810125" cy="3333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a:solidFill>
                  <a:srgbClr val="403F3B"/>
                </a:solidFill>
                <a:latin typeface="DejaVu Sans"/>
                <a:ea typeface="DejaVu Sans"/>
                <a:cs typeface="DejaVu Sans"/>
              </a:defRPr>
            </a:pPr>
            <a:r>
              <a:rPr sz="2175" b="0">
                <a:solidFill>
                  <a:srgbClr val="403F3B"/>
                </a:solidFill>
                <a:latin typeface="DejaVu Sans"/>
                <a:ea typeface="DejaVu Sans"/>
                <a:cs typeface="DejaVu Sans"/>
              </a:rPr>
              <a:t>La entrada de teclado contiene caracteres. Antes de operar, determinar qué campos son texto y cuáles deben convertirse.</a:t>
            </a:r>
          </a:p>
        </p:txBody>
      </p:sp>
      <p:sp>
        <p:nvSpPr>
          <p:cNvPr id="7" name="">
            <a:extLst xmlns:a="http://schemas.openxmlformats.org/drawingml/2006/main">
              <a:ext uri="{FF2B5EF4-FFF2-40B4-BE49-F238E27FC236}">
                <a16:creationId xmlns:a16="http://schemas.microsoft.com/office/drawing/2014/main" id="{F19DBB87-19DC-4C93-9411-754C7503E5BE}"/>
              </a:ext>
            </a:extLst>
          </p:cNvPr>
          <p:cNvSpPr>
            <a:spLocks xmlns:a="http://schemas.openxmlformats.org/drawingml/2006/main" noGrp="1"/>
          </p:cNvSpPr>
          <p:nvPr/>
        </p:nvSpPr>
        <p:spPr>
          <a:xfrm xmlns:a="http://schemas.openxmlformats.org/drawingml/2006/main">
            <a:off x="6191250" y="1762125"/>
            <a:ext cx="5286375" cy="3286125"/>
          </a:xfrm>
          <a:prstGeom xmlns:a="http://schemas.openxmlformats.org/drawingml/2006/main" prst="rect">
            <a:avLst/>
          </a:prstGeom>
          <a:solidFill xmlns:a="http://schemas.openxmlformats.org/drawingml/2006/main">
            <a:srgbClr val="F3F3FA"/>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92" b="0">
                <a:solidFill>
                  <a:srgbClr val="403F3B"/>
                </a:solidFill>
                <a:latin typeface="DejaVu Sans"/>
                <a:ea typeface="DejaVu Sans"/>
                <a:cs typeface="DejaVu Sans"/>
              </a:defRPr>
            </a:pPr>
            <a:r>
              <a:rPr sz="1792" b="0">
                <a:solidFill>
                  <a:srgbClr val="403F3B"/>
                </a:solidFill>
                <a:latin typeface="DejaVu Sans"/>
                <a:ea typeface="DejaVu Sans"/>
                <a:cs typeface="DejaVu Sans"/>
              </a:rPr>
              <a:t>cantidad = int(input("Cantidad: "))</a:t>
            </a:r>
          </a:p>
          <a:p xmlns:a="http://schemas.openxmlformats.org/drawingml/2006/main">
            <a:pPr>
              <a:defRPr sz="1792" b="0">
                <a:solidFill>
                  <a:srgbClr val="403F3B"/>
                </a:solidFill>
                <a:latin typeface="DejaVu Sans"/>
                <a:ea typeface="DejaVu Sans"/>
                <a:cs typeface="DejaVu Sans"/>
              </a:defRPr>
            </a:pPr>
            <a:r>
              <a:rPr sz="1792" b="0">
                <a:solidFill>
                  <a:srgbClr val="403F3B"/>
                </a:solidFill>
                <a:latin typeface="DejaVu Sans"/>
                <a:ea typeface="DejaVu Sans"/>
                <a:cs typeface="DejaVu Sans"/>
              </a:rPr>
              <a:t>precio = float(input("Precio: "))</a:t>
            </a:r>
          </a:p>
        </p:txBody>
      </p:sp>
      <p:sp>
        <p:nvSpPr>
          <p:cNvPr id="8" name="">
            <a:extLst xmlns:a="http://schemas.openxmlformats.org/drawingml/2006/main">
              <a:ext uri="{FF2B5EF4-FFF2-40B4-BE49-F238E27FC236}">
                <a16:creationId xmlns:a16="http://schemas.microsoft.com/office/drawing/2014/main" id="{AB047F6E-C926-4C27-9F7D-AE4B6E389A2A}"/>
              </a:ext>
            </a:extLst>
          </p:cNvPr>
          <p:cNvSpPr>
            <a:spLocks xmlns:a="http://schemas.openxmlformats.org/drawingml/2006/main" noGrp="1"/>
          </p:cNvSpPr>
          <p:nvPr/>
        </p:nvSpPr>
        <p:spPr>
          <a:xfrm xmlns:a="http://schemas.openxmlformats.org/drawingml/2006/main">
            <a:off x="6191250" y="5238750"/>
            <a:ext cx="52863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0">
                <a:solidFill>
                  <a:srgbClr val="003772"/>
                </a:solidFill>
                <a:latin typeface="DejaVu Sans"/>
                <a:ea typeface="DejaVu Sans"/>
                <a:cs typeface="DejaVu Sans"/>
              </a:defRPr>
            </a:pPr>
            <a:r>
              <a:rPr sz="1725" b="0">
                <a:solidFill>
                  <a:srgbClr val="003772"/>
                </a:solidFill>
                <a:latin typeface="DejaVu Sans"/>
                <a:ea typeface="DejaVu Sans"/>
                <a:cs typeface="DejaVu Sans"/>
              </a:rPr>
              <a:t>input devuelve str y elimina el salto de línea final.</a:t>
            </a:r>
          </a:p>
        </p:txBody>
      </p:sp>
    </p:spTree>
    <p:extLst>
      <p:ext uri="{BB962C8B-B14F-4D97-AF65-F5344CB8AC3E}">
        <p14:creationId xmlns:p14="http://schemas.microsoft.com/office/powerpoint/2010/main" val="1404147032"/>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0FE4A2B-D981-4CAA-A823-7530D9C35924}"/>
              </a:ext>
            </a:extLst>
          </p:cNvPr>
          <p:cNvSpPr>
            <a:spLocks xmlns:a="http://schemas.openxmlformats.org/drawingml/2006/main" noGrp="1"/>
          </p:cNvSpPr>
          <p:nvPr/>
        </p:nvSpPr>
        <p:spPr>
          <a:xfrm xmlns:a="http://schemas.openxmlformats.org/drawingml/2006/main">
            <a:off x="533400" y="457200"/>
            <a:ext cx="47625" cy="43815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9D6DD57-A1C6-430B-835B-9C6EF98CBF85}"/>
              </a:ext>
            </a:extLst>
          </p:cNvPr>
          <p:cNvSpPr>
            <a:spLocks xmlns:a="http://schemas.openxmlformats.org/drawingml/2006/main" noGrp="1"/>
          </p:cNvSpPr>
          <p:nvPr/>
        </p:nvSpPr>
        <p:spPr>
          <a:xfrm xmlns:a="http://schemas.openxmlformats.org/drawingml/2006/main">
            <a:off x="809625" y="428625"/>
            <a:ext cx="10668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925" b="1">
                <a:solidFill>
                  <a:srgbClr val="003772"/>
                </a:solidFill>
                <a:latin typeface="DejaVu Sans"/>
                <a:ea typeface="DejaVu Sans"/>
                <a:cs typeface="DejaVu Sans"/>
              </a:defRPr>
            </a:pPr>
            <a:r>
              <a:rPr sz="2925" b="1">
                <a:solidFill>
                  <a:srgbClr val="003772"/>
                </a:solidFill>
                <a:latin typeface="DejaVu Sans"/>
                <a:ea typeface="DejaVu Sans"/>
                <a:cs typeface="DejaVu Sans"/>
              </a:rPr>
              <a:t>Salida y contrato de formato</a:t>
            </a:r>
          </a:p>
        </p:txBody>
      </p:sp>
      <p:sp>
        <p:nvSpPr>
          <p:cNvPr id="3" name="">
            <a:extLst xmlns:a="http://schemas.openxmlformats.org/drawingml/2006/main">
              <a:ext uri="{FF2B5EF4-FFF2-40B4-BE49-F238E27FC236}">
                <a16:creationId xmlns:a16="http://schemas.microsoft.com/office/drawing/2014/main" id="{4E72D925-AF87-408C-AC9A-D377090E07AF}"/>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8DFE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F18C76B0-C2A0-497A-882F-3C3629E4DAB6}"/>
              </a:ext>
            </a:extLst>
          </p:cNvPr>
          <p:cNvSpPr>
            <a:spLocks xmlns:a="http://schemas.openxmlformats.org/drawingml/2006/main" noGrp="1"/>
          </p:cNvSpPr>
          <p:nvPr/>
        </p:nvSpPr>
        <p:spPr>
          <a:xfrm xmlns:a="http://schemas.openxmlformats.org/drawingml/2006/main">
            <a:off x="695325" y="6381750"/>
            <a:ext cx="923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5C5B5F"/>
                </a:solidFill>
                <a:latin typeface="DejaVu Sans"/>
                <a:ea typeface="DejaVu Sans"/>
                <a:cs typeface="DejaVu Sans"/>
              </a:defRPr>
            </a:pPr>
            <a:r>
              <a:rPr sz="1200" b="0">
                <a:solidFill>
                  <a:srgbClr val="5C5B5F"/>
                </a:solidFill>
                <a:latin typeface="DejaVu Sans"/>
                <a:ea typeface="DejaVu Sans"/>
                <a:cs typeface="DejaVu Sans"/>
              </a:rPr>
              <a:t>Programación · 3.02</a:t>
            </a:r>
          </a:p>
        </p:txBody>
      </p:sp>
      <p:sp>
        <p:nvSpPr>
          <p:cNvPr id="5" name="">
            <a:extLst xmlns:a="http://schemas.openxmlformats.org/drawingml/2006/main">
              <a:ext uri="{FF2B5EF4-FFF2-40B4-BE49-F238E27FC236}">
                <a16:creationId xmlns:a16="http://schemas.microsoft.com/office/drawing/2014/main" id="{0DC6160B-58D9-4603-9E86-A9475E514A77}"/>
              </a:ext>
            </a:extLst>
          </p:cNvPr>
          <p:cNvSpPr>
            <a:spLocks xmlns:a="http://schemas.openxmlformats.org/drawingml/2006/main" noGrp="1"/>
          </p:cNvSpPr>
          <p:nvPr/>
        </p:nvSpPr>
        <p:spPr>
          <a:xfrm xmlns:a="http://schemas.openxmlformats.org/drawingml/2006/main">
            <a:off x="11049000" y="6381750"/>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5C5B5F"/>
                </a:solidFill>
                <a:latin typeface="DejaVu Sans"/>
                <a:ea typeface="DejaVu Sans"/>
                <a:cs typeface="DejaVu Sans"/>
              </a:defRPr>
            </a:pPr>
            <a:r>
              <a:rPr sz="1200" b="0">
                <a:solidFill>
                  <a:srgbClr val="5C5B5F"/>
                </a:solidFill>
                <a:latin typeface="DejaVu Sans"/>
                <a:ea typeface="DejaVu Sans"/>
                <a:cs typeface="DejaVu Sans"/>
              </a:rPr>
              <a:t>4</a:t>
            </a:r>
          </a:p>
        </p:txBody>
      </p:sp>
      <p:sp>
        <p:nvSpPr>
          <p:cNvPr id="6" name="">
            <a:extLst xmlns:a="http://schemas.openxmlformats.org/drawingml/2006/main">
              <a:ext uri="{FF2B5EF4-FFF2-40B4-BE49-F238E27FC236}">
                <a16:creationId xmlns:a16="http://schemas.microsoft.com/office/drawing/2014/main" id="{FD546F15-64AB-47B3-BE21-4065ADC9E511}"/>
              </a:ext>
            </a:extLst>
          </p:cNvPr>
          <p:cNvSpPr>
            <a:spLocks xmlns:a="http://schemas.openxmlformats.org/drawingml/2006/main" noGrp="1"/>
          </p:cNvSpPr>
          <p:nvPr/>
        </p:nvSpPr>
        <p:spPr>
          <a:xfrm xmlns:a="http://schemas.openxmlformats.org/drawingml/2006/main">
            <a:off x="819150" y="1619250"/>
            <a:ext cx="4810125" cy="3333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a:solidFill>
                  <a:srgbClr val="403F3B"/>
                </a:solidFill>
                <a:latin typeface="DejaVu Sans"/>
                <a:ea typeface="DejaVu Sans"/>
                <a:cs typeface="DejaVu Sans"/>
              </a:defRPr>
            </a:pPr>
            <a:r>
              <a:rPr sz="2175" b="0">
                <a:solidFill>
                  <a:srgbClr val="403F3B"/>
                </a:solidFill>
                <a:latin typeface="DejaVu Sans"/>
                <a:ea typeface="DejaVu Sans"/>
                <a:cs typeface="DejaVu Sans"/>
              </a:rPr>
              <a:t>La salida debe responder al problema con unidades, precisión y orden definidos. Separar mensajes de interacción de datos utilizados por una prueba automática.</a:t>
            </a:r>
          </a:p>
        </p:txBody>
      </p:sp>
      <p:sp>
        <p:nvSpPr>
          <p:cNvPr id="7" name="">
            <a:extLst xmlns:a="http://schemas.openxmlformats.org/drawingml/2006/main">
              <a:ext uri="{FF2B5EF4-FFF2-40B4-BE49-F238E27FC236}">
                <a16:creationId xmlns:a16="http://schemas.microsoft.com/office/drawing/2014/main" id="{8B94FB2C-AD1C-4DB1-BD00-4C9A21F1C815}"/>
              </a:ext>
            </a:extLst>
          </p:cNvPr>
          <p:cNvSpPr>
            <a:spLocks xmlns:a="http://schemas.openxmlformats.org/drawingml/2006/main" noGrp="1"/>
          </p:cNvSpPr>
          <p:nvPr/>
        </p:nvSpPr>
        <p:spPr>
          <a:xfrm xmlns:a="http://schemas.openxmlformats.org/drawingml/2006/main">
            <a:off x="6191250" y="1762125"/>
            <a:ext cx="5286375" cy="3286125"/>
          </a:xfrm>
          <a:prstGeom xmlns:a="http://schemas.openxmlformats.org/drawingml/2006/main" prst="rect">
            <a:avLst/>
          </a:prstGeom>
          <a:solidFill xmlns:a="http://schemas.openxmlformats.org/drawingml/2006/main">
            <a:srgbClr val="F3F3FA"/>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403F3B"/>
                </a:solidFill>
                <a:latin typeface="DejaVu Sans"/>
                <a:ea typeface="DejaVu Sans"/>
                <a:cs typeface="DejaVu Sans"/>
              </a:defRPr>
            </a:pPr>
            <a:r>
              <a:rPr sz="1875" b="0">
                <a:solidFill>
                  <a:srgbClr val="403F3B"/>
                </a:solidFill>
                <a:latin typeface="DejaVu Sans"/>
                <a:ea typeface="DejaVu Sans"/>
                <a:cs typeface="DejaVu Sans"/>
              </a:rPr>
              <a:t>nombre = "Lápiz"</a:t>
            </a:r>
          </a:p>
          <a:p xmlns:a="http://schemas.openxmlformats.org/drawingml/2006/main">
            <a:pPr>
              <a:defRPr sz="1875" b="0">
                <a:solidFill>
                  <a:srgbClr val="403F3B"/>
                </a:solidFill>
                <a:latin typeface="DejaVu Sans"/>
                <a:ea typeface="DejaVu Sans"/>
                <a:cs typeface="DejaVu Sans"/>
              </a:defRPr>
            </a:pPr>
            <a:r>
              <a:rPr sz="1875" b="0">
                <a:solidFill>
                  <a:srgbClr val="403F3B"/>
                </a:solidFill>
                <a:latin typeface="DejaVu Sans"/>
                <a:ea typeface="DejaVu Sans"/>
                <a:cs typeface="DejaVu Sans"/>
              </a:rPr>
              <a:t>precio = 1.5</a:t>
            </a:r>
          </a:p>
          <a:p xmlns:a="http://schemas.openxmlformats.org/drawingml/2006/main">
            <a:pPr>
              <a:defRPr sz="1875" b="0">
                <a:solidFill>
                  <a:srgbClr val="403F3B"/>
                </a:solidFill>
                <a:latin typeface="DejaVu Sans"/>
                <a:ea typeface="DejaVu Sans"/>
                <a:cs typeface="DejaVu Sans"/>
              </a:defRPr>
            </a:pPr>
            <a:r>
              <a:rPr sz="1875" b="0">
                <a:solidFill>
                  <a:srgbClr val="403F3B"/>
                </a:solidFill>
                <a:latin typeface="DejaVu Sans"/>
                <a:ea typeface="DejaVu Sans"/>
                <a:cs typeface="DejaVu Sans"/>
              </a:rPr>
              <a:t>print(f"{nombre}: {precio:.2f}")</a:t>
            </a:r>
          </a:p>
        </p:txBody>
      </p:sp>
      <p:sp>
        <p:nvSpPr>
          <p:cNvPr id="8" name="">
            <a:extLst xmlns:a="http://schemas.openxmlformats.org/drawingml/2006/main">
              <a:ext uri="{FF2B5EF4-FFF2-40B4-BE49-F238E27FC236}">
                <a16:creationId xmlns:a16="http://schemas.microsoft.com/office/drawing/2014/main" id="{88618487-9F6F-4416-A58E-CD81AE7E525C}"/>
              </a:ext>
            </a:extLst>
          </p:cNvPr>
          <p:cNvSpPr>
            <a:spLocks xmlns:a="http://schemas.openxmlformats.org/drawingml/2006/main" noGrp="1"/>
          </p:cNvSpPr>
          <p:nvPr/>
        </p:nvSpPr>
        <p:spPr>
          <a:xfrm xmlns:a="http://schemas.openxmlformats.org/drawingml/2006/main">
            <a:off x="6191250" y="5238750"/>
            <a:ext cx="52863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0">
                <a:solidFill>
                  <a:srgbClr val="003772"/>
                </a:solidFill>
                <a:latin typeface="DejaVu Sans"/>
                <a:ea typeface="DejaVu Sans"/>
                <a:cs typeface="DejaVu Sans"/>
              </a:defRPr>
            </a:pPr>
            <a:r>
              <a:rPr sz="1725" b="0">
                <a:solidFill>
                  <a:srgbClr val="003772"/>
                </a:solidFill>
                <a:latin typeface="DejaVu Sans"/>
                <a:ea typeface="DejaVu Sans"/>
                <a:cs typeface="DejaVu Sans"/>
              </a:rPr>
              <a:t>print admite varios valores con sep y end.</a:t>
            </a:r>
          </a:p>
        </p:txBody>
      </p:sp>
    </p:spTree>
    <p:extLst>
      <p:ext uri="{BB962C8B-B14F-4D97-AF65-F5344CB8AC3E}">
        <p14:creationId xmlns:p14="http://schemas.microsoft.com/office/powerpoint/2010/main" val="1750535372"/>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3626530B-B2A4-458B-8C3C-CC7ADEFF9416}"/>
              </a:ext>
            </a:extLst>
          </p:cNvPr>
          <p:cNvSpPr>
            <a:spLocks xmlns:a="http://schemas.openxmlformats.org/drawingml/2006/main" noGrp="1"/>
          </p:cNvSpPr>
          <p:nvPr/>
        </p:nvSpPr>
        <p:spPr>
          <a:xfrm xmlns:a="http://schemas.openxmlformats.org/drawingml/2006/main">
            <a:off x="533400" y="457200"/>
            <a:ext cx="47625" cy="43815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37B5497-B934-4C4A-8052-74824EC87229}"/>
              </a:ext>
            </a:extLst>
          </p:cNvPr>
          <p:cNvSpPr>
            <a:spLocks xmlns:a="http://schemas.openxmlformats.org/drawingml/2006/main" noGrp="1"/>
          </p:cNvSpPr>
          <p:nvPr/>
        </p:nvSpPr>
        <p:spPr>
          <a:xfrm xmlns:a="http://schemas.openxmlformats.org/drawingml/2006/main">
            <a:off x="809625" y="428625"/>
            <a:ext cx="10668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925" b="1">
                <a:solidFill>
                  <a:srgbClr val="003772"/>
                </a:solidFill>
                <a:latin typeface="DejaVu Sans"/>
                <a:ea typeface="DejaVu Sans"/>
                <a:cs typeface="DejaVu Sans"/>
              </a:defRPr>
            </a:pPr>
            <a:r>
              <a:rPr sz="2925" b="1">
                <a:solidFill>
                  <a:srgbClr val="003772"/>
                </a:solidFill>
                <a:latin typeface="DejaVu Sans"/>
                <a:ea typeface="DejaVu Sans"/>
                <a:cs typeface="DejaVu Sans"/>
              </a:rPr>
              <a:t>Conversión y pérdida de información</a:t>
            </a:r>
          </a:p>
        </p:txBody>
      </p:sp>
      <p:sp>
        <p:nvSpPr>
          <p:cNvPr id="3" name="">
            <a:extLst xmlns:a="http://schemas.openxmlformats.org/drawingml/2006/main">
              <a:ext uri="{FF2B5EF4-FFF2-40B4-BE49-F238E27FC236}">
                <a16:creationId xmlns:a16="http://schemas.microsoft.com/office/drawing/2014/main" id="{3677AD81-2A66-4DBF-8CA0-290932CFBD09}"/>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8DFE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C484A7FA-0DE5-4E98-BE98-B814E59DC9D4}"/>
              </a:ext>
            </a:extLst>
          </p:cNvPr>
          <p:cNvSpPr>
            <a:spLocks xmlns:a="http://schemas.openxmlformats.org/drawingml/2006/main" noGrp="1"/>
          </p:cNvSpPr>
          <p:nvPr/>
        </p:nvSpPr>
        <p:spPr>
          <a:xfrm xmlns:a="http://schemas.openxmlformats.org/drawingml/2006/main">
            <a:off x="695325" y="6381750"/>
            <a:ext cx="923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5C5B5F"/>
                </a:solidFill>
                <a:latin typeface="DejaVu Sans"/>
                <a:ea typeface="DejaVu Sans"/>
                <a:cs typeface="DejaVu Sans"/>
              </a:defRPr>
            </a:pPr>
            <a:r>
              <a:rPr sz="1200" b="0">
                <a:solidFill>
                  <a:srgbClr val="5C5B5F"/>
                </a:solidFill>
                <a:latin typeface="DejaVu Sans"/>
                <a:ea typeface="DejaVu Sans"/>
                <a:cs typeface="DejaVu Sans"/>
              </a:rPr>
              <a:t>Programación · 3.02</a:t>
            </a:r>
          </a:p>
        </p:txBody>
      </p:sp>
      <p:sp>
        <p:nvSpPr>
          <p:cNvPr id="5" name="">
            <a:extLst xmlns:a="http://schemas.openxmlformats.org/drawingml/2006/main">
              <a:ext uri="{FF2B5EF4-FFF2-40B4-BE49-F238E27FC236}">
                <a16:creationId xmlns:a16="http://schemas.microsoft.com/office/drawing/2014/main" id="{BE41483B-6FB2-4C20-859E-413BBCB7F87C}"/>
              </a:ext>
            </a:extLst>
          </p:cNvPr>
          <p:cNvSpPr>
            <a:spLocks xmlns:a="http://schemas.openxmlformats.org/drawingml/2006/main" noGrp="1"/>
          </p:cNvSpPr>
          <p:nvPr/>
        </p:nvSpPr>
        <p:spPr>
          <a:xfrm xmlns:a="http://schemas.openxmlformats.org/drawingml/2006/main">
            <a:off x="11049000" y="6381750"/>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5C5B5F"/>
                </a:solidFill>
                <a:latin typeface="DejaVu Sans"/>
                <a:ea typeface="DejaVu Sans"/>
                <a:cs typeface="DejaVu Sans"/>
              </a:defRPr>
            </a:pPr>
            <a:r>
              <a:rPr sz="1200" b="0">
                <a:solidFill>
                  <a:srgbClr val="5C5B5F"/>
                </a:solidFill>
                <a:latin typeface="DejaVu Sans"/>
                <a:ea typeface="DejaVu Sans"/>
                <a:cs typeface="DejaVu Sans"/>
              </a:rPr>
              <a:t>5</a:t>
            </a:r>
          </a:p>
        </p:txBody>
      </p:sp>
      <p:sp>
        <p:nvSpPr>
          <p:cNvPr id="6" name="">
            <a:extLst xmlns:a="http://schemas.openxmlformats.org/drawingml/2006/main">
              <a:ext uri="{FF2B5EF4-FFF2-40B4-BE49-F238E27FC236}">
                <a16:creationId xmlns:a16="http://schemas.microsoft.com/office/drawing/2014/main" id="{7399FF47-F9FD-4AB6-9D98-9A1DBFE563EF}"/>
              </a:ext>
            </a:extLst>
          </p:cNvPr>
          <p:cNvSpPr>
            <a:spLocks xmlns:a="http://schemas.openxmlformats.org/drawingml/2006/main" noGrp="1"/>
          </p:cNvSpPr>
          <p:nvPr/>
        </p:nvSpPr>
        <p:spPr>
          <a:xfrm xmlns:a="http://schemas.openxmlformats.org/drawingml/2006/main">
            <a:off x="819150" y="1619250"/>
            <a:ext cx="4810125" cy="3333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a:solidFill>
                  <a:srgbClr val="403F3B"/>
                </a:solidFill>
                <a:latin typeface="DejaVu Sans"/>
                <a:ea typeface="DejaVu Sans"/>
                <a:cs typeface="DejaVu Sans"/>
              </a:defRPr>
            </a:pPr>
            <a:r>
              <a:rPr sz="2175" b="0">
                <a:solidFill>
                  <a:srgbClr val="403F3B"/>
                </a:solidFill>
                <a:latin typeface="DejaVu Sans"/>
                <a:ea typeface="DejaVu Sans"/>
                <a:cs typeface="DejaVu Sans"/>
              </a:rPr>
              <a:t>Convertir no es cambiar una etiqueta sin consecuencias. El texto "007" convertido a entero pierde los ceros de presentación.</a:t>
            </a:r>
          </a:p>
        </p:txBody>
      </p:sp>
      <p:sp>
        <p:nvSpPr>
          <p:cNvPr id="7" name="">
            <a:extLst xmlns:a="http://schemas.openxmlformats.org/drawingml/2006/main">
              <a:ext uri="{FF2B5EF4-FFF2-40B4-BE49-F238E27FC236}">
                <a16:creationId xmlns:a16="http://schemas.microsoft.com/office/drawing/2014/main" id="{C175A485-1322-4584-AADC-1D3D87108A3D}"/>
              </a:ext>
            </a:extLst>
          </p:cNvPr>
          <p:cNvSpPr>
            <a:spLocks xmlns:a="http://schemas.openxmlformats.org/drawingml/2006/main" noGrp="1"/>
          </p:cNvSpPr>
          <p:nvPr/>
        </p:nvSpPr>
        <p:spPr>
          <a:xfrm xmlns:a="http://schemas.openxmlformats.org/drawingml/2006/main">
            <a:off x="6191250" y="1762125"/>
            <a:ext cx="5286375" cy="3286125"/>
          </a:xfrm>
          <a:prstGeom xmlns:a="http://schemas.openxmlformats.org/drawingml/2006/main" prst="rect">
            <a:avLst/>
          </a:prstGeom>
          <a:solidFill xmlns:a="http://schemas.openxmlformats.org/drawingml/2006/main">
            <a:srgbClr val="F3F3FA"/>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403F3B"/>
                </a:solidFill>
                <a:latin typeface="DejaVu Sans"/>
                <a:ea typeface="DejaVu Sans"/>
                <a:cs typeface="DejaVu Sans"/>
              </a:defRPr>
            </a:pPr>
            <a:r>
              <a:rPr sz="1875" b="0">
                <a:solidFill>
                  <a:srgbClr val="403F3B"/>
                </a:solidFill>
                <a:latin typeface="DejaVu Sans"/>
                <a:ea typeface="DejaVu Sans"/>
                <a:cs typeface="DejaVu Sans"/>
              </a:rPr>
              <a:t>codigo = "007"</a:t>
            </a:r>
          </a:p>
          <a:p xmlns:a="http://schemas.openxmlformats.org/drawingml/2006/main">
            <a:pPr>
              <a:defRPr sz="1875" b="0">
                <a:solidFill>
                  <a:srgbClr val="403F3B"/>
                </a:solidFill>
                <a:latin typeface="DejaVu Sans"/>
                <a:ea typeface="DejaVu Sans"/>
                <a:cs typeface="DejaVu Sans"/>
              </a:defRPr>
            </a:pPr>
            <a:r>
              <a:rPr sz="1875" b="0">
                <a:solidFill>
                  <a:srgbClr val="403F3B"/>
                </a:solidFill>
                <a:latin typeface="DejaVu Sans"/>
                <a:ea typeface="DejaVu Sans"/>
                <a:cs typeface="DejaVu Sans"/>
              </a:rPr>
              <a:t>print(codigo, int(codigo))</a:t>
            </a:r>
          </a:p>
        </p:txBody>
      </p:sp>
      <p:sp>
        <p:nvSpPr>
          <p:cNvPr id="8" name="">
            <a:extLst xmlns:a="http://schemas.openxmlformats.org/drawingml/2006/main">
              <a:ext uri="{FF2B5EF4-FFF2-40B4-BE49-F238E27FC236}">
                <a16:creationId xmlns:a16="http://schemas.microsoft.com/office/drawing/2014/main" id="{897ABC86-744C-4235-8CC3-4A057E51877C}"/>
              </a:ext>
            </a:extLst>
          </p:cNvPr>
          <p:cNvSpPr>
            <a:spLocks xmlns:a="http://schemas.openxmlformats.org/drawingml/2006/main" noGrp="1"/>
          </p:cNvSpPr>
          <p:nvPr/>
        </p:nvSpPr>
        <p:spPr>
          <a:xfrm xmlns:a="http://schemas.openxmlformats.org/drawingml/2006/main">
            <a:off x="6191250" y="5238750"/>
            <a:ext cx="52863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0">
                <a:solidFill>
                  <a:srgbClr val="003772"/>
                </a:solidFill>
                <a:latin typeface="DejaVu Sans"/>
                <a:ea typeface="DejaVu Sans"/>
                <a:cs typeface="DejaVu Sans"/>
              </a:defRPr>
            </a:pPr>
            <a:r>
              <a:rPr sz="1725" b="0">
                <a:solidFill>
                  <a:srgbClr val="003772"/>
                </a:solidFill>
                <a:latin typeface="DejaVu Sans"/>
                <a:ea typeface="DejaVu Sans"/>
                <a:cs typeface="DejaVu Sans"/>
              </a:rPr>
              <a:t>str(12) produce "12".</a:t>
            </a:r>
          </a:p>
        </p:txBody>
      </p:sp>
    </p:spTree>
    <p:extLst>
      <p:ext uri="{BB962C8B-B14F-4D97-AF65-F5344CB8AC3E}">
        <p14:creationId xmlns:p14="http://schemas.microsoft.com/office/powerpoint/2010/main" val="81776766"/>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BF6809E2-7922-445A-AE9D-DE48011BC605}"/>
              </a:ext>
            </a:extLst>
          </p:cNvPr>
          <p:cNvSpPr>
            <a:spLocks xmlns:a="http://schemas.openxmlformats.org/drawingml/2006/main" noGrp="1"/>
          </p:cNvSpPr>
          <p:nvPr/>
        </p:nvSpPr>
        <p:spPr>
          <a:xfrm xmlns:a="http://schemas.openxmlformats.org/drawingml/2006/main">
            <a:off x="533400" y="457200"/>
            <a:ext cx="47625" cy="43815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55E4554-899F-4F97-AE8D-B228B18E5FF2}"/>
              </a:ext>
            </a:extLst>
          </p:cNvPr>
          <p:cNvSpPr>
            <a:spLocks xmlns:a="http://schemas.openxmlformats.org/drawingml/2006/main" noGrp="1"/>
          </p:cNvSpPr>
          <p:nvPr/>
        </p:nvSpPr>
        <p:spPr>
          <a:xfrm xmlns:a="http://schemas.openxmlformats.org/drawingml/2006/main">
            <a:off x="809625" y="428625"/>
            <a:ext cx="10668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925" b="1">
                <a:solidFill>
                  <a:srgbClr val="003772"/>
                </a:solidFill>
                <a:latin typeface="DejaVu Sans"/>
                <a:ea typeface="DejaVu Sans"/>
                <a:cs typeface="DejaVu Sans"/>
              </a:defRPr>
            </a:pPr>
            <a:r>
              <a:rPr sz="2925" b="1">
                <a:solidFill>
                  <a:srgbClr val="003772"/>
                </a:solidFill>
                <a:latin typeface="DejaVu Sans"/>
                <a:ea typeface="DejaVu Sans"/>
                <a:cs typeface="DejaVu Sans"/>
              </a:rPr>
              <a:t>Casos de entrada y pruebas reproducibles</a:t>
            </a:r>
          </a:p>
        </p:txBody>
      </p:sp>
      <p:sp>
        <p:nvSpPr>
          <p:cNvPr id="3" name="">
            <a:extLst xmlns:a="http://schemas.openxmlformats.org/drawingml/2006/main">
              <a:ext uri="{FF2B5EF4-FFF2-40B4-BE49-F238E27FC236}">
                <a16:creationId xmlns:a16="http://schemas.microsoft.com/office/drawing/2014/main" id="{6096F078-FE12-4565-8860-0E979E38DB55}"/>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8DFE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A1F358F1-BD52-42D6-B89E-4B5426C2A4A6}"/>
              </a:ext>
            </a:extLst>
          </p:cNvPr>
          <p:cNvSpPr>
            <a:spLocks xmlns:a="http://schemas.openxmlformats.org/drawingml/2006/main" noGrp="1"/>
          </p:cNvSpPr>
          <p:nvPr/>
        </p:nvSpPr>
        <p:spPr>
          <a:xfrm xmlns:a="http://schemas.openxmlformats.org/drawingml/2006/main">
            <a:off x="695325" y="6381750"/>
            <a:ext cx="923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5C5B5F"/>
                </a:solidFill>
                <a:latin typeface="DejaVu Sans"/>
                <a:ea typeface="DejaVu Sans"/>
                <a:cs typeface="DejaVu Sans"/>
              </a:defRPr>
            </a:pPr>
            <a:r>
              <a:rPr sz="1200" b="0">
                <a:solidFill>
                  <a:srgbClr val="5C5B5F"/>
                </a:solidFill>
                <a:latin typeface="DejaVu Sans"/>
                <a:ea typeface="DejaVu Sans"/>
                <a:cs typeface="DejaVu Sans"/>
              </a:rPr>
              <a:t>Programación · 3.02</a:t>
            </a:r>
          </a:p>
        </p:txBody>
      </p:sp>
      <p:sp>
        <p:nvSpPr>
          <p:cNvPr id="5" name="">
            <a:extLst xmlns:a="http://schemas.openxmlformats.org/drawingml/2006/main">
              <a:ext uri="{FF2B5EF4-FFF2-40B4-BE49-F238E27FC236}">
                <a16:creationId xmlns:a16="http://schemas.microsoft.com/office/drawing/2014/main" id="{C6610465-1E47-4599-96E1-BBD5FD082C76}"/>
              </a:ext>
            </a:extLst>
          </p:cNvPr>
          <p:cNvSpPr>
            <a:spLocks xmlns:a="http://schemas.openxmlformats.org/drawingml/2006/main" noGrp="1"/>
          </p:cNvSpPr>
          <p:nvPr/>
        </p:nvSpPr>
        <p:spPr>
          <a:xfrm xmlns:a="http://schemas.openxmlformats.org/drawingml/2006/main">
            <a:off x="11049000" y="6381750"/>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5C5B5F"/>
                </a:solidFill>
                <a:latin typeface="DejaVu Sans"/>
                <a:ea typeface="DejaVu Sans"/>
                <a:cs typeface="DejaVu Sans"/>
              </a:defRPr>
            </a:pPr>
            <a:r>
              <a:rPr sz="1200" b="0">
                <a:solidFill>
                  <a:srgbClr val="5C5B5F"/>
                </a:solidFill>
                <a:latin typeface="DejaVu Sans"/>
                <a:ea typeface="DejaVu Sans"/>
                <a:cs typeface="DejaVu Sans"/>
              </a:rPr>
              <a:t>6</a:t>
            </a:r>
          </a:p>
        </p:txBody>
      </p:sp>
      <p:sp>
        <p:nvSpPr>
          <p:cNvPr id="6" name="">
            <a:extLst xmlns:a="http://schemas.openxmlformats.org/drawingml/2006/main">
              <a:ext uri="{FF2B5EF4-FFF2-40B4-BE49-F238E27FC236}">
                <a16:creationId xmlns:a16="http://schemas.microsoft.com/office/drawing/2014/main" id="{1B7D6BB3-2DBF-4CB6-9EBF-D02234CF0097}"/>
              </a:ext>
            </a:extLst>
          </p:cNvPr>
          <p:cNvSpPr>
            <a:spLocks xmlns:a="http://schemas.openxmlformats.org/drawingml/2006/main" noGrp="1"/>
          </p:cNvSpPr>
          <p:nvPr/>
        </p:nvSpPr>
        <p:spPr>
          <a:xfrm xmlns:a="http://schemas.openxmlformats.org/drawingml/2006/main">
            <a:off x="819150" y="1619250"/>
            <a:ext cx="4810125" cy="3333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a:solidFill>
                  <a:srgbClr val="403F3B"/>
                </a:solidFill>
                <a:latin typeface="DejaVu Sans"/>
                <a:ea typeface="DejaVu Sans"/>
                <a:cs typeface="DejaVu Sans"/>
              </a:defRPr>
            </a:pPr>
            <a:r>
              <a:rPr sz="2175" b="0">
                <a:solidFill>
                  <a:srgbClr val="403F3B"/>
                </a:solidFill>
                <a:latin typeface="DejaVu Sans"/>
                <a:ea typeface="DejaVu Sans"/>
                <a:cs typeface="DejaVu Sans"/>
              </a:rPr>
              <a:t>Una sesión interactiva es difícil de repetir si no se registra qué se escribió. Guardar un archivo de entrada con un dato por línea permite ejecutar la misma prueba varias veces.</a:t>
            </a:r>
          </a:p>
        </p:txBody>
      </p:sp>
      <p:sp>
        <p:nvSpPr>
          <p:cNvPr id="7" name="">
            <a:extLst xmlns:a="http://schemas.openxmlformats.org/drawingml/2006/main">
              <a:ext uri="{FF2B5EF4-FFF2-40B4-BE49-F238E27FC236}">
                <a16:creationId xmlns:a16="http://schemas.microsoft.com/office/drawing/2014/main" id="{6BC2E5C4-7898-4775-B72A-ED7D65507F15}"/>
              </a:ext>
            </a:extLst>
          </p:cNvPr>
          <p:cNvSpPr>
            <a:spLocks xmlns:a="http://schemas.openxmlformats.org/drawingml/2006/main" noGrp="1"/>
          </p:cNvSpPr>
          <p:nvPr/>
        </p:nvSpPr>
        <p:spPr>
          <a:xfrm xmlns:a="http://schemas.openxmlformats.org/drawingml/2006/main">
            <a:off x="6191250" y="1762125"/>
            <a:ext cx="5286375" cy="3286125"/>
          </a:xfrm>
          <a:prstGeom xmlns:a="http://schemas.openxmlformats.org/drawingml/2006/main" prst="rect">
            <a:avLst/>
          </a:prstGeom>
          <a:solidFill xmlns:a="http://schemas.openxmlformats.org/drawingml/2006/main">
            <a:srgbClr val="F3F3FA"/>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403F3B"/>
                </a:solidFill>
                <a:latin typeface="DejaVu Sans"/>
                <a:ea typeface="DejaVu Sans"/>
                <a:cs typeface="DejaVu Sans"/>
              </a:defRPr>
            </a:pPr>
            <a:r>
              <a:rPr sz="1875" b="0">
                <a:solidFill>
                  <a:srgbClr val="403F3B"/>
                </a:solidFill>
                <a:latin typeface="DejaVu Sans"/>
                <a:ea typeface="DejaVu Sans"/>
                <a:cs typeface="DejaVu Sans"/>
              </a:rPr>
              <a:t>producto = input()</a:t>
            </a:r>
          </a:p>
          <a:p xmlns:a="http://schemas.openxmlformats.org/drawingml/2006/main">
            <a:pPr>
              <a:defRPr sz="1875" b="0">
                <a:solidFill>
                  <a:srgbClr val="403F3B"/>
                </a:solidFill>
                <a:latin typeface="DejaVu Sans"/>
                <a:ea typeface="DejaVu Sans"/>
                <a:cs typeface="DejaVu Sans"/>
              </a:defRPr>
            </a:pPr>
            <a:r>
              <a:rPr sz="1875" b="0">
                <a:solidFill>
                  <a:srgbClr val="403F3B"/>
                </a:solidFill>
                <a:latin typeface="DejaVu Sans"/>
                <a:ea typeface="DejaVu Sans"/>
                <a:cs typeface="DejaVu Sans"/>
              </a:rPr>
              <a:t>print(f"Producto: {producto}")</a:t>
            </a:r>
          </a:p>
        </p:txBody>
      </p:sp>
      <p:sp>
        <p:nvSpPr>
          <p:cNvPr id="8" name="">
            <a:extLst xmlns:a="http://schemas.openxmlformats.org/drawingml/2006/main">
              <a:ext uri="{FF2B5EF4-FFF2-40B4-BE49-F238E27FC236}">
                <a16:creationId xmlns:a16="http://schemas.microsoft.com/office/drawing/2014/main" id="{386D9674-BFE6-405F-ADE0-220546C91250}"/>
              </a:ext>
            </a:extLst>
          </p:cNvPr>
          <p:cNvSpPr>
            <a:spLocks xmlns:a="http://schemas.openxmlformats.org/drawingml/2006/main" noGrp="1"/>
          </p:cNvSpPr>
          <p:nvPr/>
        </p:nvSpPr>
        <p:spPr>
          <a:xfrm xmlns:a="http://schemas.openxmlformats.org/drawingml/2006/main">
            <a:off x="6191250" y="5238750"/>
            <a:ext cx="52863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0">
                <a:solidFill>
                  <a:srgbClr val="003772"/>
                </a:solidFill>
                <a:latin typeface="DejaVu Sans"/>
                <a:ea typeface="DejaVu Sans"/>
                <a:cs typeface="DejaVu Sans"/>
              </a:defRPr>
            </a:pPr>
            <a:r>
              <a:rPr sz="1725" b="0">
                <a:solidFill>
                  <a:srgbClr val="003772"/>
                </a:solidFill>
                <a:latin typeface="DejaVu Sans"/>
                <a:ea typeface="DejaVu Sans"/>
                <a:cs typeface="DejaVu Sans"/>
              </a:rPr>
              <a:t>Usar python3 demo.py &lt; entrada.txt.</a:t>
            </a:r>
          </a:p>
        </p:txBody>
      </p:sp>
    </p:spTree>
    <p:extLst>
      <p:ext uri="{BB962C8B-B14F-4D97-AF65-F5344CB8AC3E}">
        <p14:creationId xmlns:p14="http://schemas.microsoft.com/office/powerpoint/2010/main" val="1139097950"/>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C9E0D36E-4E41-4600-A855-17DBF844D06E}"/>
              </a:ext>
            </a:extLst>
          </p:cNvPr>
          <p:cNvSpPr>
            <a:spLocks xmlns:a="http://schemas.openxmlformats.org/drawingml/2006/main" noGrp="1"/>
          </p:cNvSpPr>
          <p:nvPr/>
        </p:nvSpPr>
        <p:spPr>
          <a:xfrm xmlns:a="http://schemas.openxmlformats.org/drawingml/2006/main">
            <a:off x="533400" y="457200"/>
            <a:ext cx="47625" cy="43815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237A3E7-5003-445B-8D82-7DAC8152669E}"/>
              </a:ext>
            </a:extLst>
          </p:cNvPr>
          <p:cNvSpPr>
            <a:spLocks xmlns:a="http://schemas.openxmlformats.org/drawingml/2006/main" noGrp="1"/>
          </p:cNvSpPr>
          <p:nvPr/>
        </p:nvSpPr>
        <p:spPr>
          <a:xfrm xmlns:a="http://schemas.openxmlformats.org/drawingml/2006/main">
            <a:off x="809625" y="428625"/>
            <a:ext cx="10668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925" b="1">
                <a:solidFill>
                  <a:srgbClr val="003772"/>
                </a:solidFill>
                <a:latin typeface="DejaVu Sans"/>
                <a:ea typeface="DejaVu Sans"/>
                <a:cs typeface="DejaVu Sans"/>
              </a:defRPr>
            </a:pPr>
            <a:r>
              <a:rPr sz="2925" b="1">
                <a:solidFill>
                  <a:srgbClr val="003772"/>
                </a:solidFill>
                <a:latin typeface="DejaVu Sans"/>
                <a:ea typeface="DejaVu Sans"/>
                <a:cs typeface="DejaVu Sans"/>
              </a:rPr>
              <a:t>Contrato y recorrido de la demostración</a:t>
            </a:r>
          </a:p>
        </p:txBody>
      </p:sp>
      <p:sp>
        <p:nvSpPr>
          <p:cNvPr id="3" name="">
            <a:extLst xmlns:a="http://schemas.openxmlformats.org/drawingml/2006/main">
              <a:ext uri="{FF2B5EF4-FFF2-40B4-BE49-F238E27FC236}">
                <a16:creationId xmlns:a16="http://schemas.microsoft.com/office/drawing/2014/main" id="{6C8C72F9-7C1A-4366-A640-D0785AAE17DE}"/>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8DFE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4F5E2BD2-635B-44C6-97D2-CB77D9960765}"/>
              </a:ext>
            </a:extLst>
          </p:cNvPr>
          <p:cNvSpPr>
            <a:spLocks xmlns:a="http://schemas.openxmlformats.org/drawingml/2006/main" noGrp="1"/>
          </p:cNvSpPr>
          <p:nvPr/>
        </p:nvSpPr>
        <p:spPr>
          <a:xfrm xmlns:a="http://schemas.openxmlformats.org/drawingml/2006/main">
            <a:off x="695325" y="6381750"/>
            <a:ext cx="923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5C5B5F"/>
                </a:solidFill>
                <a:latin typeface="DejaVu Sans"/>
                <a:ea typeface="DejaVu Sans"/>
                <a:cs typeface="DejaVu Sans"/>
              </a:defRPr>
            </a:pPr>
            <a:r>
              <a:rPr sz="1200" b="0">
                <a:solidFill>
                  <a:srgbClr val="5C5B5F"/>
                </a:solidFill>
                <a:latin typeface="DejaVu Sans"/>
                <a:ea typeface="DejaVu Sans"/>
                <a:cs typeface="DejaVu Sans"/>
              </a:rPr>
              <a:t>Programación · 3.02</a:t>
            </a:r>
          </a:p>
        </p:txBody>
      </p:sp>
      <p:sp>
        <p:nvSpPr>
          <p:cNvPr id="5" name="">
            <a:extLst xmlns:a="http://schemas.openxmlformats.org/drawingml/2006/main">
              <a:ext uri="{FF2B5EF4-FFF2-40B4-BE49-F238E27FC236}">
                <a16:creationId xmlns:a16="http://schemas.microsoft.com/office/drawing/2014/main" id="{D39693C5-32B1-42E2-800C-AAB9172CA2F3}"/>
              </a:ext>
            </a:extLst>
          </p:cNvPr>
          <p:cNvSpPr>
            <a:spLocks xmlns:a="http://schemas.openxmlformats.org/drawingml/2006/main" noGrp="1"/>
          </p:cNvSpPr>
          <p:nvPr/>
        </p:nvSpPr>
        <p:spPr>
          <a:xfrm xmlns:a="http://schemas.openxmlformats.org/drawingml/2006/main">
            <a:off x="11049000" y="6381750"/>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5C5B5F"/>
                </a:solidFill>
                <a:latin typeface="DejaVu Sans"/>
                <a:ea typeface="DejaVu Sans"/>
                <a:cs typeface="DejaVu Sans"/>
              </a:defRPr>
            </a:pPr>
            <a:r>
              <a:rPr sz="1200" b="0">
                <a:solidFill>
                  <a:srgbClr val="5C5B5F"/>
                </a:solidFill>
                <a:latin typeface="DejaVu Sans"/>
                <a:ea typeface="DejaVu Sans"/>
                <a:cs typeface="DejaVu Sans"/>
              </a:rPr>
              <a:t>7</a:t>
            </a:r>
          </a:p>
        </p:txBody>
      </p:sp>
      <p:sp>
        <p:nvSpPr>
          <p:cNvPr id="6" name="">
            <a:extLst xmlns:a="http://schemas.openxmlformats.org/drawingml/2006/main">
              <a:ext uri="{FF2B5EF4-FFF2-40B4-BE49-F238E27FC236}">
                <a16:creationId xmlns:a16="http://schemas.microsoft.com/office/drawing/2014/main" id="{78E68209-0364-4DA7-B561-D399F84B7B3D}"/>
              </a:ext>
            </a:extLst>
          </p:cNvPr>
          <p:cNvSpPr>
            <a:spLocks xmlns:a="http://schemas.openxmlformats.org/drawingml/2006/main" noGrp="1"/>
          </p:cNvSpPr>
          <p:nvPr/>
        </p:nvSpPr>
        <p:spPr>
          <a:xfrm xmlns:a="http://schemas.openxmlformats.org/drawingml/2006/main">
            <a:off x="809625" y="2047875"/>
            <a:ext cx="3286125" cy="2476500"/>
          </a:xfrm>
          <a:prstGeom xmlns:a="http://schemas.openxmlformats.org/drawingml/2006/main" prst="rect">
            <a:avLst/>
          </a:prstGeom>
          <a:solidFill xmlns:a="http://schemas.openxmlformats.org/drawingml/2006/main">
            <a:srgbClr val="F3F3FA"/>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1E7EE91E-673E-4F3E-9D3E-03B9DDCAA7B8}"/>
              </a:ext>
            </a:extLst>
          </p:cNvPr>
          <p:cNvSpPr>
            <a:spLocks xmlns:a="http://schemas.openxmlformats.org/drawingml/2006/main" noGrp="1"/>
          </p:cNvSpPr>
          <p:nvPr/>
        </p:nvSpPr>
        <p:spPr>
          <a:xfrm xmlns:a="http://schemas.openxmlformats.org/drawingml/2006/main">
            <a:off x="1000125" y="2286000"/>
            <a:ext cx="285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1">
                <a:solidFill>
                  <a:srgbClr val="003772"/>
                </a:solidFill>
                <a:latin typeface="DejaVu Sans"/>
                <a:ea typeface="DejaVu Sans"/>
                <a:cs typeface="DejaVu Sans"/>
              </a:defRPr>
            </a:pPr>
            <a:r>
              <a:rPr sz="1950" b="1">
                <a:solidFill>
                  <a:srgbClr val="003772"/>
                </a:solidFill>
                <a:latin typeface="DejaVu Sans"/>
                <a:ea typeface="DejaVu Sans"/>
                <a:cs typeface="DejaVu Sans"/>
              </a:rPr>
              <a:t>ENTRADA</a:t>
            </a:r>
          </a:p>
        </p:txBody>
      </p:sp>
      <p:sp>
        <p:nvSpPr>
          <p:cNvPr id="8" name="">
            <a:extLst xmlns:a="http://schemas.openxmlformats.org/drawingml/2006/main">
              <a:ext uri="{FF2B5EF4-FFF2-40B4-BE49-F238E27FC236}">
                <a16:creationId xmlns:a16="http://schemas.microsoft.com/office/drawing/2014/main" id="{8F724E84-B563-458B-9F80-01A5AE7E95B6}"/>
              </a:ext>
            </a:extLst>
          </p:cNvPr>
          <p:cNvSpPr>
            <a:spLocks xmlns:a="http://schemas.openxmlformats.org/drawingml/2006/main" noGrp="1"/>
          </p:cNvSpPr>
          <p:nvPr/>
        </p:nvSpPr>
        <p:spPr>
          <a:xfrm xmlns:a="http://schemas.openxmlformats.org/drawingml/2006/main">
            <a:off x="1000125" y="3028950"/>
            <a:ext cx="28575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403F3B"/>
                </a:solidFill>
                <a:latin typeface="DejaVu Sans"/>
                <a:ea typeface="DejaVu Sans"/>
                <a:cs typeface="DejaVu Sans"/>
              </a:defRPr>
            </a:pPr>
            <a:r>
              <a:rPr sz="1875" b="0">
                <a:solidFill>
                  <a:srgbClr val="403F3B"/>
                </a:solidFill>
                <a:latin typeface="DejaVu Sans"/>
                <a:ea typeface="DejaVu Sans"/>
                <a:cs typeface="DejaVu Sans"/>
              </a:rPr>
              <a:t>Producto, cantidad y precio</a:t>
            </a:r>
          </a:p>
        </p:txBody>
      </p:sp>
      <p:sp>
        <p:nvSpPr>
          <p:cNvPr id="9" name="">
            <a:extLst xmlns:a="http://schemas.openxmlformats.org/drawingml/2006/main">
              <a:ext uri="{FF2B5EF4-FFF2-40B4-BE49-F238E27FC236}">
                <a16:creationId xmlns:a16="http://schemas.microsoft.com/office/drawing/2014/main" id="{60BEC1DA-0253-495D-A7DF-05654619DF9F}"/>
              </a:ext>
            </a:extLst>
          </p:cNvPr>
          <p:cNvSpPr>
            <a:spLocks xmlns:a="http://schemas.openxmlformats.org/drawingml/2006/main" noGrp="1"/>
          </p:cNvSpPr>
          <p:nvPr/>
        </p:nvSpPr>
        <p:spPr>
          <a:xfrm xmlns:a="http://schemas.openxmlformats.org/drawingml/2006/main">
            <a:off x="4143375" y="3095625"/>
            <a:ext cx="381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75" b="1">
                <a:solidFill>
                  <a:srgbClr val="003772"/>
                </a:solidFill>
                <a:latin typeface="DejaVu Sans"/>
                <a:ea typeface="DejaVu Sans"/>
                <a:cs typeface="DejaVu Sans"/>
              </a:defRPr>
            </a:pPr>
            <a:r>
              <a:rPr sz="2475" b="1">
                <a:solidFill>
                  <a:srgbClr val="003772"/>
                </a:solidFill>
                <a:latin typeface="DejaVu Sans"/>
                <a:ea typeface="DejaVu Sans"/>
                <a:cs typeface="DejaVu Sans"/>
              </a:rPr>
              <a:t>→</a:t>
            </a:r>
          </a:p>
        </p:txBody>
      </p:sp>
      <p:sp>
        <p:nvSpPr>
          <p:cNvPr id="10" name="">
            <a:extLst xmlns:a="http://schemas.openxmlformats.org/drawingml/2006/main">
              <a:ext uri="{FF2B5EF4-FFF2-40B4-BE49-F238E27FC236}">
                <a16:creationId xmlns:a16="http://schemas.microsoft.com/office/drawing/2014/main" id="{A3F3504B-D593-4DEA-8044-20C46695FF30}"/>
              </a:ext>
            </a:extLst>
          </p:cNvPr>
          <p:cNvSpPr>
            <a:spLocks xmlns:a="http://schemas.openxmlformats.org/drawingml/2006/main" noGrp="1"/>
          </p:cNvSpPr>
          <p:nvPr/>
        </p:nvSpPr>
        <p:spPr>
          <a:xfrm xmlns:a="http://schemas.openxmlformats.org/drawingml/2006/main">
            <a:off x="4552950" y="2047875"/>
            <a:ext cx="3286125" cy="2476500"/>
          </a:xfrm>
          <a:prstGeom xmlns:a="http://schemas.openxmlformats.org/drawingml/2006/main" prst="rect">
            <a:avLst/>
          </a:prstGeom>
          <a:solidFill xmlns:a="http://schemas.openxmlformats.org/drawingml/2006/main">
            <a:srgbClr val="F3F3FA"/>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36B4FCDF-8173-47E7-998F-25A5270C5D49}"/>
              </a:ext>
            </a:extLst>
          </p:cNvPr>
          <p:cNvSpPr>
            <a:spLocks xmlns:a="http://schemas.openxmlformats.org/drawingml/2006/main" noGrp="1"/>
          </p:cNvSpPr>
          <p:nvPr/>
        </p:nvSpPr>
        <p:spPr>
          <a:xfrm xmlns:a="http://schemas.openxmlformats.org/drawingml/2006/main">
            <a:off x="4743450" y="2286000"/>
            <a:ext cx="285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1">
                <a:solidFill>
                  <a:srgbClr val="003772"/>
                </a:solidFill>
                <a:latin typeface="DejaVu Sans"/>
                <a:ea typeface="DejaVu Sans"/>
                <a:cs typeface="DejaVu Sans"/>
              </a:defRPr>
            </a:pPr>
            <a:r>
              <a:rPr sz="1950" b="1">
                <a:solidFill>
                  <a:srgbClr val="003772"/>
                </a:solidFill>
                <a:latin typeface="DejaVu Sans"/>
                <a:ea typeface="DejaVu Sans"/>
                <a:cs typeface="DejaVu Sans"/>
              </a:rPr>
              <a:t>PROCESO</a:t>
            </a:r>
          </a:p>
        </p:txBody>
      </p:sp>
      <p:sp>
        <p:nvSpPr>
          <p:cNvPr id="12" name="">
            <a:extLst xmlns:a="http://schemas.openxmlformats.org/drawingml/2006/main">
              <a:ext uri="{FF2B5EF4-FFF2-40B4-BE49-F238E27FC236}">
                <a16:creationId xmlns:a16="http://schemas.microsoft.com/office/drawing/2014/main" id="{2F53DAF5-6B72-492D-B17F-95AEBD13034A}"/>
              </a:ext>
            </a:extLst>
          </p:cNvPr>
          <p:cNvSpPr>
            <a:spLocks xmlns:a="http://schemas.openxmlformats.org/drawingml/2006/main" noGrp="1"/>
          </p:cNvSpPr>
          <p:nvPr/>
        </p:nvSpPr>
        <p:spPr>
          <a:xfrm xmlns:a="http://schemas.openxmlformats.org/drawingml/2006/main">
            <a:off x="4743450" y="3028950"/>
            <a:ext cx="28575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403F3B"/>
                </a:solidFill>
                <a:latin typeface="DejaVu Sans"/>
                <a:ea typeface="DejaVu Sans"/>
                <a:cs typeface="DejaVu Sans"/>
              </a:defRPr>
            </a:pPr>
            <a:r>
              <a:rPr sz="1875" b="0">
                <a:solidFill>
                  <a:srgbClr val="403F3B"/>
                </a:solidFill>
                <a:latin typeface="DejaVu Sans"/>
                <a:ea typeface="DejaVu Sans"/>
                <a:cs typeface="DejaVu Sans"/>
              </a:rPr>
              <a:t>Salida y contrato de formato</a:t>
            </a:r>
          </a:p>
        </p:txBody>
      </p:sp>
      <p:sp>
        <p:nvSpPr>
          <p:cNvPr id="13" name="">
            <a:extLst xmlns:a="http://schemas.openxmlformats.org/drawingml/2006/main">
              <a:ext uri="{FF2B5EF4-FFF2-40B4-BE49-F238E27FC236}">
                <a16:creationId xmlns:a16="http://schemas.microsoft.com/office/drawing/2014/main" id="{34B665E5-F6E6-46A4-B2D6-3582B0E181C7}"/>
              </a:ext>
            </a:extLst>
          </p:cNvPr>
          <p:cNvSpPr>
            <a:spLocks xmlns:a="http://schemas.openxmlformats.org/drawingml/2006/main" noGrp="1"/>
          </p:cNvSpPr>
          <p:nvPr/>
        </p:nvSpPr>
        <p:spPr>
          <a:xfrm xmlns:a="http://schemas.openxmlformats.org/drawingml/2006/main">
            <a:off x="7886700" y="3095625"/>
            <a:ext cx="381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75" b="1">
                <a:solidFill>
                  <a:srgbClr val="003772"/>
                </a:solidFill>
                <a:latin typeface="DejaVu Sans"/>
                <a:ea typeface="DejaVu Sans"/>
                <a:cs typeface="DejaVu Sans"/>
              </a:defRPr>
            </a:pPr>
            <a:r>
              <a:rPr sz="2475" b="1">
                <a:solidFill>
                  <a:srgbClr val="003772"/>
                </a:solidFill>
                <a:latin typeface="DejaVu Sans"/>
                <a:ea typeface="DejaVu Sans"/>
                <a:cs typeface="DejaVu Sans"/>
              </a:rPr>
              <a:t>→</a:t>
            </a:r>
          </a:p>
        </p:txBody>
      </p:sp>
      <p:sp>
        <p:nvSpPr>
          <p:cNvPr id="14" name="">
            <a:extLst xmlns:a="http://schemas.openxmlformats.org/drawingml/2006/main">
              <a:ext uri="{FF2B5EF4-FFF2-40B4-BE49-F238E27FC236}">
                <a16:creationId xmlns:a16="http://schemas.microsoft.com/office/drawing/2014/main" id="{144D57BF-72E4-4EE1-89FC-0C4C550A6CBC}"/>
              </a:ext>
            </a:extLst>
          </p:cNvPr>
          <p:cNvSpPr>
            <a:spLocks xmlns:a="http://schemas.openxmlformats.org/drawingml/2006/main" noGrp="1"/>
          </p:cNvSpPr>
          <p:nvPr/>
        </p:nvSpPr>
        <p:spPr>
          <a:xfrm xmlns:a="http://schemas.openxmlformats.org/drawingml/2006/main">
            <a:off x="8296275" y="2047875"/>
            <a:ext cx="3286125" cy="2476500"/>
          </a:xfrm>
          <a:prstGeom xmlns:a="http://schemas.openxmlformats.org/drawingml/2006/main" prst="rect">
            <a:avLst/>
          </a:prstGeom>
          <a:solidFill xmlns:a="http://schemas.openxmlformats.org/drawingml/2006/main">
            <a:srgbClr val="F3F3FA"/>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C0994B10-90A1-4D10-BE4D-C77B7EDA2E60}"/>
              </a:ext>
            </a:extLst>
          </p:cNvPr>
          <p:cNvSpPr>
            <a:spLocks xmlns:a="http://schemas.openxmlformats.org/drawingml/2006/main" noGrp="1"/>
          </p:cNvSpPr>
          <p:nvPr/>
        </p:nvSpPr>
        <p:spPr>
          <a:xfrm xmlns:a="http://schemas.openxmlformats.org/drawingml/2006/main">
            <a:off x="8486775" y="2286000"/>
            <a:ext cx="285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1">
                <a:solidFill>
                  <a:srgbClr val="003772"/>
                </a:solidFill>
                <a:latin typeface="DejaVu Sans"/>
                <a:ea typeface="DejaVu Sans"/>
                <a:cs typeface="DejaVu Sans"/>
              </a:defRPr>
            </a:pPr>
            <a:r>
              <a:rPr sz="1950" b="1">
                <a:solidFill>
                  <a:srgbClr val="003772"/>
                </a:solidFill>
                <a:latin typeface="DejaVu Sans"/>
                <a:ea typeface="DejaVu Sans"/>
                <a:cs typeface="DejaVu Sans"/>
              </a:rPr>
              <a:t>SALIDA</a:t>
            </a:r>
          </a:p>
        </p:txBody>
      </p:sp>
      <p:sp>
        <p:nvSpPr>
          <p:cNvPr id="16" name="">
            <a:extLst xmlns:a="http://schemas.openxmlformats.org/drawingml/2006/main">
              <a:ext uri="{FF2B5EF4-FFF2-40B4-BE49-F238E27FC236}">
                <a16:creationId xmlns:a16="http://schemas.microsoft.com/office/drawing/2014/main" id="{2C2D4B6A-EF6D-49ED-A0C8-C073D7821996}"/>
              </a:ext>
            </a:extLst>
          </p:cNvPr>
          <p:cNvSpPr>
            <a:spLocks xmlns:a="http://schemas.openxmlformats.org/drawingml/2006/main" noGrp="1"/>
          </p:cNvSpPr>
          <p:nvPr/>
        </p:nvSpPr>
        <p:spPr>
          <a:xfrm xmlns:a="http://schemas.openxmlformats.org/drawingml/2006/main">
            <a:off x="8486775" y="3028950"/>
            <a:ext cx="28575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403F3B"/>
                </a:solidFill>
                <a:latin typeface="DejaVu Sans"/>
                <a:ea typeface="DejaVu Sans"/>
                <a:cs typeface="DejaVu Sans"/>
              </a:defRPr>
            </a:pPr>
            <a:r>
              <a:rPr sz="1875" b="0">
                <a:solidFill>
                  <a:srgbClr val="403F3B"/>
                </a:solidFill>
                <a:latin typeface="DejaVu Sans"/>
                <a:ea typeface="DejaVu Sans"/>
                <a:cs typeface="DejaVu Sans"/>
              </a:rPr>
              <a:t>Producto: Cuaderno</a:t>
            </a:r>
          </a:p>
          <a:p xmlns:a="http://schemas.openxmlformats.org/drawingml/2006/main">
            <a:pPr>
              <a:defRPr sz="1875" b="0">
                <a:solidFill>
                  <a:srgbClr val="403F3B"/>
                </a:solidFill>
                <a:latin typeface="DejaVu Sans"/>
                <a:ea typeface="DejaVu Sans"/>
                <a:cs typeface="DejaVu Sans"/>
              </a:defRPr>
            </a:pPr>
            <a:r>
              <a:rPr sz="1875" b="0">
                <a:solidFill>
                  <a:srgbClr val="403F3B"/>
                </a:solidFill>
                <a:latin typeface="DejaVu Sans"/>
                <a:ea typeface="DejaVu Sans"/>
                <a:cs typeface="DejaVu Sans"/>
              </a:rPr>
              <a:t>Total: 7.00</a:t>
            </a:r>
          </a:p>
        </p:txBody>
      </p:sp>
      <p:sp>
        <p:nvSpPr>
          <p:cNvPr id="17" name="">
            <a:extLst xmlns:a="http://schemas.openxmlformats.org/drawingml/2006/main">
              <a:ext uri="{FF2B5EF4-FFF2-40B4-BE49-F238E27FC236}">
                <a16:creationId xmlns:a16="http://schemas.microsoft.com/office/drawing/2014/main" id="{2DE7BE9C-88DD-42DE-9AF4-5BE1788AB5A1}"/>
              </a:ext>
            </a:extLst>
          </p:cNvPr>
          <p:cNvSpPr>
            <a:spLocks xmlns:a="http://schemas.openxmlformats.org/drawingml/2006/main" noGrp="1"/>
          </p:cNvSpPr>
          <p:nvPr/>
        </p:nvSpPr>
        <p:spPr>
          <a:xfrm xmlns:a="http://schemas.openxmlformats.org/drawingml/2006/main">
            <a:off x="819150" y="5191125"/>
            <a:ext cx="1047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1">
                <a:solidFill>
                  <a:srgbClr val="003772"/>
                </a:solidFill>
                <a:latin typeface="DejaVu Sans"/>
                <a:ea typeface="DejaVu Sans"/>
                <a:cs typeface="DejaVu Sans"/>
              </a:defRPr>
            </a:pPr>
            <a:r>
              <a:rPr sz="2100" b="1">
                <a:solidFill>
                  <a:srgbClr val="003772"/>
                </a:solidFill>
                <a:latin typeface="DejaVu Sans"/>
                <a:ea typeface="DejaVu Sans"/>
                <a:cs typeface="DejaVu Sans"/>
              </a:rPr>
              <a:t>Conservar el contrato al cambiar de lenguaje.</a:t>
            </a:r>
          </a:p>
        </p:txBody>
      </p:sp>
    </p:spTree>
    <p:extLst>
      <p:ext uri="{BB962C8B-B14F-4D97-AF65-F5344CB8AC3E}">
        <p14:creationId xmlns:p14="http://schemas.microsoft.com/office/powerpoint/2010/main" val="1885957741"/>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EA2AE9E-FBBF-46A7-BF8D-D2C7DFCBB544}"/>
              </a:ext>
            </a:extLst>
          </p:cNvPr>
          <p:cNvSpPr>
            <a:spLocks xmlns:a="http://schemas.openxmlformats.org/drawingml/2006/main" noGrp="1"/>
          </p:cNvSpPr>
          <p:nvPr/>
        </p:nvSpPr>
        <p:spPr>
          <a:xfrm xmlns:a="http://schemas.openxmlformats.org/drawingml/2006/main">
            <a:off x="533400" y="457200"/>
            <a:ext cx="47625" cy="43815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D271753-0192-44D4-A1E3-9337620B653C}"/>
              </a:ext>
            </a:extLst>
          </p:cNvPr>
          <p:cNvSpPr>
            <a:spLocks xmlns:a="http://schemas.openxmlformats.org/drawingml/2006/main" noGrp="1"/>
          </p:cNvSpPr>
          <p:nvPr/>
        </p:nvSpPr>
        <p:spPr>
          <a:xfrm xmlns:a="http://schemas.openxmlformats.org/drawingml/2006/main">
            <a:off x="809625" y="428625"/>
            <a:ext cx="10668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925" b="1">
                <a:solidFill>
                  <a:srgbClr val="003772"/>
                </a:solidFill>
                <a:latin typeface="DejaVu Sans"/>
                <a:ea typeface="DejaVu Sans"/>
                <a:cs typeface="DejaVu Sans"/>
              </a:defRPr>
            </a:pPr>
            <a:r>
              <a:rPr sz="2925" b="1">
                <a:solidFill>
                  <a:srgbClr val="003772"/>
                </a:solidFill>
                <a:latin typeface="DejaVu Sans"/>
                <a:ea typeface="DejaVu Sans"/>
                <a:cs typeface="DejaVu Sans"/>
              </a:rPr>
              <a:t>Demostración guiada</a:t>
            </a:r>
          </a:p>
        </p:txBody>
      </p:sp>
      <p:sp>
        <p:nvSpPr>
          <p:cNvPr id="3" name="">
            <a:extLst xmlns:a="http://schemas.openxmlformats.org/drawingml/2006/main">
              <a:ext uri="{FF2B5EF4-FFF2-40B4-BE49-F238E27FC236}">
                <a16:creationId xmlns:a16="http://schemas.microsoft.com/office/drawing/2014/main" id="{03E543FF-39F7-438A-8304-F9377703E2F2}"/>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8DFE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7B674AE0-723D-4986-8FA8-92035ADDA866}"/>
              </a:ext>
            </a:extLst>
          </p:cNvPr>
          <p:cNvSpPr>
            <a:spLocks xmlns:a="http://schemas.openxmlformats.org/drawingml/2006/main" noGrp="1"/>
          </p:cNvSpPr>
          <p:nvPr/>
        </p:nvSpPr>
        <p:spPr>
          <a:xfrm xmlns:a="http://schemas.openxmlformats.org/drawingml/2006/main">
            <a:off x="695325" y="6381750"/>
            <a:ext cx="923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5C5B5F"/>
                </a:solidFill>
                <a:latin typeface="DejaVu Sans"/>
                <a:ea typeface="DejaVu Sans"/>
                <a:cs typeface="DejaVu Sans"/>
              </a:defRPr>
            </a:pPr>
            <a:r>
              <a:rPr sz="1200" b="0">
                <a:solidFill>
                  <a:srgbClr val="5C5B5F"/>
                </a:solidFill>
                <a:latin typeface="DejaVu Sans"/>
                <a:ea typeface="DejaVu Sans"/>
                <a:cs typeface="DejaVu Sans"/>
              </a:rPr>
              <a:t>Programación · 3.02</a:t>
            </a:r>
          </a:p>
        </p:txBody>
      </p:sp>
      <p:sp>
        <p:nvSpPr>
          <p:cNvPr id="5" name="">
            <a:extLst xmlns:a="http://schemas.openxmlformats.org/drawingml/2006/main">
              <a:ext uri="{FF2B5EF4-FFF2-40B4-BE49-F238E27FC236}">
                <a16:creationId xmlns:a16="http://schemas.microsoft.com/office/drawing/2014/main" id="{E581D11F-54BE-4047-AF66-0DD05B865C2B}"/>
              </a:ext>
            </a:extLst>
          </p:cNvPr>
          <p:cNvSpPr>
            <a:spLocks xmlns:a="http://schemas.openxmlformats.org/drawingml/2006/main" noGrp="1"/>
          </p:cNvSpPr>
          <p:nvPr/>
        </p:nvSpPr>
        <p:spPr>
          <a:xfrm xmlns:a="http://schemas.openxmlformats.org/drawingml/2006/main">
            <a:off x="11049000" y="6381750"/>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5C5B5F"/>
                </a:solidFill>
                <a:latin typeface="DejaVu Sans"/>
                <a:ea typeface="DejaVu Sans"/>
                <a:cs typeface="DejaVu Sans"/>
              </a:defRPr>
            </a:pPr>
            <a:r>
              <a:rPr sz="1200" b="0">
                <a:solidFill>
                  <a:srgbClr val="5C5B5F"/>
                </a:solidFill>
                <a:latin typeface="DejaVu Sans"/>
                <a:ea typeface="DejaVu Sans"/>
                <a:cs typeface="DejaVu Sans"/>
              </a:rPr>
              <a:t>8</a:t>
            </a:r>
          </a:p>
        </p:txBody>
      </p:sp>
      <p:sp>
        <p:nvSpPr>
          <p:cNvPr id="6" name="">
            <a:extLst xmlns:a="http://schemas.openxmlformats.org/drawingml/2006/main">
              <a:ext uri="{FF2B5EF4-FFF2-40B4-BE49-F238E27FC236}">
                <a16:creationId xmlns:a16="http://schemas.microsoft.com/office/drawing/2014/main" id="{8033B621-2535-48A5-B942-E685C8B9F8B9}"/>
              </a:ext>
            </a:extLst>
          </p:cNvPr>
          <p:cNvSpPr>
            <a:spLocks xmlns:a="http://schemas.openxmlformats.org/drawingml/2006/main" noGrp="1"/>
          </p:cNvSpPr>
          <p:nvPr/>
        </p:nvSpPr>
        <p:spPr>
          <a:xfrm xmlns:a="http://schemas.openxmlformats.org/drawingml/2006/main">
            <a:off x="819150" y="1666875"/>
            <a:ext cx="10572750" cy="4048125"/>
          </a:xfrm>
          <a:prstGeom xmlns:a="http://schemas.openxmlformats.org/drawingml/2006/main" prst="rect">
            <a:avLst/>
          </a:prstGeom>
          <a:solidFill xmlns:a="http://schemas.openxmlformats.org/drawingml/2006/main">
            <a:srgbClr val="F3F3FA"/>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0">
                <a:solidFill>
                  <a:srgbClr val="403F3B"/>
                </a:solidFill>
                <a:latin typeface="DejaVu Sans"/>
                <a:ea typeface="DejaVu Sans"/>
                <a:cs typeface="DejaVu Sans"/>
              </a:defRPr>
            </a:pPr>
            <a:r>
              <a:rPr sz="2100" b="0">
                <a:solidFill>
                  <a:srgbClr val="403F3B"/>
                </a:solidFill>
                <a:latin typeface="DejaVu Sans"/>
                <a:ea typeface="DejaVu Sans"/>
                <a:cs typeface="DejaVu Sans"/>
              </a:rPr>
              <a:t>producto = input()</a:t>
            </a:r>
          </a:p>
          <a:p xmlns:a="http://schemas.openxmlformats.org/drawingml/2006/main">
            <a:pPr>
              <a:defRPr sz="2100" b="0">
                <a:solidFill>
                  <a:srgbClr val="403F3B"/>
                </a:solidFill>
                <a:latin typeface="DejaVu Sans"/>
                <a:ea typeface="DejaVu Sans"/>
                <a:cs typeface="DejaVu Sans"/>
              </a:defRPr>
            </a:pPr>
            <a:r>
              <a:rPr sz="2100" b="0">
                <a:solidFill>
                  <a:srgbClr val="403F3B"/>
                </a:solidFill>
                <a:latin typeface="DejaVu Sans"/>
                <a:ea typeface="DejaVu Sans"/>
                <a:cs typeface="DejaVu Sans"/>
              </a:rPr>
              <a:t>cantidad = int(input())</a:t>
            </a:r>
          </a:p>
          <a:p xmlns:a="http://schemas.openxmlformats.org/drawingml/2006/main">
            <a:pPr>
              <a:defRPr sz="2100" b="0">
                <a:solidFill>
                  <a:srgbClr val="403F3B"/>
                </a:solidFill>
                <a:latin typeface="DejaVu Sans"/>
                <a:ea typeface="DejaVu Sans"/>
                <a:cs typeface="DejaVu Sans"/>
              </a:defRPr>
            </a:pPr>
            <a:r>
              <a:rPr sz="2100" b="0">
                <a:solidFill>
                  <a:srgbClr val="403F3B"/>
                </a:solidFill>
                <a:latin typeface="DejaVu Sans"/>
                <a:ea typeface="DejaVu Sans"/>
                <a:cs typeface="DejaVu Sans"/>
              </a:rPr>
              <a:t>precio = float(input())</a:t>
            </a:r>
          </a:p>
          <a:p xmlns:a="http://schemas.openxmlformats.org/drawingml/2006/main">
            <a:pPr>
              <a:defRPr sz="2100" b="0">
                <a:solidFill>
                  <a:srgbClr val="403F3B"/>
                </a:solidFill>
                <a:latin typeface="DejaVu Sans"/>
                <a:ea typeface="DejaVu Sans"/>
                <a:cs typeface="DejaVu Sans"/>
              </a:defRPr>
            </a:pPr>
            <a:r>
              <a:rPr sz="2100" b="0">
                <a:solidFill>
                  <a:srgbClr val="403F3B"/>
                </a:solidFill>
                <a:latin typeface="DejaVu Sans"/>
                <a:ea typeface="DejaVu Sans"/>
                <a:cs typeface="DejaVu Sans"/>
              </a:rPr>
              <a:t>print(f"Producto: {producto}")</a:t>
            </a:r>
          </a:p>
          <a:p xmlns:a="http://schemas.openxmlformats.org/drawingml/2006/main">
            <a:pPr>
              <a:defRPr sz="2100" b="0">
                <a:solidFill>
                  <a:srgbClr val="403F3B"/>
                </a:solidFill>
                <a:latin typeface="DejaVu Sans"/>
                <a:ea typeface="DejaVu Sans"/>
                <a:cs typeface="DejaVu Sans"/>
              </a:defRPr>
            </a:pPr>
            <a:r>
              <a:rPr sz="2100" b="0">
                <a:solidFill>
                  <a:srgbClr val="403F3B"/>
                </a:solidFill>
                <a:latin typeface="DejaVu Sans"/>
                <a:ea typeface="DejaVu Sans"/>
                <a:cs typeface="DejaVu Sans"/>
              </a:rPr>
              <a:t>print(f"Total: {cantidad * precio:.2f}")</a:t>
            </a:r>
          </a:p>
        </p:txBody>
      </p:sp>
    </p:spTree>
    <p:extLst>
      <p:ext uri="{BB962C8B-B14F-4D97-AF65-F5344CB8AC3E}">
        <p14:creationId xmlns:p14="http://schemas.microsoft.com/office/powerpoint/2010/main" val="1515427539"/>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FCA0CDE-CB2C-4698-93D3-1991B855B3C2}"/>
              </a:ext>
            </a:extLst>
          </p:cNvPr>
          <p:cNvSpPr>
            <a:spLocks xmlns:a="http://schemas.openxmlformats.org/drawingml/2006/main" noGrp="1"/>
          </p:cNvSpPr>
          <p:nvPr/>
        </p:nvSpPr>
        <p:spPr>
          <a:xfrm xmlns:a="http://schemas.openxmlformats.org/drawingml/2006/main">
            <a:off x="533400" y="457200"/>
            <a:ext cx="47625" cy="43815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7AB8B44-A2A5-455D-BD0B-40279FF1349D}"/>
              </a:ext>
            </a:extLst>
          </p:cNvPr>
          <p:cNvSpPr>
            <a:spLocks xmlns:a="http://schemas.openxmlformats.org/drawingml/2006/main" noGrp="1"/>
          </p:cNvSpPr>
          <p:nvPr/>
        </p:nvSpPr>
        <p:spPr>
          <a:xfrm xmlns:a="http://schemas.openxmlformats.org/drawingml/2006/main">
            <a:off x="809625" y="428625"/>
            <a:ext cx="10668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925" b="1">
                <a:solidFill>
                  <a:srgbClr val="003772"/>
                </a:solidFill>
                <a:latin typeface="DejaVu Sans"/>
                <a:ea typeface="DejaVu Sans"/>
                <a:cs typeface="DejaVu Sans"/>
              </a:defRPr>
            </a:pPr>
            <a:r>
              <a:rPr sz="2925" b="1">
                <a:solidFill>
                  <a:srgbClr val="003772"/>
                </a:solidFill>
                <a:latin typeface="DejaVu Sans"/>
                <a:ea typeface="DejaVu Sans"/>
                <a:cs typeface="DejaVu Sans"/>
              </a:rPr>
              <a:t>Resultado esperado y comprobación</a:t>
            </a:r>
          </a:p>
        </p:txBody>
      </p:sp>
      <p:sp>
        <p:nvSpPr>
          <p:cNvPr id="3" name="">
            <a:extLst xmlns:a="http://schemas.openxmlformats.org/drawingml/2006/main">
              <a:ext uri="{FF2B5EF4-FFF2-40B4-BE49-F238E27FC236}">
                <a16:creationId xmlns:a16="http://schemas.microsoft.com/office/drawing/2014/main" id="{4B471B31-BB01-485F-850B-1AE110B3E87F}"/>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8DFE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359AEE20-03E7-460D-8A0A-FCCD2EFA7678}"/>
              </a:ext>
            </a:extLst>
          </p:cNvPr>
          <p:cNvSpPr>
            <a:spLocks xmlns:a="http://schemas.openxmlformats.org/drawingml/2006/main" noGrp="1"/>
          </p:cNvSpPr>
          <p:nvPr/>
        </p:nvSpPr>
        <p:spPr>
          <a:xfrm xmlns:a="http://schemas.openxmlformats.org/drawingml/2006/main">
            <a:off x="695325" y="6381750"/>
            <a:ext cx="923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5C5B5F"/>
                </a:solidFill>
                <a:latin typeface="DejaVu Sans"/>
                <a:ea typeface="DejaVu Sans"/>
                <a:cs typeface="DejaVu Sans"/>
              </a:defRPr>
            </a:pPr>
            <a:r>
              <a:rPr sz="1200" b="0">
                <a:solidFill>
                  <a:srgbClr val="5C5B5F"/>
                </a:solidFill>
                <a:latin typeface="DejaVu Sans"/>
                <a:ea typeface="DejaVu Sans"/>
                <a:cs typeface="DejaVu Sans"/>
              </a:rPr>
              <a:t>Programación · 3.02</a:t>
            </a:r>
          </a:p>
        </p:txBody>
      </p:sp>
      <p:sp>
        <p:nvSpPr>
          <p:cNvPr id="5" name="">
            <a:extLst xmlns:a="http://schemas.openxmlformats.org/drawingml/2006/main">
              <a:ext uri="{FF2B5EF4-FFF2-40B4-BE49-F238E27FC236}">
                <a16:creationId xmlns:a16="http://schemas.microsoft.com/office/drawing/2014/main" id="{0802FB30-4B7A-4638-81AA-8EF1D94C3FCD}"/>
              </a:ext>
            </a:extLst>
          </p:cNvPr>
          <p:cNvSpPr>
            <a:spLocks xmlns:a="http://schemas.openxmlformats.org/drawingml/2006/main" noGrp="1"/>
          </p:cNvSpPr>
          <p:nvPr/>
        </p:nvSpPr>
        <p:spPr>
          <a:xfrm xmlns:a="http://schemas.openxmlformats.org/drawingml/2006/main">
            <a:off x="11049000" y="6381750"/>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5C5B5F"/>
                </a:solidFill>
                <a:latin typeface="DejaVu Sans"/>
                <a:ea typeface="DejaVu Sans"/>
                <a:cs typeface="DejaVu Sans"/>
              </a:defRPr>
            </a:pPr>
            <a:r>
              <a:rPr sz="1200" b="0">
                <a:solidFill>
                  <a:srgbClr val="5C5B5F"/>
                </a:solidFill>
                <a:latin typeface="DejaVu Sans"/>
                <a:ea typeface="DejaVu Sans"/>
                <a:cs typeface="DejaVu Sans"/>
              </a:rPr>
              <a:t>9</a:t>
            </a:r>
          </a:p>
        </p:txBody>
      </p:sp>
      <p:sp>
        <p:nvSpPr>
          <p:cNvPr id="6" name="">
            <a:extLst xmlns:a="http://schemas.openxmlformats.org/drawingml/2006/main">
              <a:ext uri="{FF2B5EF4-FFF2-40B4-BE49-F238E27FC236}">
                <a16:creationId xmlns:a16="http://schemas.microsoft.com/office/drawing/2014/main" id="{4E3748C3-9D49-4DE6-BEAB-042284B5069D}"/>
              </a:ext>
            </a:extLst>
          </p:cNvPr>
          <p:cNvSpPr>
            <a:spLocks xmlns:a="http://schemas.openxmlformats.org/drawingml/2006/main" noGrp="1"/>
          </p:cNvSpPr>
          <p:nvPr/>
        </p:nvSpPr>
        <p:spPr>
          <a:xfrm xmlns:a="http://schemas.openxmlformats.org/drawingml/2006/main">
            <a:off x="819150" y="1666875"/>
            <a:ext cx="6381750" cy="3333750"/>
          </a:xfrm>
          <a:prstGeom xmlns:a="http://schemas.openxmlformats.org/drawingml/2006/main" prst="rect">
            <a:avLst/>
          </a:prstGeom>
          <a:solidFill xmlns:a="http://schemas.openxmlformats.org/drawingml/2006/main">
            <a:srgbClr val="F3F3FA"/>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a:solidFill>
                  <a:srgbClr val="403F3B"/>
                </a:solidFill>
                <a:latin typeface="DejaVu Sans"/>
                <a:ea typeface="DejaVu Sans"/>
                <a:cs typeface="DejaVu Sans"/>
              </a:defRPr>
            </a:pPr>
            <a:r>
              <a:rPr sz="2175" b="0">
                <a:solidFill>
                  <a:srgbClr val="403F3B"/>
                </a:solidFill>
                <a:latin typeface="DejaVu Sans"/>
                <a:ea typeface="DejaVu Sans"/>
                <a:cs typeface="DejaVu Sans"/>
              </a:rPr>
              <a:t>Producto: Cuaderno</a:t>
            </a:r>
          </a:p>
          <a:p xmlns:a="http://schemas.openxmlformats.org/drawingml/2006/main">
            <a:pPr>
              <a:defRPr sz="2175" b="0">
                <a:solidFill>
                  <a:srgbClr val="403F3B"/>
                </a:solidFill>
                <a:latin typeface="DejaVu Sans"/>
                <a:ea typeface="DejaVu Sans"/>
                <a:cs typeface="DejaVu Sans"/>
              </a:defRPr>
            </a:pPr>
            <a:r>
              <a:rPr sz="2175" b="0">
                <a:solidFill>
                  <a:srgbClr val="403F3B"/>
                </a:solidFill>
                <a:latin typeface="DejaVu Sans"/>
                <a:ea typeface="DejaVu Sans"/>
                <a:cs typeface="DejaVu Sans"/>
              </a:rPr>
              <a:t>Total: 7.00</a:t>
            </a:r>
          </a:p>
        </p:txBody>
      </p:sp>
      <p:sp>
        <p:nvSpPr>
          <p:cNvPr id="7" name="">
            <a:extLst xmlns:a="http://schemas.openxmlformats.org/drawingml/2006/main">
              <a:ext uri="{FF2B5EF4-FFF2-40B4-BE49-F238E27FC236}">
                <a16:creationId xmlns:a16="http://schemas.microsoft.com/office/drawing/2014/main" id="{47989573-E78F-4602-B91E-688F922FAB8F}"/>
              </a:ext>
            </a:extLst>
          </p:cNvPr>
          <p:cNvSpPr>
            <a:spLocks xmlns:a="http://schemas.openxmlformats.org/drawingml/2006/main" noGrp="1"/>
          </p:cNvSpPr>
          <p:nvPr/>
        </p:nvSpPr>
        <p:spPr>
          <a:xfrm xmlns:a="http://schemas.openxmlformats.org/drawingml/2006/main">
            <a:off x="7667625" y="1714500"/>
            <a:ext cx="3714750" cy="400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0">
                <a:solidFill>
                  <a:srgbClr val="403F3B"/>
                </a:solidFill>
                <a:latin typeface="DejaVu Sans"/>
                <a:ea typeface="DejaVu Sans"/>
                <a:cs typeface="DejaVu Sans"/>
              </a:defRPr>
            </a:pPr>
            <a:r>
              <a:rPr sz="2100" b="0">
                <a:solidFill>
                  <a:srgbClr val="403F3B"/>
                </a:solidFill>
                <a:latin typeface="DejaVu Sans"/>
                <a:ea typeface="DejaVu Sans"/>
                <a:cs typeface="DejaVu Sans"/>
              </a:rPr>
              <a:t>Ejecutar con los datos indicados.</a:t>
            </a:r>
          </a:p>
          <a:p xmlns:a="http://schemas.openxmlformats.org/drawingml/2006/main">
            <a:r>
              <a:t/>
            </a:r>
          </a:p>
          <a:p xmlns:a="http://schemas.openxmlformats.org/drawingml/2006/main">
            <a:pPr>
              <a:defRPr sz="2100" b="0">
                <a:solidFill>
                  <a:srgbClr val="403F3B"/>
                </a:solidFill>
                <a:latin typeface="DejaVu Sans"/>
                <a:ea typeface="DejaVu Sans"/>
                <a:cs typeface="DejaVu Sans"/>
              </a:defRPr>
            </a:pPr>
            <a:r>
              <a:rPr sz="2100" b="0">
                <a:solidFill>
                  <a:srgbClr val="403F3B"/>
                </a:solidFill>
                <a:latin typeface="DejaVu Sans"/>
                <a:ea typeface="DejaVu Sans"/>
                <a:cs typeface="DejaVu Sans"/>
              </a:rPr>
              <a:t>Relacionar cada línea con una instrucción.</a:t>
            </a:r>
          </a:p>
          <a:p xmlns:a="http://schemas.openxmlformats.org/drawingml/2006/main">
            <a:r>
              <a:t/>
            </a:r>
          </a:p>
          <a:p xmlns:a="http://schemas.openxmlformats.org/drawingml/2006/main">
            <a:pPr>
              <a:defRPr sz="2100" b="0">
                <a:solidFill>
                  <a:srgbClr val="403F3B"/>
                </a:solidFill>
                <a:latin typeface="DejaVu Sans"/>
                <a:ea typeface="DejaVu Sans"/>
                <a:cs typeface="DejaVu Sans"/>
              </a:defRPr>
            </a:pPr>
            <a:r>
              <a:rPr sz="2100" b="0">
                <a:solidFill>
                  <a:srgbClr val="403F3B"/>
                </a:solidFill>
                <a:latin typeface="DejaVu Sans"/>
                <a:ea typeface="DejaVu Sans"/>
                <a:cs typeface="DejaVu Sans"/>
              </a:rPr>
              <a:t>Cambiar un dato y anticipar la nueva salida.</a:t>
            </a:r>
          </a:p>
        </p:txBody>
      </p:sp>
    </p:spTree>
    <p:extLst>
      <p:ext uri="{BB962C8B-B14F-4D97-AF65-F5344CB8AC3E}">
        <p14:creationId xmlns:p14="http://schemas.microsoft.com/office/powerpoint/2010/main" val="1041428007"/>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5DAC3AA9-3750-42AF-A8F7-3286AABCDE44}"/>
              </a:ext>
            </a:extLst>
          </p:cNvPr>
          <p:cNvSpPr>
            <a:spLocks xmlns:a="http://schemas.openxmlformats.org/drawingml/2006/main" noGrp="1"/>
          </p:cNvSpPr>
          <p:nvPr/>
        </p:nvSpPr>
        <p:spPr>
          <a:xfrm xmlns:a="http://schemas.openxmlformats.org/drawingml/2006/main">
            <a:off x="533400" y="457200"/>
            <a:ext cx="47625" cy="43815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81F67F9-5B03-4616-8441-4DDEE4DD5369}"/>
              </a:ext>
            </a:extLst>
          </p:cNvPr>
          <p:cNvSpPr>
            <a:spLocks xmlns:a="http://schemas.openxmlformats.org/drawingml/2006/main" noGrp="1"/>
          </p:cNvSpPr>
          <p:nvPr/>
        </p:nvSpPr>
        <p:spPr>
          <a:xfrm xmlns:a="http://schemas.openxmlformats.org/drawingml/2006/main">
            <a:off x="809625" y="428625"/>
            <a:ext cx="10668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925" b="1">
                <a:solidFill>
                  <a:srgbClr val="003772"/>
                </a:solidFill>
                <a:latin typeface="DejaVu Sans"/>
                <a:ea typeface="DejaVu Sans"/>
                <a:cs typeface="DejaVu Sans"/>
              </a:defRPr>
            </a:pPr>
            <a:r>
              <a:rPr sz="2925" b="1">
                <a:solidFill>
                  <a:srgbClr val="003772"/>
                </a:solidFill>
                <a:latin typeface="DejaVu Sans"/>
                <a:ea typeface="DejaVu Sans"/>
                <a:cs typeface="DejaVu Sans"/>
              </a:rPr>
              <a:t>Ejercicio práctico · Área de triángulo</a:t>
            </a:r>
          </a:p>
        </p:txBody>
      </p:sp>
      <p:sp>
        <p:nvSpPr>
          <p:cNvPr id="3" name="">
            <a:extLst xmlns:a="http://schemas.openxmlformats.org/drawingml/2006/main">
              <a:ext uri="{FF2B5EF4-FFF2-40B4-BE49-F238E27FC236}">
                <a16:creationId xmlns:a16="http://schemas.microsoft.com/office/drawing/2014/main" id="{21A00A8B-60A6-4916-BBA5-9E24BA8BDD40}"/>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8DFE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0742D220-09F7-46CB-87A8-25281D22ADC2}"/>
              </a:ext>
            </a:extLst>
          </p:cNvPr>
          <p:cNvSpPr>
            <a:spLocks xmlns:a="http://schemas.openxmlformats.org/drawingml/2006/main" noGrp="1"/>
          </p:cNvSpPr>
          <p:nvPr/>
        </p:nvSpPr>
        <p:spPr>
          <a:xfrm xmlns:a="http://schemas.openxmlformats.org/drawingml/2006/main">
            <a:off x="695325" y="6381750"/>
            <a:ext cx="923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5C5B5F"/>
                </a:solidFill>
                <a:latin typeface="DejaVu Sans"/>
                <a:ea typeface="DejaVu Sans"/>
                <a:cs typeface="DejaVu Sans"/>
              </a:defRPr>
            </a:pPr>
            <a:r>
              <a:rPr sz="1200" b="0">
                <a:solidFill>
                  <a:srgbClr val="5C5B5F"/>
                </a:solidFill>
                <a:latin typeface="DejaVu Sans"/>
                <a:ea typeface="DejaVu Sans"/>
                <a:cs typeface="DejaVu Sans"/>
              </a:rPr>
              <a:t>Programación · 3.02</a:t>
            </a:r>
          </a:p>
        </p:txBody>
      </p:sp>
      <p:sp>
        <p:nvSpPr>
          <p:cNvPr id="5" name="">
            <a:extLst xmlns:a="http://schemas.openxmlformats.org/drawingml/2006/main">
              <a:ext uri="{FF2B5EF4-FFF2-40B4-BE49-F238E27FC236}">
                <a16:creationId xmlns:a16="http://schemas.microsoft.com/office/drawing/2014/main" id="{12892F19-A660-4162-976D-C602EE8F2285}"/>
              </a:ext>
            </a:extLst>
          </p:cNvPr>
          <p:cNvSpPr>
            <a:spLocks xmlns:a="http://schemas.openxmlformats.org/drawingml/2006/main" noGrp="1"/>
          </p:cNvSpPr>
          <p:nvPr/>
        </p:nvSpPr>
        <p:spPr>
          <a:xfrm xmlns:a="http://schemas.openxmlformats.org/drawingml/2006/main">
            <a:off x="11049000" y="6381750"/>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5C5B5F"/>
                </a:solidFill>
                <a:latin typeface="DejaVu Sans"/>
                <a:ea typeface="DejaVu Sans"/>
                <a:cs typeface="DejaVu Sans"/>
              </a:defRPr>
            </a:pPr>
            <a:r>
              <a:rPr sz="1200" b="0">
                <a:solidFill>
                  <a:srgbClr val="5C5B5F"/>
                </a:solidFill>
                <a:latin typeface="DejaVu Sans"/>
                <a:ea typeface="DejaVu Sans"/>
                <a:cs typeface="DejaVu Sans"/>
              </a:rPr>
              <a:t>10</a:t>
            </a:r>
          </a:p>
        </p:txBody>
      </p:sp>
      <p:sp>
        <p:nvSpPr>
          <p:cNvPr id="6" name="">
            <a:extLst xmlns:a="http://schemas.openxmlformats.org/drawingml/2006/main">
              <a:ext uri="{FF2B5EF4-FFF2-40B4-BE49-F238E27FC236}">
                <a16:creationId xmlns:a16="http://schemas.microsoft.com/office/drawing/2014/main" id="{9AA4C1CA-2ADD-4AAE-AAC1-EEEEB8D7EFB5}"/>
              </a:ext>
            </a:extLst>
          </p:cNvPr>
          <p:cNvSpPr>
            <a:spLocks xmlns:a="http://schemas.openxmlformats.org/drawingml/2006/main" noGrp="1"/>
          </p:cNvSpPr>
          <p:nvPr/>
        </p:nvSpPr>
        <p:spPr>
          <a:xfrm xmlns:a="http://schemas.openxmlformats.org/drawingml/2006/main">
            <a:off x="819150" y="1714500"/>
            <a:ext cx="1047750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325" b="0">
                <a:solidFill>
                  <a:srgbClr val="403F3B"/>
                </a:solidFill>
                <a:latin typeface="DejaVu Sans"/>
                <a:ea typeface="DejaVu Sans"/>
                <a:cs typeface="DejaVu Sans"/>
              </a:defRPr>
            </a:pPr>
            <a:r>
              <a:rPr sz="2325" b="0">
                <a:solidFill>
                  <a:srgbClr val="403F3B"/>
                </a:solidFill>
                <a:latin typeface="DejaVu Sans"/>
                <a:ea typeface="DejaVu Sans"/>
                <a:cs typeface="DejaVu Sans"/>
              </a:rPr>
              <a:t>Leer base y altura positivas. Para 10.5 y 4 mostrar área con dos decimales.</a:t>
            </a:r>
          </a:p>
        </p:txBody>
      </p:sp>
      <p:sp>
        <p:nvSpPr>
          <p:cNvPr id="7" name="">
            <a:extLst xmlns:a="http://schemas.openxmlformats.org/drawingml/2006/main">
              <a:ext uri="{FF2B5EF4-FFF2-40B4-BE49-F238E27FC236}">
                <a16:creationId xmlns:a16="http://schemas.microsoft.com/office/drawing/2014/main" id="{28221D42-CC52-43D6-9007-774A29912F89}"/>
              </a:ext>
            </a:extLst>
          </p:cNvPr>
          <p:cNvSpPr>
            <a:spLocks xmlns:a="http://schemas.openxmlformats.org/drawingml/2006/main" noGrp="1"/>
          </p:cNvSpPr>
          <p:nvPr/>
        </p:nvSpPr>
        <p:spPr>
          <a:xfrm xmlns:a="http://schemas.openxmlformats.org/drawingml/2006/main">
            <a:off x="819150" y="42862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1">
                <a:solidFill>
                  <a:srgbClr val="003772"/>
                </a:solidFill>
                <a:latin typeface="DejaVu Sans"/>
                <a:ea typeface="DejaVu Sans"/>
                <a:cs typeface="DejaVu Sans"/>
              </a:defRPr>
            </a:pPr>
            <a:r>
              <a:rPr sz="1950" b="1">
                <a:solidFill>
                  <a:srgbClr val="003772"/>
                </a:solidFill>
                <a:latin typeface="DejaVu Sans"/>
                <a:ea typeface="DejaVu Sans"/>
                <a:cs typeface="DejaVu Sans"/>
              </a:rPr>
              <a:t>Resultado de comprobación</a:t>
            </a:r>
          </a:p>
        </p:txBody>
      </p:sp>
      <p:sp>
        <p:nvSpPr>
          <p:cNvPr id="8" name="">
            <a:extLst xmlns:a="http://schemas.openxmlformats.org/drawingml/2006/main">
              <a:ext uri="{FF2B5EF4-FFF2-40B4-BE49-F238E27FC236}">
                <a16:creationId xmlns:a16="http://schemas.microsoft.com/office/drawing/2014/main" id="{C116E869-4C93-4A5A-8BBE-73A8DFBC62B2}"/>
              </a:ext>
            </a:extLst>
          </p:cNvPr>
          <p:cNvSpPr>
            <a:spLocks xmlns:a="http://schemas.openxmlformats.org/drawingml/2006/main" noGrp="1"/>
          </p:cNvSpPr>
          <p:nvPr/>
        </p:nvSpPr>
        <p:spPr>
          <a:xfrm xmlns:a="http://schemas.openxmlformats.org/drawingml/2006/main">
            <a:off x="819150" y="4857750"/>
            <a:ext cx="10477500" cy="952500"/>
          </a:xfrm>
          <a:prstGeom xmlns:a="http://schemas.openxmlformats.org/drawingml/2006/main" prst="rect">
            <a:avLst/>
          </a:prstGeom>
          <a:solidFill xmlns:a="http://schemas.openxmlformats.org/drawingml/2006/main">
            <a:srgbClr val="F3F3FA"/>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0">
                <a:solidFill>
                  <a:srgbClr val="403F3B"/>
                </a:solidFill>
                <a:latin typeface="DejaVu Sans"/>
                <a:ea typeface="DejaVu Sans"/>
                <a:cs typeface="DejaVu Sans"/>
              </a:defRPr>
            </a:pPr>
            <a:r>
              <a:rPr sz="2100" b="0">
                <a:solidFill>
                  <a:srgbClr val="403F3B"/>
                </a:solidFill>
                <a:latin typeface="DejaVu Sans"/>
                <a:ea typeface="DejaVu Sans"/>
                <a:cs typeface="DejaVu Sans"/>
              </a:rPr>
              <a:t>21.00</a:t>
            </a:r>
          </a:p>
        </p:txBody>
      </p:sp>
    </p:spTree>
    <p:extLst>
      <p:ext uri="{BB962C8B-B14F-4D97-AF65-F5344CB8AC3E}">
        <p14:creationId xmlns:p14="http://schemas.microsoft.com/office/powerpoint/2010/main" val="650502532"/>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9D04869-9B98-4D30-B1F1-5E22A60EAE83}"/>
              </a:ext>
            </a:extLst>
          </p:cNvPr>
          <p:cNvSpPr>
            <a:spLocks xmlns:a="http://schemas.openxmlformats.org/drawingml/2006/main" noGrp="1"/>
          </p:cNvSpPr>
          <p:nvPr/>
        </p:nvSpPr>
        <p:spPr>
          <a:xfrm xmlns:a="http://schemas.openxmlformats.org/drawingml/2006/main">
            <a:off x="533400" y="457200"/>
            <a:ext cx="47625" cy="43815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EC8089C-BEF0-4954-9F09-AD91B907BD13}"/>
              </a:ext>
            </a:extLst>
          </p:cNvPr>
          <p:cNvSpPr>
            <a:spLocks xmlns:a="http://schemas.openxmlformats.org/drawingml/2006/main" noGrp="1"/>
          </p:cNvSpPr>
          <p:nvPr/>
        </p:nvSpPr>
        <p:spPr>
          <a:xfrm xmlns:a="http://schemas.openxmlformats.org/drawingml/2006/main">
            <a:off x="809625" y="428625"/>
            <a:ext cx="10668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925" b="1">
                <a:solidFill>
                  <a:srgbClr val="003772"/>
                </a:solidFill>
                <a:latin typeface="DejaVu Sans"/>
                <a:ea typeface="DejaVu Sans"/>
                <a:cs typeface="DejaVu Sans"/>
              </a:defRPr>
            </a:pPr>
            <a:r>
              <a:rPr sz="2925" b="1">
                <a:solidFill>
                  <a:srgbClr val="003772"/>
                </a:solidFill>
                <a:latin typeface="DejaVu Sans"/>
                <a:ea typeface="DejaVu Sans"/>
                <a:cs typeface="DejaVu Sans"/>
              </a:rPr>
              <a:t>PC3.02 · Problema y restricciones</a:t>
            </a:r>
          </a:p>
        </p:txBody>
      </p:sp>
      <p:sp>
        <p:nvSpPr>
          <p:cNvPr id="3" name="">
            <a:extLst xmlns:a="http://schemas.openxmlformats.org/drawingml/2006/main">
              <a:ext uri="{FF2B5EF4-FFF2-40B4-BE49-F238E27FC236}">
                <a16:creationId xmlns:a16="http://schemas.microsoft.com/office/drawing/2014/main" id="{CD88AA88-F793-4C35-85A5-488CB9879EE4}"/>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8DFE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40100002-4112-4915-B775-9EA835FEF908}"/>
              </a:ext>
            </a:extLst>
          </p:cNvPr>
          <p:cNvSpPr>
            <a:spLocks xmlns:a="http://schemas.openxmlformats.org/drawingml/2006/main" noGrp="1"/>
          </p:cNvSpPr>
          <p:nvPr/>
        </p:nvSpPr>
        <p:spPr>
          <a:xfrm xmlns:a="http://schemas.openxmlformats.org/drawingml/2006/main">
            <a:off x="695325" y="6381750"/>
            <a:ext cx="923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5C5B5F"/>
                </a:solidFill>
                <a:latin typeface="DejaVu Sans"/>
                <a:ea typeface="DejaVu Sans"/>
                <a:cs typeface="DejaVu Sans"/>
              </a:defRPr>
            </a:pPr>
            <a:r>
              <a:rPr sz="1200" b="0">
                <a:solidFill>
                  <a:srgbClr val="5C5B5F"/>
                </a:solidFill>
                <a:latin typeface="DejaVu Sans"/>
                <a:ea typeface="DejaVu Sans"/>
                <a:cs typeface="DejaVu Sans"/>
              </a:rPr>
              <a:t>Programación · 3.02</a:t>
            </a:r>
          </a:p>
        </p:txBody>
      </p:sp>
      <p:sp>
        <p:nvSpPr>
          <p:cNvPr id="5" name="">
            <a:extLst xmlns:a="http://schemas.openxmlformats.org/drawingml/2006/main">
              <a:ext uri="{FF2B5EF4-FFF2-40B4-BE49-F238E27FC236}">
                <a16:creationId xmlns:a16="http://schemas.microsoft.com/office/drawing/2014/main" id="{1AB99356-8D38-4412-BEFD-C70D2794F162}"/>
              </a:ext>
            </a:extLst>
          </p:cNvPr>
          <p:cNvSpPr>
            <a:spLocks xmlns:a="http://schemas.openxmlformats.org/drawingml/2006/main" noGrp="1"/>
          </p:cNvSpPr>
          <p:nvPr/>
        </p:nvSpPr>
        <p:spPr>
          <a:xfrm xmlns:a="http://schemas.openxmlformats.org/drawingml/2006/main">
            <a:off x="11049000" y="6381750"/>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5C5B5F"/>
                </a:solidFill>
                <a:latin typeface="DejaVu Sans"/>
                <a:ea typeface="DejaVu Sans"/>
                <a:cs typeface="DejaVu Sans"/>
              </a:defRPr>
            </a:pPr>
            <a:r>
              <a:rPr sz="1200" b="0">
                <a:solidFill>
                  <a:srgbClr val="5C5B5F"/>
                </a:solidFill>
                <a:latin typeface="DejaVu Sans"/>
                <a:ea typeface="DejaVu Sans"/>
                <a:cs typeface="DejaVu Sans"/>
              </a:rPr>
              <a:t>11</a:t>
            </a:r>
          </a:p>
        </p:txBody>
      </p:sp>
      <p:sp>
        <p:nvSpPr>
          <p:cNvPr id="6" name="">
            <a:extLst xmlns:a="http://schemas.openxmlformats.org/drawingml/2006/main">
              <a:ext uri="{FF2B5EF4-FFF2-40B4-BE49-F238E27FC236}">
                <a16:creationId xmlns:a16="http://schemas.microsoft.com/office/drawing/2014/main" id="{BE9CF44F-545E-40F6-8A25-4586F4BFF9BB}"/>
              </a:ext>
            </a:extLst>
          </p:cNvPr>
          <p:cNvSpPr>
            <a:spLocks xmlns:a="http://schemas.openxmlformats.org/drawingml/2006/main" noGrp="1"/>
          </p:cNvSpPr>
          <p:nvPr/>
        </p:nvSpPr>
        <p:spPr>
          <a:xfrm xmlns:a="http://schemas.openxmlformats.org/drawingml/2006/main">
            <a:off x="819150" y="1571625"/>
            <a:ext cx="10572750"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250" b="0">
                <a:solidFill>
                  <a:srgbClr val="403F3B"/>
                </a:solidFill>
                <a:latin typeface="DejaVu Sans"/>
                <a:ea typeface="DejaVu Sans"/>
                <a:cs typeface="DejaVu Sans"/>
              </a:defRPr>
            </a:pPr>
            <a:r>
              <a:rPr sz="2250" b="0">
                <a:solidFill>
                  <a:srgbClr val="403F3B"/>
                </a:solidFill>
                <a:latin typeface="DejaVu Sans"/>
                <a:ea typeface="DejaVu Sans"/>
                <a:cs typeface="DejaVu Sans"/>
              </a:rPr>
              <a:t>Leer nombre de un servicio, cantidad de horas y tarifa por hora. Calcular subtotal, descuento porcentual y total. Solicitar el descuento como cuarto dato numérico. Definir horas y tarifa no negativas y descuento entre 0 y 100 como precondiciones. Mostrar importes con dos decimales. Documentar el error obtenido al ingresar texto donde se requiere un número, sin añadir todavía recuperación mediante excepciones.</a:t>
            </a:r>
          </a:p>
        </p:txBody>
      </p:sp>
      <p:sp>
        <p:nvSpPr>
          <p:cNvPr id="7" name="">
            <a:extLst xmlns:a="http://schemas.openxmlformats.org/drawingml/2006/main">
              <a:ext uri="{FF2B5EF4-FFF2-40B4-BE49-F238E27FC236}">
                <a16:creationId xmlns:a16="http://schemas.microsoft.com/office/drawing/2014/main" id="{B243769D-DF9A-4894-A8BE-8032CD7B2F5C}"/>
              </a:ext>
            </a:extLst>
          </p:cNvPr>
          <p:cNvSpPr>
            <a:spLocks xmlns:a="http://schemas.openxmlformats.org/drawingml/2006/main" noGrp="1"/>
          </p:cNvSpPr>
          <p:nvPr/>
        </p:nvSpPr>
        <p:spPr>
          <a:xfrm xmlns:a="http://schemas.openxmlformats.org/drawingml/2006/main">
            <a:off x="819150" y="5476875"/>
            <a:ext cx="1057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1">
                <a:solidFill>
                  <a:srgbClr val="003772"/>
                </a:solidFill>
                <a:latin typeface="DejaVu Sans"/>
                <a:ea typeface="DejaVu Sans"/>
                <a:cs typeface="DejaVu Sans"/>
              </a:defRPr>
            </a:pPr>
            <a:r>
              <a:rPr sz="1875" b="1">
                <a:solidFill>
                  <a:srgbClr val="003772"/>
                </a:solidFill>
                <a:latin typeface="DejaVu Sans"/>
                <a:ea typeface="DejaVu Sans"/>
                <a:cs typeface="DejaVu Sans"/>
              </a:rPr>
              <a:t>Resolver de forma autónoma y registrar evidencia real.</a:t>
            </a:r>
          </a:p>
        </p:txBody>
      </p:sp>
    </p:spTree>
    <p:extLst>
      <p:ext uri="{BB962C8B-B14F-4D97-AF65-F5344CB8AC3E}">
        <p14:creationId xmlns:p14="http://schemas.microsoft.com/office/powerpoint/2010/main" val="1841046761"/>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3FBB2A10-48B7-412E-823D-61E169E1C151}"/>
              </a:ext>
            </a:extLst>
          </p:cNvPr>
          <p:cNvSpPr>
            <a:spLocks xmlns:a="http://schemas.openxmlformats.org/drawingml/2006/main" noGrp="1"/>
          </p:cNvSpPr>
          <p:nvPr/>
        </p:nvSpPr>
        <p:spPr>
          <a:xfrm xmlns:a="http://schemas.openxmlformats.org/drawingml/2006/main">
            <a:off x="533400" y="457200"/>
            <a:ext cx="47625" cy="43815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F141812-11C3-4505-B674-4303CEF09F94}"/>
              </a:ext>
            </a:extLst>
          </p:cNvPr>
          <p:cNvSpPr>
            <a:spLocks xmlns:a="http://schemas.openxmlformats.org/drawingml/2006/main" noGrp="1"/>
          </p:cNvSpPr>
          <p:nvPr/>
        </p:nvSpPr>
        <p:spPr>
          <a:xfrm xmlns:a="http://schemas.openxmlformats.org/drawingml/2006/main">
            <a:off x="809625" y="428625"/>
            <a:ext cx="10668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925" b="1">
                <a:solidFill>
                  <a:srgbClr val="003772"/>
                </a:solidFill>
                <a:latin typeface="DejaVu Sans"/>
                <a:ea typeface="DejaVu Sans"/>
                <a:cs typeface="DejaVu Sans"/>
              </a:defRPr>
            </a:pPr>
            <a:r>
              <a:rPr sz="2925" b="1">
                <a:solidFill>
                  <a:srgbClr val="003772"/>
                </a:solidFill>
                <a:latin typeface="DejaVu Sans"/>
                <a:ea typeface="DejaVu Sans"/>
                <a:cs typeface="DejaVu Sans"/>
              </a:rPr>
              <a:t>PC3.02 · Casos de aceptación</a:t>
            </a:r>
          </a:p>
        </p:txBody>
      </p:sp>
      <p:sp>
        <p:nvSpPr>
          <p:cNvPr id="3" name="">
            <a:extLst xmlns:a="http://schemas.openxmlformats.org/drawingml/2006/main">
              <a:ext uri="{FF2B5EF4-FFF2-40B4-BE49-F238E27FC236}">
                <a16:creationId xmlns:a16="http://schemas.microsoft.com/office/drawing/2014/main" id="{ECD84184-0F6B-46D3-814C-291F0C78B916}"/>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8DFE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BA570B9B-0691-4304-8CF3-69C33C83B4D1}"/>
              </a:ext>
            </a:extLst>
          </p:cNvPr>
          <p:cNvSpPr>
            <a:spLocks xmlns:a="http://schemas.openxmlformats.org/drawingml/2006/main" noGrp="1"/>
          </p:cNvSpPr>
          <p:nvPr/>
        </p:nvSpPr>
        <p:spPr>
          <a:xfrm xmlns:a="http://schemas.openxmlformats.org/drawingml/2006/main">
            <a:off x="695325" y="6381750"/>
            <a:ext cx="923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5C5B5F"/>
                </a:solidFill>
                <a:latin typeface="DejaVu Sans"/>
                <a:ea typeface="DejaVu Sans"/>
                <a:cs typeface="DejaVu Sans"/>
              </a:defRPr>
            </a:pPr>
            <a:r>
              <a:rPr sz="1200" b="0">
                <a:solidFill>
                  <a:srgbClr val="5C5B5F"/>
                </a:solidFill>
                <a:latin typeface="DejaVu Sans"/>
                <a:ea typeface="DejaVu Sans"/>
                <a:cs typeface="DejaVu Sans"/>
              </a:rPr>
              <a:t>Programación · 3.02</a:t>
            </a:r>
          </a:p>
        </p:txBody>
      </p:sp>
      <p:sp>
        <p:nvSpPr>
          <p:cNvPr id="5" name="">
            <a:extLst xmlns:a="http://schemas.openxmlformats.org/drawingml/2006/main">
              <a:ext uri="{FF2B5EF4-FFF2-40B4-BE49-F238E27FC236}">
                <a16:creationId xmlns:a16="http://schemas.microsoft.com/office/drawing/2014/main" id="{4E0F2A08-8CBA-46E2-8F2C-41AD0B4467E8}"/>
              </a:ext>
            </a:extLst>
          </p:cNvPr>
          <p:cNvSpPr>
            <a:spLocks xmlns:a="http://schemas.openxmlformats.org/drawingml/2006/main" noGrp="1"/>
          </p:cNvSpPr>
          <p:nvPr/>
        </p:nvSpPr>
        <p:spPr>
          <a:xfrm xmlns:a="http://schemas.openxmlformats.org/drawingml/2006/main">
            <a:off x="11049000" y="6381750"/>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5C5B5F"/>
                </a:solidFill>
                <a:latin typeface="DejaVu Sans"/>
                <a:ea typeface="DejaVu Sans"/>
                <a:cs typeface="DejaVu Sans"/>
              </a:defRPr>
            </a:pPr>
            <a:r>
              <a:rPr sz="1200" b="0">
                <a:solidFill>
                  <a:srgbClr val="5C5B5F"/>
                </a:solidFill>
                <a:latin typeface="DejaVu Sans"/>
                <a:ea typeface="DejaVu Sans"/>
                <a:cs typeface="DejaVu Sans"/>
              </a:rPr>
              <a:t>12</a:t>
            </a:r>
          </a:p>
        </p:txBody>
      </p:sp>
      <p:sp>
        <p:nvSpPr>
          <p:cNvPr id="6" name="">
            <a:extLst xmlns:a="http://schemas.openxmlformats.org/drawingml/2006/main">
              <a:ext uri="{FF2B5EF4-FFF2-40B4-BE49-F238E27FC236}">
                <a16:creationId xmlns:a16="http://schemas.microsoft.com/office/drawing/2014/main" id="{160F1C71-7DA8-4115-A36F-D317A48D00C7}"/>
              </a:ext>
            </a:extLst>
          </p:cNvPr>
          <p:cNvSpPr>
            <a:spLocks xmlns:a="http://schemas.openxmlformats.org/drawingml/2006/main" noGrp="1"/>
          </p:cNvSpPr>
          <p:nvPr/>
        </p:nvSpPr>
        <p:spPr>
          <a:xfrm xmlns:a="http://schemas.openxmlformats.org/drawingml/2006/main">
            <a:off x="819150" y="1619250"/>
            <a:ext cx="46672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003772"/>
                </a:solidFill>
                <a:latin typeface="DejaVu Sans"/>
                <a:ea typeface="DejaVu Sans"/>
                <a:cs typeface="DejaVu Sans"/>
              </a:defRPr>
            </a:pPr>
            <a:r>
              <a:rPr sz="1875" b="0">
                <a:solidFill>
                  <a:srgbClr val="003772"/>
                </a:solidFill>
                <a:latin typeface="DejaVu Sans"/>
                <a:ea typeface="DejaVu Sans"/>
                <a:cs typeface="DejaVu Sans"/>
              </a:rPr>
              <a:t>Tutoría, 4, 10, 25</a:t>
            </a:r>
          </a:p>
        </p:txBody>
      </p:sp>
      <p:sp>
        <p:nvSpPr>
          <p:cNvPr id="7" name="">
            <a:extLst xmlns:a="http://schemas.openxmlformats.org/drawingml/2006/main">
              <a:ext uri="{FF2B5EF4-FFF2-40B4-BE49-F238E27FC236}">
                <a16:creationId xmlns:a16="http://schemas.microsoft.com/office/drawing/2014/main" id="{D3022072-8A4A-4142-ACFB-D5A37E2312F7}"/>
              </a:ext>
            </a:extLst>
          </p:cNvPr>
          <p:cNvSpPr>
            <a:spLocks xmlns:a="http://schemas.openxmlformats.org/drawingml/2006/main" noGrp="1"/>
          </p:cNvSpPr>
          <p:nvPr/>
        </p:nvSpPr>
        <p:spPr>
          <a:xfrm xmlns:a="http://schemas.openxmlformats.org/drawingml/2006/main">
            <a:off x="5953125" y="1619250"/>
            <a:ext cx="54292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403F3B"/>
                </a:solidFill>
                <a:latin typeface="DejaVu Sans"/>
                <a:ea typeface="DejaVu Sans"/>
                <a:cs typeface="DejaVu Sans"/>
              </a:defRPr>
            </a:pPr>
            <a:r>
              <a:rPr sz="1875" b="0">
                <a:solidFill>
                  <a:srgbClr val="403F3B"/>
                </a:solidFill>
                <a:latin typeface="DejaVu Sans"/>
                <a:ea typeface="DejaVu Sans"/>
                <a:cs typeface="DejaVu Sans"/>
              </a:rPr>
              <a:t>subtotal 40.00; descuento 10.00; total 30.00</a:t>
            </a:r>
          </a:p>
        </p:txBody>
      </p:sp>
      <p:sp>
        <p:nvSpPr>
          <p:cNvPr id="8" name="">
            <a:extLst xmlns:a="http://schemas.openxmlformats.org/drawingml/2006/main">
              <a:ext uri="{FF2B5EF4-FFF2-40B4-BE49-F238E27FC236}">
                <a16:creationId xmlns:a16="http://schemas.microsoft.com/office/drawing/2014/main" id="{2BEBC6E4-FADE-4767-A1B1-25C8AAB04D99}"/>
              </a:ext>
            </a:extLst>
          </p:cNvPr>
          <p:cNvSpPr>
            <a:spLocks xmlns:a="http://schemas.openxmlformats.org/drawingml/2006/main" noGrp="1"/>
          </p:cNvSpPr>
          <p:nvPr/>
        </p:nvSpPr>
        <p:spPr>
          <a:xfrm xmlns:a="http://schemas.openxmlformats.org/drawingml/2006/main">
            <a:off x="819150" y="2600325"/>
            <a:ext cx="46672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003772"/>
                </a:solidFill>
                <a:latin typeface="DejaVu Sans"/>
                <a:ea typeface="DejaVu Sans"/>
                <a:cs typeface="DejaVu Sans"/>
              </a:defRPr>
            </a:pPr>
            <a:r>
              <a:rPr sz="1875" b="0">
                <a:solidFill>
                  <a:srgbClr val="003772"/>
                </a:solidFill>
                <a:latin typeface="DejaVu Sans"/>
                <a:ea typeface="DejaVu Sans"/>
                <a:cs typeface="DejaVu Sans"/>
              </a:rPr>
              <a:t>Tutoría, 0, 10, 0</a:t>
            </a:r>
          </a:p>
        </p:txBody>
      </p:sp>
      <p:sp>
        <p:nvSpPr>
          <p:cNvPr id="9" name="">
            <a:extLst xmlns:a="http://schemas.openxmlformats.org/drawingml/2006/main">
              <a:ext uri="{FF2B5EF4-FFF2-40B4-BE49-F238E27FC236}">
                <a16:creationId xmlns:a16="http://schemas.microsoft.com/office/drawing/2014/main" id="{3BC99FF8-6032-47D6-8937-7628BC942EDD}"/>
              </a:ext>
            </a:extLst>
          </p:cNvPr>
          <p:cNvSpPr>
            <a:spLocks xmlns:a="http://schemas.openxmlformats.org/drawingml/2006/main" noGrp="1"/>
          </p:cNvSpPr>
          <p:nvPr/>
        </p:nvSpPr>
        <p:spPr>
          <a:xfrm xmlns:a="http://schemas.openxmlformats.org/drawingml/2006/main">
            <a:off x="5953125" y="2600325"/>
            <a:ext cx="54292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403F3B"/>
                </a:solidFill>
                <a:latin typeface="DejaVu Sans"/>
                <a:ea typeface="DejaVu Sans"/>
                <a:cs typeface="DejaVu Sans"/>
              </a:defRPr>
            </a:pPr>
            <a:r>
              <a:rPr sz="1875" b="0">
                <a:solidFill>
                  <a:srgbClr val="403F3B"/>
                </a:solidFill>
                <a:latin typeface="DejaVu Sans"/>
                <a:ea typeface="DejaVu Sans"/>
                <a:cs typeface="DejaVu Sans"/>
              </a:rPr>
              <a:t>total 0.00</a:t>
            </a:r>
          </a:p>
        </p:txBody>
      </p:sp>
      <p:sp>
        <p:nvSpPr>
          <p:cNvPr id="10" name="">
            <a:extLst xmlns:a="http://schemas.openxmlformats.org/drawingml/2006/main">
              <a:ext uri="{FF2B5EF4-FFF2-40B4-BE49-F238E27FC236}">
                <a16:creationId xmlns:a16="http://schemas.microsoft.com/office/drawing/2014/main" id="{FAC47AF9-6E15-48D9-B1F5-73E7852C50D9}"/>
              </a:ext>
            </a:extLst>
          </p:cNvPr>
          <p:cNvSpPr>
            <a:spLocks xmlns:a="http://schemas.openxmlformats.org/drawingml/2006/main" noGrp="1"/>
          </p:cNvSpPr>
          <p:nvPr/>
        </p:nvSpPr>
        <p:spPr>
          <a:xfrm xmlns:a="http://schemas.openxmlformats.org/drawingml/2006/main">
            <a:off x="819150" y="3581400"/>
            <a:ext cx="46672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003772"/>
                </a:solidFill>
                <a:latin typeface="DejaVu Sans"/>
                <a:ea typeface="DejaVu Sans"/>
                <a:cs typeface="DejaVu Sans"/>
              </a:defRPr>
            </a:pPr>
            <a:r>
              <a:rPr sz="1875" b="0">
                <a:solidFill>
                  <a:srgbClr val="003772"/>
                </a:solidFill>
                <a:latin typeface="DejaVu Sans"/>
                <a:ea typeface="DejaVu Sans"/>
                <a:cs typeface="DejaVu Sans"/>
              </a:rPr>
              <a:t>horas=abc</a:t>
            </a:r>
          </a:p>
        </p:txBody>
      </p:sp>
      <p:sp>
        <p:nvSpPr>
          <p:cNvPr id="11" name="">
            <a:extLst xmlns:a="http://schemas.openxmlformats.org/drawingml/2006/main">
              <a:ext uri="{FF2B5EF4-FFF2-40B4-BE49-F238E27FC236}">
                <a16:creationId xmlns:a16="http://schemas.microsoft.com/office/drawing/2014/main" id="{BD572A66-57DB-48F5-A2FA-4700FE6C511D}"/>
              </a:ext>
            </a:extLst>
          </p:cNvPr>
          <p:cNvSpPr>
            <a:spLocks xmlns:a="http://schemas.openxmlformats.org/drawingml/2006/main" noGrp="1"/>
          </p:cNvSpPr>
          <p:nvPr/>
        </p:nvSpPr>
        <p:spPr>
          <a:xfrm xmlns:a="http://schemas.openxmlformats.org/drawingml/2006/main">
            <a:off x="5953125" y="3581400"/>
            <a:ext cx="54292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403F3B"/>
                </a:solidFill>
                <a:latin typeface="DejaVu Sans"/>
                <a:ea typeface="DejaVu Sans"/>
                <a:cs typeface="DejaVu Sans"/>
              </a:defRPr>
            </a:pPr>
            <a:r>
              <a:rPr sz="1875" b="0">
                <a:solidFill>
                  <a:srgbClr val="403F3B"/>
                </a:solidFill>
                <a:latin typeface="DejaVu Sans"/>
                <a:ea typeface="DejaVu Sans"/>
                <a:cs typeface="DejaVu Sans"/>
              </a:rPr>
              <a:t>error de conversión documentado</a:t>
            </a:r>
          </a:p>
        </p:txBody>
      </p:sp>
    </p:spTree>
    <p:extLst>
      <p:ext uri="{BB962C8B-B14F-4D97-AF65-F5344CB8AC3E}">
        <p14:creationId xmlns:p14="http://schemas.microsoft.com/office/powerpoint/2010/main" val="1405499952"/>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664122CE-6A9B-4C0E-89B6-BABE9127030C}"/>
              </a:ext>
            </a:extLst>
          </p:cNvPr>
          <p:cNvSpPr>
            <a:spLocks xmlns:a="http://schemas.openxmlformats.org/drawingml/2006/main" noGrp="1"/>
          </p:cNvSpPr>
          <p:nvPr/>
        </p:nvSpPr>
        <p:spPr>
          <a:xfrm xmlns:a="http://schemas.openxmlformats.org/drawingml/2006/main">
            <a:off x="533400" y="457200"/>
            <a:ext cx="47625" cy="43815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D43D424-4E93-4190-95B5-26AE3BB85B80}"/>
              </a:ext>
            </a:extLst>
          </p:cNvPr>
          <p:cNvSpPr>
            <a:spLocks xmlns:a="http://schemas.openxmlformats.org/drawingml/2006/main" noGrp="1"/>
          </p:cNvSpPr>
          <p:nvPr/>
        </p:nvSpPr>
        <p:spPr>
          <a:xfrm xmlns:a="http://schemas.openxmlformats.org/drawingml/2006/main">
            <a:off x="809625" y="428625"/>
            <a:ext cx="10668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925" b="1">
                <a:solidFill>
                  <a:srgbClr val="003772"/>
                </a:solidFill>
                <a:latin typeface="DejaVu Sans"/>
                <a:ea typeface="DejaVu Sans"/>
                <a:cs typeface="DejaVu Sans"/>
              </a:defRPr>
            </a:pPr>
            <a:r>
              <a:rPr sz="2925" b="1">
                <a:solidFill>
                  <a:srgbClr val="003772"/>
                </a:solidFill>
                <a:latin typeface="DejaVu Sans"/>
                <a:ea typeface="DejaVu Sans"/>
                <a:cs typeface="DejaVu Sans"/>
              </a:rPr>
              <a:t>Lo esencial de hoy</a:t>
            </a:r>
          </a:p>
        </p:txBody>
      </p:sp>
      <p:sp>
        <p:nvSpPr>
          <p:cNvPr id="3" name="">
            <a:extLst xmlns:a="http://schemas.openxmlformats.org/drawingml/2006/main">
              <a:ext uri="{FF2B5EF4-FFF2-40B4-BE49-F238E27FC236}">
                <a16:creationId xmlns:a16="http://schemas.microsoft.com/office/drawing/2014/main" id="{CB24F12A-EEAE-45D3-B2AF-E770BCAB2232}"/>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8DFE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9CBF3BFA-8785-49B8-8493-557D131C3FEC}"/>
              </a:ext>
            </a:extLst>
          </p:cNvPr>
          <p:cNvSpPr>
            <a:spLocks xmlns:a="http://schemas.openxmlformats.org/drawingml/2006/main" noGrp="1"/>
          </p:cNvSpPr>
          <p:nvPr/>
        </p:nvSpPr>
        <p:spPr>
          <a:xfrm xmlns:a="http://schemas.openxmlformats.org/drawingml/2006/main">
            <a:off x="695325" y="6381750"/>
            <a:ext cx="923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5C5B5F"/>
                </a:solidFill>
                <a:latin typeface="DejaVu Sans"/>
                <a:ea typeface="DejaVu Sans"/>
                <a:cs typeface="DejaVu Sans"/>
              </a:defRPr>
            </a:pPr>
            <a:r>
              <a:rPr sz="1200" b="0">
                <a:solidFill>
                  <a:srgbClr val="5C5B5F"/>
                </a:solidFill>
                <a:latin typeface="DejaVu Sans"/>
                <a:ea typeface="DejaVu Sans"/>
                <a:cs typeface="DejaVu Sans"/>
              </a:rPr>
              <a:t>Programación · 3.02</a:t>
            </a:r>
          </a:p>
        </p:txBody>
      </p:sp>
      <p:sp>
        <p:nvSpPr>
          <p:cNvPr id="5" name="">
            <a:extLst xmlns:a="http://schemas.openxmlformats.org/drawingml/2006/main">
              <a:ext uri="{FF2B5EF4-FFF2-40B4-BE49-F238E27FC236}">
                <a16:creationId xmlns:a16="http://schemas.microsoft.com/office/drawing/2014/main" id="{5E11931E-A415-4B32-9359-968239CBF75E}"/>
              </a:ext>
            </a:extLst>
          </p:cNvPr>
          <p:cNvSpPr>
            <a:spLocks xmlns:a="http://schemas.openxmlformats.org/drawingml/2006/main" noGrp="1"/>
          </p:cNvSpPr>
          <p:nvPr/>
        </p:nvSpPr>
        <p:spPr>
          <a:xfrm xmlns:a="http://schemas.openxmlformats.org/drawingml/2006/main">
            <a:off x="11049000" y="6381750"/>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5C5B5F"/>
                </a:solidFill>
                <a:latin typeface="DejaVu Sans"/>
                <a:ea typeface="DejaVu Sans"/>
                <a:cs typeface="DejaVu Sans"/>
              </a:defRPr>
            </a:pPr>
            <a:r>
              <a:rPr sz="1200" b="0">
                <a:solidFill>
                  <a:srgbClr val="5C5B5F"/>
                </a:solidFill>
                <a:latin typeface="DejaVu Sans"/>
                <a:ea typeface="DejaVu Sans"/>
                <a:cs typeface="DejaVu Sans"/>
              </a:rPr>
              <a:t>13</a:t>
            </a:r>
          </a:p>
        </p:txBody>
      </p:sp>
      <p:sp>
        <p:nvSpPr>
          <p:cNvPr id="6" name="">
            <a:extLst xmlns:a="http://schemas.openxmlformats.org/drawingml/2006/main">
              <a:ext uri="{FF2B5EF4-FFF2-40B4-BE49-F238E27FC236}">
                <a16:creationId xmlns:a16="http://schemas.microsoft.com/office/drawing/2014/main" id="{BEF5ECD9-0DE6-4D3B-9431-644577FF28D3}"/>
              </a:ext>
            </a:extLst>
          </p:cNvPr>
          <p:cNvSpPr>
            <a:spLocks xmlns:a="http://schemas.openxmlformats.org/drawingml/2006/main" noGrp="1"/>
          </p:cNvSpPr>
          <p:nvPr/>
        </p:nvSpPr>
        <p:spPr>
          <a:xfrm xmlns:a="http://schemas.openxmlformats.org/drawingml/2006/main">
            <a:off x="762000" y="1809750"/>
            <a:ext cx="6191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1">
                <a:solidFill>
                  <a:srgbClr val="0065B0"/>
                </a:solidFill>
                <a:latin typeface="DejaVu Sans"/>
                <a:ea typeface="DejaVu Sans"/>
                <a:cs typeface="DejaVu Sans"/>
              </a:defRPr>
            </a:pPr>
            <a:r>
              <a:rPr sz="2175" b="1">
                <a:solidFill>
                  <a:srgbClr val="0065B0"/>
                </a:solidFill>
                <a:latin typeface="DejaVu Sans"/>
                <a:ea typeface="DejaVu Sans"/>
                <a:cs typeface="DejaVu Sans"/>
              </a:rPr>
              <a:t>01</a:t>
            </a:r>
          </a:p>
        </p:txBody>
      </p:sp>
      <p:sp>
        <p:nvSpPr>
          <p:cNvPr id="7" name="">
            <a:extLst xmlns:a="http://schemas.openxmlformats.org/drawingml/2006/main">
              <a:ext uri="{FF2B5EF4-FFF2-40B4-BE49-F238E27FC236}">
                <a16:creationId xmlns:a16="http://schemas.microsoft.com/office/drawing/2014/main" id="{E19CAF21-7C44-4746-AAA9-16FE3CA39C41}"/>
              </a:ext>
            </a:extLst>
          </p:cNvPr>
          <p:cNvSpPr>
            <a:spLocks xmlns:a="http://schemas.openxmlformats.org/drawingml/2006/main" noGrp="1"/>
          </p:cNvSpPr>
          <p:nvPr/>
        </p:nvSpPr>
        <p:spPr>
          <a:xfrm xmlns:a="http://schemas.openxmlformats.org/drawingml/2006/main">
            <a:off x="1571625" y="1809750"/>
            <a:ext cx="952500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325" b="0">
                <a:solidFill>
                  <a:srgbClr val="403F3B"/>
                </a:solidFill>
                <a:latin typeface="DejaVu Sans"/>
                <a:ea typeface="DejaVu Sans"/>
                <a:cs typeface="DejaVu Sans"/>
              </a:defRPr>
            </a:pPr>
            <a:r>
              <a:rPr sz="2325" b="0">
                <a:solidFill>
                  <a:srgbClr val="403F3B"/>
                </a:solidFill>
                <a:latin typeface="DejaVu Sans"/>
                <a:ea typeface="DejaVu Sans"/>
                <a:cs typeface="DejaVu Sans"/>
              </a:rPr>
              <a:t>Convertir solo los campos numéricos.</a:t>
            </a:r>
          </a:p>
        </p:txBody>
      </p:sp>
      <p:sp>
        <p:nvSpPr>
          <p:cNvPr id="8" name="">
            <a:extLst xmlns:a="http://schemas.openxmlformats.org/drawingml/2006/main">
              <a:ext uri="{FF2B5EF4-FFF2-40B4-BE49-F238E27FC236}">
                <a16:creationId xmlns:a16="http://schemas.microsoft.com/office/drawing/2014/main" id="{FFB866B0-62D5-4A66-A50D-DFBFA3B68AD2}"/>
              </a:ext>
            </a:extLst>
          </p:cNvPr>
          <p:cNvSpPr>
            <a:spLocks xmlns:a="http://schemas.openxmlformats.org/drawingml/2006/main" noGrp="1"/>
          </p:cNvSpPr>
          <p:nvPr/>
        </p:nvSpPr>
        <p:spPr>
          <a:xfrm xmlns:a="http://schemas.openxmlformats.org/drawingml/2006/main">
            <a:off x="762000" y="3000375"/>
            <a:ext cx="6191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1">
                <a:solidFill>
                  <a:srgbClr val="0065B0"/>
                </a:solidFill>
                <a:latin typeface="DejaVu Sans"/>
                <a:ea typeface="DejaVu Sans"/>
                <a:cs typeface="DejaVu Sans"/>
              </a:defRPr>
            </a:pPr>
            <a:r>
              <a:rPr sz="2175" b="1">
                <a:solidFill>
                  <a:srgbClr val="0065B0"/>
                </a:solidFill>
                <a:latin typeface="DejaVu Sans"/>
                <a:ea typeface="DejaVu Sans"/>
                <a:cs typeface="DejaVu Sans"/>
              </a:rPr>
              <a:t>02</a:t>
            </a:r>
          </a:p>
        </p:txBody>
      </p:sp>
      <p:sp>
        <p:nvSpPr>
          <p:cNvPr id="9" name="">
            <a:extLst xmlns:a="http://schemas.openxmlformats.org/drawingml/2006/main">
              <a:ext uri="{FF2B5EF4-FFF2-40B4-BE49-F238E27FC236}">
                <a16:creationId xmlns:a16="http://schemas.microsoft.com/office/drawing/2014/main" id="{2635881F-E1FF-48E8-9884-EEC5E77F5296}"/>
              </a:ext>
            </a:extLst>
          </p:cNvPr>
          <p:cNvSpPr>
            <a:spLocks xmlns:a="http://schemas.openxmlformats.org/drawingml/2006/main" noGrp="1"/>
          </p:cNvSpPr>
          <p:nvPr/>
        </p:nvSpPr>
        <p:spPr>
          <a:xfrm xmlns:a="http://schemas.openxmlformats.org/drawingml/2006/main">
            <a:off x="1571625" y="3000375"/>
            <a:ext cx="952500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325" b="0">
                <a:solidFill>
                  <a:srgbClr val="403F3B"/>
                </a:solidFill>
                <a:latin typeface="DejaVu Sans"/>
                <a:ea typeface="DejaVu Sans"/>
                <a:cs typeface="DejaVu Sans"/>
              </a:defRPr>
            </a:pPr>
            <a:r>
              <a:rPr sz="2325" b="0">
                <a:solidFill>
                  <a:srgbClr val="403F3B"/>
                </a:solidFill>
                <a:latin typeface="DejaVu Sans"/>
                <a:ea typeface="DejaVu Sans"/>
                <a:cs typeface="DejaVu Sans"/>
              </a:rPr>
              <a:t>Distinguir precisión de cálculo y formato.</a:t>
            </a:r>
          </a:p>
        </p:txBody>
      </p:sp>
      <p:sp>
        <p:nvSpPr>
          <p:cNvPr id="10" name="">
            <a:extLst xmlns:a="http://schemas.openxmlformats.org/drawingml/2006/main">
              <a:ext uri="{FF2B5EF4-FFF2-40B4-BE49-F238E27FC236}">
                <a16:creationId xmlns:a16="http://schemas.microsoft.com/office/drawing/2014/main" id="{F69ECAFD-AA2D-4F73-BE13-A71E4F791354}"/>
              </a:ext>
            </a:extLst>
          </p:cNvPr>
          <p:cNvSpPr>
            <a:spLocks xmlns:a="http://schemas.openxmlformats.org/drawingml/2006/main" noGrp="1"/>
          </p:cNvSpPr>
          <p:nvPr/>
        </p:nvSpPr>
        <p:spPr>
          <a:xfrm xmlns:a="http://schemas.openxmlformats.org/drawingml/2006/main">
            <a:off x="762000" y="4191000"/>
            <a:ext cx="6191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1">
                <a:solidFill>
                  <a:srgbClr val="0065B0"/>
                </a:solidFill>
                <a:latin typeface="DejaVu Sans"/>
                <a:ea typeface="DejaVu Sans"/>
                <a:cs typeface="DejaVu Sans"/>
              </a:defRPr>
            </a:pPr>
            <a:r>
              <a:rPr sz="2175" b="1">
                <a:solidFill>
                  <a:srgbClr val="0065B0"/>
                </a:solidFill>
                <a:latin typeface="DejaVu Sans"/>
                <a:ea typeface="DejaVu Sans"/>
                <a:cs typeface="DejaVu Sans"/>
              </a:rPr>
              <a:t>03</a:t>
            </a:r>
          </a:p>
        </p:txBody>
      </p:sp>
      <p:sp>
        <p:nvSpPr>
          <p:cNvPr id="11" name="">
            <a:extLst xmlns:a="http://schemas.openxmlformats.org/drawingml/2006/main">
              <a:ext uri="{FF2B5EF4-FFF2-40B4-BE49-F238E27FC236}">
                <a16:creationId xmlns:a16="http://schemas.microsoft.com/office/drawing/2014/main" id="{F26565EF-D314-4756-ADAE-5F51E600DC3E}"/>
              </a:ext>
            </a:extLst>
          </p:cNvPr>
          <p:cNvSpPr>
            <a:spLocks xmlns:a="http://schemas.openxmlformats.org/drawingml/2006/main" noGrp="1"/>
          </p:cNvSpPr>
          <p:nvPr/>
        </p:nvSpPr>
        <p:spPr>
          <a:xfrm xmlns:a="http://schemas.openxmlformats.org/drawingml/2006/main">
            <a:off x="1571625" y="4191000"/>
            <a:ext cx="952500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325" b="0">
                <a:solidFill>
                  <a:srgbClr val="403F3B"/>
                </a:solidFill>
                <a:latin typeface="DejaVu Sans"/>
                <a:ea typeface="DejaVu Sans"/>
                <a:cs typeface="DejaVu Sans"/>
              </a:defRPr>
            </a:pPr>
            <a:r>
              <a:rPr sz="2325" b="0">
                <a:solidFill>
                  <a:srgbClr val="403F3B"/>
                </a:solidFill>
                <a:latin typeface="DejaVu Sans"/>
                <a:ea typeface="DejaVu Sans"/>
                <a:cs typeface="DejaVu Sans"/>
              </a:rPr>
              <a:t>Repetir pruebas con entrada redirigida.</a:t>
            </a:r>
          </a:p>
        </p:txBody>
      </p:sp>
    </p:spTree>
    <p:extLst>
      <p:ext uri="{BB962C8B-B14F-4D97-AF65-F5344CB8AC3E}">
        <p14:creationId xmlns:p14="http://schemas.microsoft.com/office/powerpoint/2010/main" val="109156966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2026-09-25T21:15:48.5960000Z</dcterms:created>
  <dcterms:modified xsi:type="dcterms:W3CDTF">2026-09-25T21:15:48.5960000Z</dcterms:modified>
</coreProperties>
</file>