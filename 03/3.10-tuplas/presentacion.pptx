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7ff84407cd432c" /><Relationship Type="http://schemas.openxmlformats.org/officeDocument/2006/relationships/extended-properties" Target="/docProps/app.xml" Id="Re568a4ea5bcb421a" /><Relationship Type="http://schemas.openxmlformats.org/officeDocument/2006/relationships/officeDocument" Target="/ppt/presentation.xml" Id="Re10e236f5c7b4b05" /></Relationships>
</file>

<file path=ppt/presentation.xml><?xml version="1.0" encoding="utf-8"?>
<p:presentation xmlns:p="http://schemas.openxmlformats.org/presentationml/2006/main">
  <p:sldMasterIdLst>
    <p:sldMasterId xmlns:r="http://schemas.openxmlformats.org/officeDocument/2006/relationships" id="2147483648" r:id="R6b7928ce2f584f0b"/>
  </p:sldMasterIdLst>
  <p:notesMasterIdLst>
    <p:notesMasterId xmlns:r="http://schemas.openxmlformats.org/officeDocument/2006/relationships" r:id="Rc6ea66496f284f97"/>
  </p:notesMasterIdLst>
  <p:sldIdLst>
    <p:sldId xmlns:r="http://schemas.openxmlformats.org/officeDocument/2006/relationships" id="256" r:id="Rb207f73541254637"/>
    <p:sldId xmlns:r="http://schemas.openxmlformats.org/officeDocument/2006/relationships" id="257" r:id="Rdc141cc6636749dc"/>
    <p:sldId xmlns:r="http://schemas.openxmlformats.org/officeDocument/2006/relationships" id="258" r:id="R6cb1bb2a0c09418c"/>
    <p:sldId xmlns:r="http://schemas.openxmlformats.org/officeDocument/2006/relationships" id="259" r:id="R9dff39f740e74a31"/>
    <p:sldId xmlns:r="http://schemas.openxmlformats.org/officeDocument/2006/relationships" id="260" r:id="R4732c10191f5461b"/>
    <p:sldId xmlns:r="http://schemas.openxmlformats.org/officeDocument/2006/relationships" id="261" r:id="Ra10a592d94a64986"/>
    <p:sldId xmlns:r="http://schemas.openxmlformats.org/officeDocument/2006/relationships" id="262" r:id="R08ce0643fb874fe8"/>
    <p:sldId xmlns:r="http://schemas.openxmlformats.org/officeDocument/2006/relationships" id="263" r:id="R5d384fd5d3084fd3"/>
    <p:sldId xmlns:r="http://schemas.openxmlformats.org/officeDocument/2006/relationships" id="264" r:id="R5c33fd5eeba541be"/>
    <p:sldId xmlns:r="http://schemas.openxmlformats.org/officeDocument/2006/relationships" id="265" r:id="Rb5c45016b8cf4a34"/>
    <p:sldId xmlns:r="http://schemas.openxmlformats.org/officeDocument/2006/relationships" id="266" r:id="R8c9351ea5588467e"/>
    <p:sldId xmlns:r="http://schemas.openxmlformats.org/officeDocument/2006/relationships" id="267" r:id="Rf94007b35cfa4412"/>
    <p:sldId xmlns:r="http://schemas.openxmlformats.org/officeDocument/2006/relationships" id="268" r:id="R426b7f7d24ec42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1c970767284de9" /><Relationship Type="http://schemas.openxmlformats.org/officeDocument/2006/relationships/slideMaster" Target="/ppt/slideMasters/slideMaster1.xml" Id="R6b7928ce2f584f0b" /><Relationship Type="http://schemas.openxmlformats.org/officeDocument/2006/relationships/notesMaster" Target="/ppt/notesMasters/notesMaster1.xml" Id="Rc6ea66496f284f97" /><Relationship Type="http://schemas.openxmlformats.org/officeDocument/2006/relationships/presProps" Target="/ppt/presProps.xml" Id="Reb2db5821c1e4175" /><Relationship Type="http://schemas.openxmlformats.org/officeDocument/2006/relationships/tableStyles" Target="/ppt/tableStyles.xml" Id="Rc65212ce2da3495e" /><Relationship Type="http://schemas.openxmlformats.org/officeDocument/2006/relationships/slide" Target="/ppt/slides/slide1.xml" Id="Rb207f73541254637" /><Relationship Type="http://schemas.openxmlformats.org/officeDocument/2006/relationships/slide" Target="/ppt/slides/slide2.xml" Id="Rdc141cc6636749dc" /><Relationship Type="http://schemas.openxmlformats.org/officeDocument/2006/relationships/slide" Target="/ppt/slides/slide3.xml" Id="R6cb1bb2a0c09418c" /><Relationship Type="http://schemas.openxmlformats.org/officeDocument/2006/relationships/slide" Target="/ppt/slides/slide4.xml" Id="R9dff39f740e74a31" /><Relationship Type="http://schemas.openxmlformats.org/officeDocument/2006/relationships/slide" Target="/ppt/slides/slide5.xml" Id="R4732c10191f5461b" /><Relationship Type="http://schemas.openxmlformats.org/officeDocument/2006/relationships/slide" Target="/ppt/slides/slide6.xml" Id="Ra10a592d94a64986" /><Relationship Type="http://schemas.openxmlformats.org/officeDocument/2006/relationships/slide" Target="/ppt/slides/slide7.xml" Id="R08ce0643fb874fe8" /><Relationship Type="http://schemas.openxmlformats.org/officeDocument/2006/relationships/slide" Target="/ppt/slides/slide8.xml" Id="R5d384fd5d3084fd3" /><Relationship Type="http://schemas.openxmlformats.org/officeDocument/2006/relationships/slide" Target="/ppt/slides/slide9.xml" Id="R5c33fd5eeba541be" /><Relationship Type="http://schemas.openxmlformats.org/officeDocument/2006/relationships/slide" Target="/ppt/slides/slide10.xml" Id="Rb5c45016b8cf4a34" /><Relationship Type="http://schemas.openxmlformats.org/officeDocument/2006/relationships/slide" Target="/ppt/slides/slide11.xml" Id="R8c9351ea5588467e" /><Relationship Type="http://schemas.openxmlformats.org/officeDocument/2006/relationships/slide" Target="/ppt/slides/slide12.xml" Id="Rf94007b35cfa4412" /><Relationship Type="http://schemas.openxmlformats.org/officeDocument/2006/relationships/slide" Target="/ppt/slides/slide13.xml" Id="R426b7f7d24ec42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d8983068344b1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3d1cb965744e92" /><Relationship Type="http://schemas.openxmlformats.org/officeDocument/2006/relationships/notesMaster" Target="/ppt/notesMasters/notesMaster1.xml" Id="R1b4bd8dfe80242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73cb638ac343d0" /><Relationship Type="http://schemas.openxmlformats.org/officeDocument/2006/relationships/notesMaster" Target="/ppt/notesMasters/notesMaster1.xml" Id="R2d7bbc972f1f49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ef82bdba6a49e2" /><Relationship Type="http://schemas.openxmlformats.org/officeDocument/2006/relationships/notesMaster" Target="/ppt/notesMasters/notesMaster1.xml" Id="Ree17a7f4b9314b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1fdf4eadea4664" /><Relationship Type="http://schemas.openxmlformats.org/officeDocument/2006/relationships/notesMaster" Target="/ppt/notesMasters/notesMaster1.xml" Id="R2ee8d4cd733346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ec70163c6744c9" /><Relationship Type="http://schemas.openxmlformats.org/officeDocument/2006/relationships/notesMaster" Target="/ppt/notesMasters/notesMaster1.xml" Id="R41323befcfe749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ec121dd8334c72" /><Relationship Type="http://schemas.openxmlformats.org/officeDocument/2006/relationships/notesMaster" Target="/ppt/notesMasters/notesMaster1.xml" Id="R76a8cae3095542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142136c83e4869" /><Relationship Type="http://schemas.openxmlformats.org/officeDocument/2006/relationships/notesMaster" Target="/ppt/notesMasters/notesMaster1.xml" Id="R3e67a0f456f64b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1e0ce4a6cf4319" /><Relationship Type="http://schemas.openxmlformats.org/officeDocument/2006/relationships/notesMaster" Target="/ppt/notesMasters/notesMaster1.xml" Id="R581adcc2678242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a997c9c5c843ab" /><Relationship Type="http://schemas.openxmlformats.org/officeDocument/2006/relationships/notesMaster" Target="/ppt/notesMasters/notesMaster1.xml" Id="R8bd7028354a040d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2fc59358c604cdb" /><Relationship Type="http://schemas.openxmlformats.org/officeDocument/2006/relationships/notesMaster" Target="/ppt/notesMasters/notesMaster1.xml" Id="R9af126b7b90442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49b2f9dd4764951" /><Relationship Type="http://schemas.openxmlformats.org/officeDocument/2006/relationships/notesMaster" Target="/ppt/notesMasters/notesMaster1.xml" Id="R7b246274e5ff44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d76c8547e4b43c0" /><Relationship Type="http://schemas.openxmlformats.org/officeDocument/2006/relationships/notesMaster" Target="/ppt/notesMasters/notesMaster1.xml" Id="R037fceb1c35b49b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8369ee7c3e64a3a" /><Relationship Type="http://schemas.openxmlformats.org/officeDocument/2006/relationships/notesMaster" Target="/ppt/notesMasters/notesMaster1.xml" Id="Ra8a4ec6fd9f145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registro reúne campos que describen una entidad. A diferencia de una lista de mediciones, cada campo puede tener un significado y tipo diferente. Definir un esquema antes de procesar varios registros. No intercambiar cantidad y precio solo porque ambos son números. Un nombre de campo reduce ambigüedad cuando la estructura crece.</a:t>
            </a:r>
          </a:p>
          <a:p xmlns:a="http://schemas.openxmlformats.org/drawingml/2006/main">
            <a:r>
              <a:t/>
            </a:r>
          </a:p>
          <a:p xmlns:a="http://schemas.openxmlformats.org/drawingml/2006/main">
            <a:r>
              <a:t>Una tupla ordena valores y no permite reemplazar sus posiciones. La coma construye la tupla: (5,) tiene un elemento y (5) es solo un entero entre paréntesis. Para este tema, usar tuplas pequeñas con esquema documentado.</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Extraer campos debe respetar el esquema. Una cantidad de campos distinta puede indicar datos mal formados. Validar en el límite de entrada y mantener estructuras consistentes en el procesamiento. Cuando existan muchos campos, preferir acceso por nombre para reducir dependencia de posiciones.</a:t>
            </a:r>
          </a:p>
          <a:p xmlns:a="http://schemas.openxmlformats.org/drawingml/2006/main">
            <a:r>
              <a:t/>
            </a:r>
          </a:p>
          <a:p xmlns:a="http://schemas.openxmlformats.org/drawingml/2006/main">
            <a:r>
              <a:t>codigo, cantidad = producto desempaqueta dos elementos. Una cantidad diferente produce ValueError. Puede usarse desempaquetado directamente en for. No mezclar tuplas de dos y tres campos en una colección que espera un esquema uniforme.</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contenedor inmutable impide reemplazar sus campos o posiciones, pero no necesariamente impide modificar objetos contenidos. Una tupla con una lista puede observar cambios en esa lista. Un record con un componente ArrayList también puede observar mutaciones. Usar componentes inmutables o copias defensivas cuando se requiera un valor realmente estable.</a:t>
            </a:r>
          </a:p>
          <a:p xmlns:a="http://schemas.openxmlformats.org/drawingml/2006/main">
            <a:r>
              <a:t/>
            </a:r>
          </a:p>
          <a:p xmlns:a="http://schemas.openxmlformats.org/drawingml/2006/main">
            <a:r>
              <a:t>Para actualizar un dato escalar, construir una nueva tupla. tuple no garantiza que todos sus componentes sean inmutables ni que siempre sea utilizable como clave de diccionario.</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Procesar registros combina lectura de campos y condiciones. Mantener orden y duplicados según el contrato. Un esquema correcto no garantiza datos válidos: una edad negativa tiene tipo entero, pero puede violar el dominio. Definir si un registro inválido detiene todo el proceso o se reporta y se omite.</a:t>
            </a:r>
          </a:p>
          <a:p xmlns:a="http://schemas.openxmlformats.org/drawingml/2006/main">
            <a:r>
              <a:t/>
            </a:r>
          </a:p>
          <a:p xmlns:a="http://schemas.openxmlformats.org/drawingml/2006/main">
            <a:r>
              <a:t>Usar funciones con parámetros claros y devolver una lista nueva. No cambiar silenciosamente tuplas de entrada. Validar longitudes antes de desempaquetar si los datos provienen de una fuente no confiable.</a:t>
            </a:r>
          </a:p>
          <a:p xmlns:a="http://schemas.openxmlformats.org/drawingml/2006/main">
            <a:r>
              <a:t>Fuente: https://docs.python.org/3.14/tutorial/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 en python/ejemplos/demo.py. Representar un producto mediante código, nombre y cantidad. Agrupar campos evita mantener varias listas paralelas y obliga a definir el significado de cada posición o componente.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edbe3b9bdf4d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2d370e18f64b21" /><Relationship Type="http://schemas.openxmlformats.org/officeDocument/2006/relationships/slideLayout" Target="/ppt/slideLayouts/slideLayout1.xml" Id="R0f1d9ad6390c4c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1d9ad6390c4c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ced121b953c4896" /><Relationship Type="http://schemas.openxmlformats.org/officeDocument/2006/relationships/image" Target="/ppt/media/image.png" Id="R67f2318920e64a6c" /><Relationship Type="http://schemas.openxmlformats.org/officeDocument/2006/relationships/notesSlide" Target="/ppt/notesSlides/notesSlide1.xml" Id="Ra8fa226a845f49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e515e0537c4168" /><Relationship Type="http://schemas.openxmlformats.org/officeDocument/2006/relationships/notesSlide" Target="/ppt/notesSlides/notesSlide2.xml" Id="Reeb87b652b3f43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28d933153447ee" /><Relationship Type="http://schemas.openxmlformats.org/officeDocument/2006/relationships/notesSlide" Target="/ppt/notesSlides/notesSlide3.xml" Id="R12274c666cfa4d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17e607b14ab475d" /><Relationship Type="http://schemas.openxmlformats.org/officeDocument/2006/relationships/notesSlide" Target="/ppt/notesSlides/notesSlide4.xml" Id="R9483ff6afe9046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a588c592fb94a3c" /><Relationship Type="http://schemas.openxmlformats.org/officeDocument/2006/relationships/notesSlide" Target="/ppt/notesSlides/notesSlide5.xml" Id="R70b2b136e41e46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4751f72b082481e" /><Relationship Type="http://schemas.openxmlformats.org/officeDocument/2006/relationships/notesSlide" Target="/ppt/notesSlides/notesSlide6.xml" Id="R2429dd35f22847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243543041654e85" /><Relationship Type="http://schemas.openxmlformats.org/officeDocument/2006/relationships/notesSlide" Target="/ppt/notesSlides/notesSlide7.xml" Id="Rcdc44030e3a043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a5f89aab80d4561" /><Relationship Type="http://schemas.openxmlformats.org/officeDocument/2006/relationships/notesSlide" Target="/ppt/notesSlides/notesSlide8.xml" Id="R31d9197cd95349c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bded864faf3484b" /><Relationship Type="http://schemas.openxmlformats.org/officeDocument/2006/relationships/notesSlide" Target="/ppt/notesSlides/notesSlide9.xml" Id="Rd5a5605782024f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311535abbdc4064" /><Relationship Type="http://schemas.openxmlformats.org/officeDocument/2006/relationships/notesSlide" Target="/ppt/notesSlides/notesSlide10.xml" Id="R00dc96404e0f40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ae49349ee9d4809" /><Relationship Type="http://schemas.openxmlformats.org/officeDocument/2006/relationships/notesSlide" Target="/ppt/notesSlides/notesSlide11.xml" Id="Rad7d8ea46df4437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36107c69c96407b" /><Relationship Type="http://schemas.openxmlformats.org/officeDocument/2006/relationships/notesSlide" Target="/ppt/notesSlides/notesSlide12.xml" Id="R1c6bb36b32d24dc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1ea3ab99f8f4c14" /><Relationship Type="http://schemas.openxmlformats.org/officeDocument/2006/relationships/notesSlide" Target="/ppt/notesSlides/notesSlide13.xml" Id="R6b0287453aad41c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7f2318920e64a6c"/>
          <a:stretch xmlns:a="http://schemas.openxmlformats.org/drawingml/2006/main"/>
        </p:blipFill>
        <p:spPr>
          <a:xfrm xmlns:a="http://schemas.openxmlformats.org/drawingml/2006/main">
            <a:off x="609600" y="452158"/>
            <a:ext cx="7239000" cy="119118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72D4C75-F8BD-4415-900A-B4807FC9CD1E}"/>
              </a:ext>
            </a:extLst>
          </p:cNvPr>
          <p:cNvSpPr>
            <a:spLocks xmlns:a="http://schemas.openxmlformats.org/drawingml/2006/main" noGrp="1"/>
          </p:cNvSpPr>
          <p:nvPr/>
        </p:nvSpPr>
        <p:spPr>
          <a:xfrm xmlns:a="http://schemas.openxmlformats.org/drawingml/2006/main">
            <a:off x="695325" y="21907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75" b="1">
                <a:solidFill>
                  <a:srgbClr val="003772"/>
                </a:solidFill>
                <a:latin typeface="DejaVu Sans"/>
                <a:ea typeface="DejaVu Sans"/>
                <a:cs typeface="DejaVu Sans"/>
              </a:defRPr>
            </a:pPr>
            <a:r>
              <a:rPr sz="3375" b="1">
                <a:solidFill>
                  <a:srgbClr val="003772"/>
                </a:solidFill>
                <a:latin typeface="DejaVu Sans"/>
                <a:ea typeface="DejaVu Sans"/>
                <a:cs typeface="DejaVu Sans"/>
              </a:rPr>
              <a:t>Programación</a:t>
            </a:r>
          </a:p>
        </p:txBody>
      </p:sp>
      <p:sp>
        <p:nvSpPr>
          <p:cNvPr id="3" name="">
            <a:extLst xmlns:a="http://schemas.openxmlformats.org/drawingml/2006/main">
              <a:ext uri="{FF2B5EF4-FFF2-40B4-BE49-F238E27FC236}">
                <a16:creationId xmlns:a16="http://schemas.microsoft.com/office/drawing/2014/main" id="{5C2BB8BC-AA69-4417-BCF9-4EB4EA0C4CF6}"/>
              </a:ext>
            </a:extLst>
          </p:cNvPr>
          <p:cNvSpPr>
            <a:spLocks xmlns:a="http://schemas.openxmlformats.org/drawingml/2006/main" noGrp="1"/>
          </p:cNvSpPr>
          <p:nvPr/>
        </p:nvSpPr>
        <p:spPr>
          <a:xfrm xmlns:a="http://schemas.openxmlformats.org/drawingml/2006/main">
            <a:off x="695325" y="3190875"/>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003772"/>
                </a:solidFill>
                <a:latin typeface="DejaVu Sans"/>
                <a:ea typeface="DejaVu Sans"/>
                <a:cs typeface="DejaVu Sans"/>
              </a:defRPr>
            </a:pPr>
            <a:r>
              <a:rPr sz="3225" b="1">
                <a:solidFill>
                  <a:srgbClr val="003772"/>
                </a:solidFill>
                <a:latin typeface="DejaVu Sans"/>
                <a:ea typeface="DejaVu Sans"/>
                <a:cs typeface="DejaVu Sans"/>
              </a:rPr>
              <a:t>Tuplas y registros de datos</a:t>
            </a:r>
          </a:p>
        </p:txBody>
      </p:sp>
      <p:sp>
        <p:nvSpPr>
          <p:cNvPr id="4" name="">
            <a:extLst xmlns:a="http://schemas.openxmlformats.org/drawingml/2006/main">
              <a:ext uri="{FF2B5EF4-FFF2-40B4-BE49-F238E27FC236}">
                <a16:creationId xmlns:a16="http://schemas.microsoft.com/office/drawing/2014/main" id="{BC7A6B00-C89A-4919-A1E0-2CCCB02DB485}"/>
              </a:ext>
            </a:extLst>
          </p:cNvPr>
          <p:cNvSpPr>
            <a:spLocks xmlns:a="http://schemas.openxmlformats.org/drawingml/2006/main" noGrp="1"/>
          </p:cNvSpPr>
          <p:nvPr/>
        </p:nvSpPr>
        <p:spPr>
          <a:xfrm xmlns:a="http://schemas.openxmlformats.org/drawingml/2006/main">
            <a:off x="609600" y="5000625"/>
            <a:ext cx="1390650"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78F9BF5-2F08-485D-923F-10FF5BDA2CEC}"/>
              </a:ext>
            </a:extLst>
          </p:cNvPr>
          <p:cNvSpPr>
            <a:spLocks xmlns:a="http://schemas.openxmlformats.org/drawingml/2006/main" noGrp="1"/>
          </p:cNvSpPr>
          <p:nvPr/>
        </p:nvSpPr>
        <p:spPr>
          <a:xfrm xmlns:a="http://schemas.openxmlformats.org/drawingml/2006/main">
            <a:off x="695325" y="5381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003772"/>
                </a:solidFill>
                <a:latin typeface="DejaVu Sans"/>
                <a:ea typeface="DejaVu Sans"/>
                <a:cs typeface="DejaVu Sans"/>
              </a:defRPr>
            </a:pPr>
            <a:r>
              <a:rPr sz="1800" b="0">
                <a:solidFill>
                  <a:srgbClr val="003772"/>
                </a:solidFill>
                <a:latin typeface="DejaVu Sans"/>
                <a:ea typeface="DejaVu Sans"/>
                <a:cs typeface="DejaVu Sans"/>
              </a:rPr>
              <a:t>Unidad 3 · 3.10 · Python</a:t>
            </a:r>
          </a:p>
        </p:txBody>
      </p:sp>
      <p:sp>
        <p:nvSpPr>
          <p:cNvPr id="6" name="">
            <a:extLst xmlns:a="http://schemas.openxmlformats.org/drawingml/2006/main">
              <a:ext uri="{FF2B5EF4-FFF2-40B4-BE49-F238E27FC236}">
                <a16:creationId xmlns:a16="http://schemas.microsoft.com/office/drawing/2014/main" id="{4583DEB8-7040-40E2-BB90-190B2D2F9B35}"/>
              </a:ext>
            </a:extLst>
          </p:cNvPr>
          <p:cNvSpPr>
            <a:spLocks xmlns:a="http://schemas.openxmlformats.org/drawingml/2006/main" noGrp="1"/>
          </p:cNvSpPr>
          <p:nvPr/>
        </p:nvSpPr>
        <p:spPr>
          <a:xfrm xmlns:a="http://schemas.openxmlformats.org/drawingml/2006/main">
            <a:off x="695325" y="60293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5C5B5F"/>
                </a:solidFill>
                <a:latin typeface="DejaVu Sans"/>
                <a:ea typeface="DejaVu Sans"/>
                <a:cs typeface="DejaVu Sans"/>
              </a:defRPr>
            </a:pPr>
            <a:r>
              <a:rPr sz="1650"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4646409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4D8A9D-2FD7-4C4B-BD9A-05BD9236472A}"/>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5AC81C5-3B04-4C66-AC97-2B4ED6EA502C}"/>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Problema inicial</a:t>
            </a:r>
          </a:p>
        </p:txBody>
      </p:sp>
      <p:sp>
        <p:nvSpPr>
          <p:cNvPr id="3" name="">
            <a:extLst xmlns:a="http://schemas.openxmlformats.org/drawingml/2006/main">
              <a:ext uri="{FF2B5EF4-FFF2-40B4-BE49-F238E27FC236}">
                <a16:creationId xmlns:a16="http://schemas.microsoft.com/office/drawing/2014/main" id="{3E7BC25E-D16E-4E47-91E4-C334FAA0492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1E82281-1C8F-43BD-9C59-C585D001B842}"/>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3.10</a:t>
            </a:r>
          </a:p>
        </p:txBody>
      </p:sp>
      <p:sp>
        <p:nvSpPr>
          <p:cNvPr id="5" name="">
            <a:extLst xmlns:a="http://schemas.openxmlformats.org/drawingml/2006/main">
              <a:ext uri="{FF2B5EF4-FFF2-40B4-BE49-F238E27FC236}">
                <a16:creationId xmlns:a16="http://schemas.microsoft.com/office/drawing/2014/main" id="{44DFF643-9420-4ED4-B7A4-36F63D863F6C}"/>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29DBAC1A-B67D-4D8C-8001-8427E0C5CEC8}"/>
              </a:ext>
            </a:extLst>
          </p:cNvPr>
          <p:cNvSpPr>
            <a:spLocks xmlns:a="http://schemas.openxmlformats.org/drawingml/2006/main" noGrp="1"/>
          </p:cNvSpPr>
          <p:nvPr/>
        </p:nvSpPr>
        <p:spPr>
          <a:xfrm xmlns:a="http://schemas.openxmlformats.org/drawingml/2006/main">
            <a:off x="819150" y="1714500"/>
            <a:ext cx="10477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403F3B"/>
                </a:solidFill>
                <a:latin typeface="DejaVu Sans"/>
                <a:ea typeface="DejaVu Sans"/>
                <a:cs typeface="DejaVu Sans"/>
              </a:defRPr>
            </a:pPr>
            <a:r>
              <a:rPr sz="2475" b="0">
                <a:solidFill>
                  <a:srgbClr val="403F3B"/>
                </a:solidFill>
                <a:latin typeface="DejaVu Sans"/>
                <a:ea typeface="DejaVu Sans"/>
                <a:cs typeface="DejaVu Sans"/>
              </a:rPr>
              <a:t>Representar un producto mediante código, nombre y cantidad. Agrupar campos evita mantener varias listas paralelas y obliga a definir el significado de cada posición o componente.</a:t>
            </a:r>
          </a:p>
        </p:txBody>
      </p:sp>
      <p:sp>
        <p:nvSpPr>
          <p:cNvPr id="7" name="">
            <a:extLst xmlns:a="http://schemas.openxmlformats.org/drawingml/2006/main">
              <a:ext uri="{FF2B5EF4-FFF2-40B4-BE49-F238E27FC236}">
                <a16:creationId xmlns:a16="http://schemas.microsoft.com/office/drawing/2014/main" id="{A79A4F0F-6934-4364-866B-0D6B61B5B7F9}"/>
              </a:ext>
            </a:extLst>
          </p:cNvPr>
          <p:cNvSpPr>
            <a:spLocks xmlns:a="http://schemas.openxmlformats.org/drawingml/2006/main" noGrp="1"/>
          </p:cNvSpPr>
          <p:nvPr/>
        </p:nvSpPr>
        <p:spPr>
          <a:xfrm xmlns:a="http://schemas.openxmlformats.org/drawingml/2006/main">
            <a:off x="819150" y="47625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Anticipar entradas, reglas y salida antes de ejecutar.</a:t>
            </a:r>
          </a:p>
        </p:txBody>
      </p:sp>
    </p:spTree>
    <p:extLst>
      <p:ext uri="{BB962C8B-B14F-4D97-AF65-F5344CB8AC3E}">
        <p14:creationId xmlns:p14="http://schemas.microsoft.com/office/powerpoint/2010/main" val="17326470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9F5080-1AD9-4818-B8CF-01B8B0C73A9B}"/>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EE1BFB9-87E0-40D3-A35D-65326CE27C27}"/>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Registro y estructura</a:t>
            </a:r>
          </a:p>
        </p:txBody>
      </p:sp>
      <p:sp>
        <p:nvSpPr>
          <p:cNvPr id="3" name="">
            <a:extLst xmlns:a="http://schemas.openxmlformats.org/drawingml/2006/main">
              <a:ext uri="{FF2B5EF4-FFF2-40B4-BE49-F238E27FC236}">
                <a16:creationId xmlns:a16="http://schemas.microsoft.com/office/drawing/2014/main" id="{0C4E215B-6E23-4FF2-9ED0-04A8DB592511}"/>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03EEFDB-E879-45AC-A590-6D8C71F70E0F}"/>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3.10</a:t>
            </a:r>
          </a:p>
        </p:txBody>
      </p:sp>
      <p:sp>
        <p:nvSpPr>
          <p:cNvPr id="5" name="">
            <a:extLst xmlns:a="http://schemas.openxmlformats.org/drawingml/2006/main">
              <a:ext uri="{FF2B5EF4-FFF2-40B4-BE49-F238E27FC236}">
                <a16:creationId xmlns:a16="http://schemas.microsoft.com/office/drawing/2014/main" id="{BCDE3D47-9C9B-4428-BC89-9B593B2BB295}"/>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E1138E83-FCD3-4CDC-980F-FD18A81263DD}"/>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 registro reúne campos que describen una entidad. A diferencia de una lista de mediciones, cada campo puede tener un significado y tipo diferente.</a:t>
            </a:r>
          </a:p>
        </p:txBody>
      </p:sp>
      <p:sp>
        <p:nvSpPr>
          <p:cNvPr id="7" name="">
            <a:extLst xmlns:a="http://schemas.openxmlformats.org/drawingml/2006/main">
              <a:ext uri="{FF2B5EF4-FFF2-40B4-BE49-F238E27FC236}">
                <a16:creationId xmlns:a16="http://schemas.microsoft.com/office/drawing/2014/main" id="{1B5A4946-4B46-431A-8B08-B05F99835B51}"/>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producto = ("P01", 8)</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print(producto[0])</a:t>
            </a:r>
          </a:p>
        </p:txBody>
      </p:sp>
      <p:sp>
        <p:nvSpPr>
          <p:cNvPr id="8" name="">
            <a:extLst xmlns:a="http://schemas.openxmlformats.org/drawingml/2006/main">
              <a:ext uri="{FF2B5EF4-FFF2-40B4-BE49-F238E27FC236}">
                <a16:creationId xmlns:a16="http://schemas.microsoft.com/office/drawing/2014/main" id="{127DD29C-35A7-4D1C-9AB8-5DDAF87DE110}"/>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Una tupla ordena valores y no permite reemplazar sus posiciones.</a:t>
            </a:r>
          </a:p>
        </p:txBody>
      </p:sp>
    </p:spTree>
    <p:extLst>
      <p:ext uri="{BB962C8B-B14F-4D97-AF65-F5344CB8AC3E}">
        <p14:creationId xmlns:p14="http://schemas.microsoft.com/office/powerpoint/2010/main" val="19835415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4B433F-2627-42C6-A5C5-732F2C9121C2}"/>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703822-E37A-4D51-B00C-8CF1F5AF4828}"/>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Desempaquetado y acceso</a:t>
            </a:r>
          </a:p>
        </p:txBody>
      </p:sp>
      <p:sp>
        <p:nvSpPr>
          <p:cNvPr id="3" name="">
            <a:extLst xmlns:a="http://schemas.openxmlformats.org/drawingml/2006/main">
              <a:ext uri="{FF2B5EF4-FFF2-40B4-BE49-F238E27FC236}">
                <a16:creationId xmlns:a16="http://schemas.microsoft.com/office/drawing/2014/main" id="{141585B3-61CC-4E03-ADD6-045205A3EFB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299C483-D541-49E8-9A4B-26E8977857B6}"/>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3.10</a:t>
            </a:r>
          </a:p>
        </p:txBody>
      </p:sp>
      <p:sp>
        <p:nvSpPr>
          <p:cNvPr id="5" name="">
            <a:extLst xmlns:a="http://schemas.openxmlformats.org/drawingml/2006/main">
              <a:ext uri="{FF2B5EF4-FFF2-40B4-BE49-F238E27FC236}">
                <a16:creationId xmlns:a16="http://schemas.microsoft.com/office/drawing/2014/main" id="{8291FB04-55C0-4452-A5E2-41A94924B487}"/>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2B582FC7-4138-48D3-98F9-03A9DDE68E31}"/>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Extraer campos debe respetar el esquema. Una cantidad de campos distinta puede indicar datos mal formados.</a:t>
            </a:r>
          </a:p>
        </p:txBody>
      </p:sp>
      <p:sp>
        <p:nvSpPr>
          <p:cNvPr id="7" name="">
            <a:extLst xmlns:a="http://schemas.openxmlformats.org/drawingml/2006/main">
              <a:ext uri="{FF2B5EF4-FFF2-40B4-BE49-F238E27FC236}">
                <a16:creationId xmlns:a16="http://schemas.microsoft.com/office/drawing/2014/main" id="{9407C996-B72F-4EC1-9ADA-620CD053ECD7}"/>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93" b="0">
                <a:solidFill>
                  <a:srgbClr val="403F3B"/>
                </a:solidFill>
                <a:latin typeface="DejaVu Sans"/>
                <a:ea typeface="DejaVu Sans"/>
                <a:cs typeface="DejaVu Sans"/>
              </a:defRPr>
            </a:pPr>
            <a:r>
              <a:rPr sz="1393" b="0">
                <a:solidFill>
                  <a:srgbClr val="403F3B"/>
                </a:solidFill>
                <a:latin typeface="DejaVu Sans"/>
                <a:ea typeface="DejaVu Sans"/>
                <a:cs typeface="DejaVu Sans"/>
              </a:rPr>
              <a:t>for codigo, cantidad in [("A", 3), ("B", 0)]:</a:t>
            </a:r>
          </a:p>
          <a:p xmlns:a="http://schemas.openxmlformats.org/drawingml/2006/main">
            <a:pPr>
              <a:defRPr sz="1393" b="0">
                <a:solidFill>
                  <a:srgbClr val="403F3B"/>
                </a:solidFill>
                <a:latin typeface="DejaVu Sans"/>
                <a:ea typeface="DejaVu Sans"/>
                <a:cs typeface="DejaVu Sans"/>
              </a:defRPr>
            </a:pPr>
            <a:r>
              <a:rPr sz="1393" b="0">
                <a:solidFill>
                  <a:srgbClr val="403F3B"/>
                </a:solidFill>
                <a:latin typeface="DejaVu Sans"/>
                <a:ea typeface="DejaVu Sans"/>
                <a:cs typeface="DejaVu Sans"/>
              </a:rPr>
              <a:t>    print(codigo, cantidad)</a:t>
            </a:r>
          </a:p>
        </p:txBody>
      </p:sp>
      <p:sp>
        <p:nvSpPr>
          <p:cNvPr id="8" name="">
            <a:extLst xmlns:a="http://schemas.openxmlformats.org/drawingml/2006/main">
              <a:ext uri="{FF2B5EF4-FFF2-40B4-BE49-F238E27FC236}">
                <a16:creationId xmlns:a16="http://schemas.microsoft.com/office/drawing/2014/main" id="{9227C7B9-0A97-4091-B8A0-0A540F718349}"/>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codigo, cantidad = producto desempaqueta dos elementos.</a:t>
            </a:r>
          </a:p>
        </p:txBody>
      </p:sp>
    </p:spTree>
    <p:extLst>
      <p:ext uri="{BB962C8B-B14F-4D97-AF65-F5344CB8AC3E}">
        <p14:creationId xmlns:p14="http://schemas.microsoft.com/office/powerpoint/2010/main" val="20478140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97D5BD4-F0FC-480B-B5DC-178AA1BA7F98}"/>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8609BE-30B2-4191-A255-11C38CA6F28F}"/>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Inmutabilidad superficial</a:t>
            </a:r>
          </a:p>
        </p:txBody>
      </p:sp>
      <p:sp>
        <p:nvSpPr>
          <p:cNvPr id="3" name="">
            <a:extLst xmlns:a="http://schemas.openxmlformats.org/drawingml/2006/main">
              <a:ext uri="{FF2B5EF4-FFF2-40B4-BE49-F238E27FC236}">
                <a16:creationId xmlns:a16="http://schemas.microsoft.com/office/drawing/2014/main" id="{7181933A-F7EE-4D12-87AD-EA98551D2B8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3174CCE-9D02-4DF3-9879-AB707BAA44DC}"/>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3.10</a:t>
            </a:r>
          </a:p>
        </p:txBody>
      </p:sp>
      <p:sp>
        <p:nvSpPr>
          <p:cNvPr id="5" name="">
            <a:extLst xmlns:a="http://schemas.openxmlformats.org/drawingml/2006/main">
              <a:ext uri="{FF2B5EF4-FFF2-40B4-BE49-F238E27FC236}">
                <a16:creationId xmlns:a16="http://schemas.microsoft.com/office/drawing/2014/main" id="{57093ABA-FAC7-4508-98E9-90FCC432F6FD}"/>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856D510E-7298-40DC-A441-61447A56DEFD}"/>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 contenedor inmutable impide reemplazar sus campos o posiciones, pero no necesariamente impide modificar objetos contenidos. Una tupla con una lista puede observar cambios en esa lista.</a:t>
            </a:r>
          </a:p>
        </p:txBody>
      </p:sp>
      <p:sp>
        <p:nvSpPr>
          <p:cNvPr id="7" name="">
            <a:extLst xmlns:a="http://schemas.openxmlformats.org/drawingml/2006/main">
              <a:ext uri="{FF2B5EF4-FFF2-40B4-BE49-F238E27FC236}">
                <a16:creationId xmlns:a16="http://schemas.microsoft.com/office/drawing/2014/main" id="{7AC1C1FF-E951-4D19-9268-621B5092FA7F}"/>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original = ("A", 3)</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actualizado = (original[0], 4)</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print(original, actualizado)</a:t>
            </a:r>
          </a:p>
        </p:txBody>
      </p:sp>
      <p:sp>
        <p:nvSpPr>
          <p:cNvPr id="8" name="">
            <a:extLst xmlns:a="http://schemas.openxmlformats.org/drawingml/2006/main">
              <a:ext uri="{FF2B5EF4-FFF2-40B4-BE49-F238E27FC236}">
                <a16:creationId xmlns:a16="http://schemas.microsoft.com/office/drawing/2014/main" id="{064C16EB-5F60-451B-871F-8D470408DFAD}"/>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Para actualizar un dato escalar, construir una nueva tupla.</a:t>
            </a:r>
          </a:p>
        </p:txBody>
      </p:sp>
    </p:spTree>
    <p:extLst>
      <p:ext uri="{BB962C8B-B14F-4D97-AF65-F5344CB8AC3E}">
        <p14:creationId xmlns:p14="http://schemas.microsoft.com/office/powerpoint/2010/main" val="35804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ABB5ED-B66B-49FE-B602-CE68FDEE3396}"/>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3A1890-F872-4571-ACC9-1C5EEF311A3C}"/>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Filtrar registros y validar dominio</a:t>
            </a:r>
          </a:p>
        </p:txBody>
      </p:sp>
      <p:sp>
        <p:nvSpPr>
          <p:cNvPr id="3" name="">
            <a:extLst xmlns:a="http://schemas.openxmlformats.org/drawingml/2006/main">
              <a:ext uri="{FF2B5EF4-FFF2-40B4-BE49-F238E27FC236}">
                <a16:creationId xmlns:a16="http://schemas.microsoft.com/office/drawing/2014/main" id="{095BB340-FF2F-4251-98EB-ECB38FFED92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2BDBC9-59EA-4F2F-8CF1-1ADACFDAB17F}"/>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3.10</a:t>
            </a:r>
          </a:p>
        </p:txBody>
      </p:sp>
      <p:sp>
        <p:nvSpPr>
          <p:cNvPr id="5" name="">
            <a:extLst xmlns:a="http://schemas.openxmlformats.org/drawingml/2006/main">
              <a:ext uri="{FF2B5EF4-FFF2-40B4-BE49-F238E27FC236}">
                <a16:creationId xmlns:a16="http://schemas.microsoft.com/office/drawing/2014/main" id="{5ABB8BFD-11A3-4979-9415-B238E1DD9F89}"/>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37461E43-A1EE-41BD-B3A6-40F91FEC6E3E}"/>
              </a:ext>
            </a:extLst>
          </p:cNvPr>
          <p:cNvSpPr>
            <a:spLocks xmlns:a="http://schemas.openxmlformats.org/drawingml/2006/main" noGrp="1"/>
          </p:cNvSpPr>
          <p:nvPr/>
        </p:nvSpPr>
        <p:spPr>
          <a:xfrm xmlns:a="http://schemas.openxmlformats.org/drawingml/2006/main">
            <a:off x="819150" y="1619250"/>
            <a:ext cx="4810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Procesar registros combina lectura de campos y condiciones. Mantener orden y duplicados según el contrato.</a:t>
            </a:r>
          </a:p>
        </p:txBody>
      </p:sp>
      <p:sp>
        <p:nvSpPr>
          <p:cNvPr id="7" name="">
            <a:extLst xmlns:a="http://schemas.openxmlformats.org/drawingml/2006/main">
              <a:ext uri="{FF2B5EF4-FFF2-40B4-BE49-F238E27FC236}">
                <a16:creationId xmlns:a16="http://schemas.microsoft.com/office/drawing/2014/main" id="{105C9C76-BB9F-4B19-9DF2-426EA2EE7B83}"/>
              </a:ext>
            </a:extLst>
          </p:cNvPr>
          <p:cNvSpPr>
            <a:spLocks xmlns:a="http://schemas.openxmlformats.org/drawingml/2006/main" noGrp="1"/>
          </p:cNvSpPr>
          <p:nvPr/>
        </p:nvSpPr>
        <p:spPr>
          <a:xfrm xmlns:a="http://schemas.openxmlformats.org/drawingml/2006/main">
            <a:off x="6191250" y="1762125"/>
            <a:ext cx="5286375" cy="3286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93" b="0">
                <a:solidFill>
                  <a:srgbClr val="403F3B"/>
                </a:solidFill>
                <a:latin typeface="DejaVu Sans"/>
                <a:ea typeface="DejaVu Sans"/>
                <a:cs typeface="DejaVu Sans"/>
              </a:defRPr>
            </a:pPr>
            <a:r>
              <a:rPr sz="1393" b="0">
                <a:solidFill>
                  <a:srgbClr val="403F3B"/>
                </a:solidFill>
                <a:latin typeface="DejaVu Sans"/>
                <a:ea typeface="DejaVu Sans"/>
                <a:cs typeface="DejaVu Sans"/>
              </a:rPr>
              <a:t>seleccionados = []</a:t>
            </a:r>
          </a:p>
          <a:p xmlns:a="http://schemas.openxmlformats.org/drawingml/2006/main">
            <a:pPr>
              <a:defRPr sz="1393" b="0">
                <a:solidFill>
                  <a:srgbClr val="403F3B"/>
                </a:solidFill>
                <a:latin typeface="DejaVu Sans"/>
                <a:ea typeface="DejaVu Sans"/>
                <a:cs typeface="DejaVu Sans"/>
              </a:defRPr>
            </a:pPr>
            <a:r>
              <a:rPr sz="1393" b="0">
                <a:solidFill>
                  <a:srgbClr val="403F3B"/>
                </a:solidFill>
                <a:latin typeface="DejaVu Sans"/>
                <a:ea typeface="DejaVu Sans"/>
                <a:cs typeface="DejaVu Sans"/>
              </a:rPr>
              <a:t>for codigo, cantidad in [("A", 3), ("B", 0)]:</a:t>
            </a:r>
          </a:p>
          <a:p xmlns:a="http://schemas.openxmlformats.org/drawingml/2006/main">
            <a:pPr>
              <a:defRPr sz="1393" b="0">
                <a:solidFill>
                  <a:srgbClr val="403F3B"/>
                </a:solidFill>
                <a:latin typeface="DejaVu Sans"/>
                <a:ea typeface="DejaVu Sans"/>
                <a:cs typeface="DejaVu Sans"/>
              </a:defRPr>
            </a:pPr>
            <a:r>
              <a:rPr sz="1393" b="0">
                <a:solidFill>
                  <a:srgbClr val="403F3B"/>
                </a:solidFill>
                <a:latin typeface="DejaVu Sans"/>
                <a:ea typeface="DejaVu Sans"/>
                <a:cs typeface="DejaVu Sans"/>
              </a:rPr>
              <a:t>    if cantidad &gt; 0:</a:t>
            </a:r>
          </a:p>
          <a:p xmlns:a="http://schemas.openxmlformats.org/drawingml/2006/main">
            <a:pPr>
              <a:defRPr sz="1393" b="0">
                <a:solidFill>
                  <a:srgbClr val="403F3B"/>
                </a:solidFill>
                <a:latin typeface="DejaVu Sans"/>
                <a:ea typeface="DejaVu Sans"/>
                <a:cs typeface="DejaVu Sans"/>
              </a:defRPr>
            </a:pPr>
            <a:r>
              <a:rPr sz="1393" b="0">
                <a:solidFill>
                  <a:srgbClr val="403F3B"/>
                </a:solidFill>
                <a:latin typeface="DejaVu Sans"/>
                <a:ea typeface="DejaVu Sans"/>
                <a:cs typeface="DejaVu Sans"/>
              </a:rPr>
              <a:t>        seleccionados.append(codigo)</a:t>
            </a:r>
          </a:p>
        </p:txBody>
      </p:sp>
      <p:sp>
        <p:nvSpPr>
          <p:cNvPr id="8" name="">
            <a:extLst xmlns:a="http://schemas.openxmlformats.org/drawingml/2006/main">
              <a:ext uri="{FF2B5EF4-FFF2-40B4-BE49-F238E27FC236}">
                <a16:creationId xmlns:a16="http://schemas.microsoft.com/office/drawing/2014/main" id="{7E3D8933-9336-4B8A-B8AA-08CC01AEE2A0}"/>
              </a:ext>
            </a:extLst>
          </p:cNvPr>
          <p:cNvSpPr>
            <a:spLocks xmlns:a="http://schemas.openxmlformats.org/drawingml/2006/main" noGrp="1"/>
          </p:cNvSpPr>
          <p:nvPr/>
        </p:nvSpPr>
        <p:spPr>
          <a:xfrm xmlns:a="http://schemas.openxmlformats.org/drawingml/2006/main">
            <a:off x="6191250" y="5238750"/>
            <a:ext cx="5286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03772"/>
                </a:solidFill>
                <a:latin typeface="DejaVu Sans"/>
                <a:ea typeface="DejaVu Sans"/>
                <a:cs typeface="DejaVu Sans"/>
              </a:defRPr>
            </a:pPr>
            <a:r>
              <a:rPr sz="1725" b="0">
                <a:solidFill>
                  <a:srgbClr val="003772"/>
                </a:solidFill>
                <a:latin typeface="DejaVu Sans"/>
                <a:ea typeface="DejaVu Sans"/>
                <a:cs typeface="DejaVu Sans"/>
              </a:rPr>
              <a:t>Usar funciones con parámetros claros y devolver una lista nueva.</a:t>
            </a:r>
          </a:p>
        </p:txBody>
      </p:sp>
    </p:spTree>
    <p:extLst>
      <p:ext uri="{BB962C8B-B14F-4D97-AF65-F5344CB8AC3E}">
        <p14:creationId xmlns:p14="http://schemas.microsoft.com/office/powerpoint/2010/main" val="11573710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74C1C89-7FB4-45E0-BCC2-178458C6E76C}"/>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22EB403-674E-42DC-A34C-58CE453D1EEB}"/>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Contrato y recorrido de la demostración</a:t>
            </a:r>
          </a:p>
        </p:txBody>
      </p:sp>
      <p:sp>
        <p:nvSpPr>
          <p:cNvPr id="3" name="">
            <a:extLst xmlns:a="http://schemas.openxmlformats.org/drawingml/2006/main">
              <a:ext uri="{FF2B5EF4-FFF2-40B4-BE49-F238E27FC236}">
                <a16:creationId xmlns:a16="http://schemas.microsoft.com/office/drawing/2014/main" id="{712199AC-1F3B-48B0-AF06-E15362F3F02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CDCF2A2-1FD4-410B-9636-6296B00B44AF}"/>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3.10</a:t>
            </a:r>
          </a:p>
        </p:txBody>
      </p:sp>
      <p:sp>
        <p:nvSpPr>
          <p:cNvPr id="5" name="">
            <a:extLst xmlns:a="http://schemas.openxmlformats.org/drawingml/2006/main">
              <a:ext uri="{FF2B5EF4-FFF2-40B4-BE49-F238E27FC236}">
                <a16:creationId xmlns:a16="http://schemas.microsoft.com/office/drawing/2014/main" id="{B3D18DBB-B47D-4126-8C1A-1CA626B6CDC7}"/>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C105976C-6AF8-45E8-9197-BA1FCBB96558}"/>
              </a:ext>
            </a:extLst>
          </p:cNvPr>
          <p:cNvSpPr>
            <a:spLocks xmlns:a="http://schemas.openxmlformats.org/drawingml/2006/main" noGrp="1"/>
          </p:cNvSpPr>
          <p:nvPr/>
        </p:nvSpPr>
        <p:spPr>
          <a:xfrm xmlns:a="http://schemas.openxmlformats.org/drawingml/2006/main">
            <a:off x="80962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1E4BB6B-8BFD-448D-ACC9-BE6C72DAE7EF}"/>
              </a:ext>
            </a:extLst>
          </p:cNvPr>
          <p:cNvSpPr>
            <a:spLocks xmlns:a="http://schemas.openxmlformats.org/drawingml/2006/main" noGrp="1"/>
          </p:cNvSpPr>
          <p:nvPr/>
        </p:nvSpPr>
        <p:spPr>
          <a:xfrm xmlns:a="http://schemas.openxmlformats.org/drawingml/2006/main">
            <a:off x="100012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ENTRADA</a:t>
            </a:r>
          </a:p>
        </p:txBody>
      </p:sp>
      <p:sp>
        <p:nvSpPr>
          <p:cNvPr id="8" name="">
            <a:extLst xmlns:a="http://schemas.openxmlformats.org/drawingml/2006/main">
              <a:ext uri="{FF2B5EF4-FFF2-40B4-BE49-F238E27FC236}">
                <a16:creationId xmlns:a16="http://schemas.microsoft.com/office/drawing/2014/main" id="{155442CF-4EEC-4FEE-AF9A-9707545B1136}"/>
              </a:ext>
            </a:extLst>
          </p:cNvPr>
          <p:cNvSpPr>
            <a:spLocks xmlns:a="http://schemas.openxmlformats.org/drawingml/2006/main" noGrp="1"/>
          </p:cNvSpPr>
          <p:nvPr/>
        </p:nvSpPr>
        <p:spPr>
          <a:xfrm xmlns:a="http://schemas.openxmlformats.org/drawingml/2006/main">
            <a:off x="100012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Datos definidos en el ejemplo</a:t>
            </a:r>
          </a:p>
        </p:txBody>
      </p:sp>
      <p:sp>
        <p:nvSpPr>
          <p:cNvPr id="9" name="">
            <a:extLst xmlns:a="http://schemas.openxmlformats.org/drawingml/2006/main">
              <a:ext uri="{FF2B5EF4-FFF2-40B4-BE49-F238E27FC236}">
                <a16:creationId xmlns:a16="http://schemas.microsoft.com/office/drawing/2014/main" id="{2C664081-59BB-4119-94AE-70C83336E224}"/>
              </a:ext>
            </a:extLst>
          </p:cNvPr>
          <p:cNvSpPr>
            <a:spLocks xmlns:a="http://schemas.openxmlformats.org/drawingml/2006/main" noGrp="1"/>
          </p:cNvSpPr>
          <p:nvPr/>
        </p:nvSpPr>
        <p:spPr>
          <a:xfrm xmlns:a="http://schemas.openxmlformats.org/drawingml/2006/main">
            <a:off x="4143375"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0" name="">
            <a:extLst xmlns:a="http://schemas.openxmlformats.org/drawingml/2006/main">
              <a:ext uri="{FF2B5EF4-FFF2-40B4-BE49-F238E27FC236}">
                <a16:creationId xmlns:a16="http://schemas.microsoft.com/office/drawing/2014/main" id="{8A3FCB4B-6EBC-47BA-80A7-F64D4095E6FF}"/>
              </a:ext>
            </a:extLst>
          </p:cNvPr>
          <p:cNvSpPr>
            <a:spLocks xmlns:a="http://schemas.openxmlformats.org/drawingml/2006/main" noGrp="1"/>
          </p:cNvSpPr>
          <p:nvPr/>
        </p:nvSpPr>
        <p:spPr>
          <a:xfrm xmlns:a="http://schemas.openxmlformats.org/drawingml/2006/main">
            <a:off x="4552950"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8638173-DC4B-403D-9C8C-E8E7D9405835}"/>
              </a:ext>
            </a:extLst>
          </p:cNvPr>
          <p:cNvSpPr>
            <a:spLocks xmlns:a="http://schemas.openxmlformats.org/drawingml/2006/main" noGrp="1"/>
          </p:cNvSpPr>
          <p:nvPr/>
        </p:nvSpPr>
        <p:spPr>
          <a:xfrm xmlns:a="http://schemas.openxmlformats.org/drawingml/2006/main">
            <a:off x="4743450"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PROCESO</a:t>
            </a:r>
          </a:p>
        </p:txBody>
      </p:sp>
      <p:sp>
        <p:nvSpPr>
          <p:cNvPr id="12" name="">
            <a:extLst xmlns:a="http://schemas.openxmlformats.org/drawingml/2006/main">
              <a:ext uri="{FF2B5EF4-FFF2-40B4-BE49-F238E27FC236}">
                <a16:creationId xmlns:a16="http://schemas.microsoft.com/office/drawing/2014/main" id="{F9C9444C-538B-4A08-9452-874C3507CEDC}"/>
              </a:ext>
            </a:extLst>
          </p:cNvPr>
          <p:cNvSpPr>
            <a:spLocks xmlns:a="http://schemas.openxmlformats.org/drawingml/2006/main" noGrp="1"/>
          </p:cNvSpPr>
          <p:nvPr/>
        </p:nvSpPr>
        <p:spPr>
          <a:xfrm xmlns:a="http://schemas.openxmlformats.org/drawingml/2006/main">
            <a:off x="4743450"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Desempaquetado y acceso</a:t>
            </a:r>
          </a:p>
        </p:txBody>
      </p:sp>
      <p:sp>
        <p:nvSpPr>
          <p:cNvPr id="13" name="">
            <a:extLst xmlns:a="http://schemas.openxmlformats.org/drawingml/2006/main">
              <a:ext uri="{FF2B5EF4-FFF2-40B4-BE49-F238E27FC236}">
                <a16:creationId xmlns:a16="http://schemas.microsoft.com/office/drawing/2014/main" id="{6AB5C67E-E8DA-4C26-A2F8-4DE485159C08}"/>
              </a:ext>
            </a:extLst>
          </p:cNvPr>
          <p:cNvSpPr>
            <a:spLocks xmlns:a="http://schemas.openxmlformats.org/drawingml/2006/main" noGrp="1"/>
          </p:cNvSpPr>
          <p:nvPr/>
        </p:nvSpPr>
        <p:spPr>
          <a:xfrm xmlns:a="http://schemas.openxmlformats.org/drawingml/2006/main">
            <a:off x="7886700" y="3095625"/>
            <a:ext cx="38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1">
                <a:solidFill>
                  <a:srgbClr val="003772"/>
                </a:solidFill>
                <a:latin typeface="DejaVu Sans"/>
                <a:ea typeface="DejaVu Sans"/>
                <a:cs typeface="DejaVu Sans"/>
              </a:defRPr>
            </a:pPr>
            <a:r>
              <a:rPr sz="2475" b="1">
                <a:solidFill>
                  <a:srgbClr val="003772"/>
                </a:solidFill>
                <a:latin typeface="DejaVu Sans"/>
                <a:ea typeface="DejaVu Sans"/>
                <a:cs typeface="DejaVu Sans"/>
              </a:rPr>
              <a:t>→</a:t>
            </a:r>
          </a:p>
        </p:txBody>
      </p:sp>
      <p:sp>
        <p:nvSpPr>
          <p:cNvPr id="14" name="">
            <a:extLst xmlns:a="http://schemas.openxmlformats.org/drawingml/2006/main">
              <a:ext uri="{FF2B5EF4-FFF2-40B4-BE49-F238E27FC236}">
                <a16:creationId xmlns:a16="http://schemas.microsoft.com/office/drawing/2014/main" id="{88321FF2-10F7-43A8-B3FD-2586A7E8EEF7}"/>
              </a:ext>
            </a:extLst>
          </p:cNvPr>
          <p:cNvSpPr>
            <a:spLocks xmlns:a="http://schemas.openxmlformats.org/drawingml/2006/main" noGrp="1"/>
          </p:cNvSpPr>
          <p:nvPr/>
        </p:nvSpPr>
        <p:spPr>
          <a:xfrm xmlns:a="http://schemas.openxmlformats.org/drawingml/2006/main">
            <a:off x="8296275" y="2047875"/>
            <a:ext cx="3286125" cy="24765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1D9D6D2-278E-474E-BBB2-EE6C11243FD3}"/>
              </a:ext>
            </a:extLst>
          </p:cNvPr>
          <p:cNvSpPr>
            <a:spLocks xmlns:a="http://schemas.openxmlformats.org/drawingml/2006/main" noGrp="1"/>
          </p:cNvSpPr>
          <p:nvPr/>
        </p:nvSpPr>
        <p:spPr>
          <a:xfrm xmlns:a="http://schemas.openxmlformats.org/drawingml/2006/main">
            <a:off x="8486775" y="22860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SALIDA</a:t>
            </a:r>
          </a:p>
        </p:txBody>
      </p:sp>
      <p:sp>
        <p:nvSpPr>
          <p:cNvPr id="16" name="">
            <a:extLst xmlns:a="http://schemas.openxmlformats.org/drawingml/2006/main">
              <a:ext uri="{FF2B5EF4-FFF2-40B4-BE49-F238E27FC236}">
                <a16:creationId xmlns:a16="http://schemas.microsoft.com/office/drawing/2014/main" id="{0C506BA9-A5A9-4146-AA78-01C943EE9FA2}"/>
              </a:ext>
            </a:extLst>
          </p:cNvPr>
          <p:cNvSpPr>
            <a:spLocks xmlns:a="http://schemas.openxmlformats.org/drawingml/2006/main" noGrp="1"/>
          </p:cNvSpPr>
          <p:nvPr/>
        </p:nvSpPr>
        <p:spPr>
          <a:xfrm xmlns:a="http://schemas.openxmlformats.org/drawingml/2006/main">
            <a:off x="8486775" y="302895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P01: 8</a:t>
            </a:r>
          </a:p>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P03: 4</a:t>
            </a:r>
          </a:p>
        </p:txBody>
      </p:sp>
      <p:sp>
        <p:nvSpPr>
          <p:cNvPr id="17" name="">
            <a:extLst xmlns:a="http://schemas.openxmlformats.org/drawingml/2006/main">
              <a:ext uri="{FF2B5EF4-FFF2-40B4-BE49-F238E27FC236}">
                <a16:creationId xmlns:a16="http://schemas.microsoft.com/office/drawing/2014/main" id="{46273B35-5684-422E-B740-9E178988FDCF}"/>
              </a:ext>
            </a:extLst>
          </p:cNvPr>
          <p:cNvSpPr>
            <a:spLocks xmlns:a="http://schemas.openxmlformats.org/drawingml/2006/main" noGrp="1"/>
          </p:cNvSpPr>
          <p:nvPr/>
        </p:nvSpPr>
        <p:spPr>
          <a:xfrm xmlns:a="http://schemas.openxmlformats.org/drawingml/2006/main">
            <a:off x="819150" y="51911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003772"/>
                </a:solidFill>
                <a:latin typeface="DejaVu Sans"/>
                <a:ea typeface="DejaVu Sans"/>
                <a:cs typeface="DejaVu Sans"/>
              </a:defRPr>
            </a:pPr>
            <a:r>
              <a:rPr sz="2100" b="1">
                <a:solidFill>
                  <a:srgbClr val="003772"/>
                </a:solidFill>
                <a:latin typeface="DejaVu Sans"/>
                <a:ea typeface="DejaVu Sans"/>
                <a:cs typeface="DejaVu Sans"/>
              </a:rPr>
              <a:t>Conservar el contrato al cambiar de lenguaje.</a:t>
            </a:r>
          </a:p>
        </p:txBody>
      </p:sp>
    </p:spTree>
    <p:extLst>
      <p:ext uri="{BB962C8B-B14F-4D97-AF65-F5344CB8AC3E}">
        <p14:creationId xmlns:p14="http://schemas.microsoft.com/office/powerpoint/2010/main" val="12015527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8E4E32-44C6-4535-8DF5-B239F0EC8B1F}"/>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963D8F-930A-42E4-ABE7-33A67856A000}"/>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Demostración guiada</a:t>
            </a:r>
          </a:p>
        </p:txBody>
      </p:sp>
      <p:sp>
        <p:nvSpPr>
          <p:cNvPr id="3" name="">
            <a:extLst xmlns:a="http://schemas.openxmlformats.org/drawingml/2006/main">
              <a:ext uri="{FF2B5EF4-FFF2-40B4-BE49-F238E27FC236}">
                <a16:creationId xmlns:a16="http://schemas.microsoft.com/office/drawing/2014/main" id="{F9F9225F-DA58-45E9-8506-D15720D68CB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226D89C-031A-4FFF-A0E8-DD0BA1C6DF74}"/>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3.10</a:t>
            </a:r>
          </a:p>
        </p:txBody>
      </p:sp>
      <p:sp>
        <p:nvSpPr>
          <p:cNvPr id="5" name="">
            <a:extLst xmlns:a="http://schemas.openxmlformats.org/drawingml/2006/main">
              <a:ext uri="{FF2B5EF4-FFF2-40B4-BE49-F238E27FC236}">
                <a16:creationId xmlns:a16="http://schemas.microsoft.com/office/drawing/2014/main" id="{D0525D4F-3C29-4F01-80D8-7563D0C3A1D8}"/>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8</a:t>
            </a:r>
          </a:p>
        </p:txBody>
      </p:sp>
      <p:sp>
        <p:nvSpPr>
          <p:cNvPr id="6" name="">
            <a:extLst xmlns:a="http://schemas.openxmlformats.org/drawingml/2006/main">
              <a:ext uri="{FF2B5EF4-FFF2-40B4-BE49-F238E27FC236}">
                <a16:creationId xmlns:a16="http://schemas.microsoft.com/office/drawing/2014/main" id="{C3D30E47-EBF3-480B-897B-3E12BC39516B}"/>
              </a:ext>
            </a:extLst>
          </p:cNvPr>
          <p:cNvSpPr>
            <a:spLocks xmlns:a="http://schemas.openxmlformats.org/drawingml/2006/main" noGrp="1"/>
          </p:cNvSpPr>
          <p:nvPr/>
        </p:nvSpPr>
        <p:spPr>
          <a:xfrm xmlns:a="http://schemas.openxmlformats.org/drawingml/2006/main">
            <a:off x="819150" y="1666875"/>
            <a:ext cx="10572750" cy="4048125"/>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productos = [("P01", 8), ("P02", 0), ("P03", 4)]</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for codigo, cantidad in productos:</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if cantidad &gt; 0:</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        print(f"{codigo}: {cantidad}")</a:t>
            </a:r>
          </a:p>
        </p:txBody>
      </p:sp>
    </p:spTree>
    <p:extLst>
      <p:ext uri="{BB962C8B-B14F-4D97-AF65-F5344CB8AC3E}">
        <p14:creationId xmlns:p14="http://schemas.microsoft.com/office/powerpoint/2010/main" val="18477246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C666CD-CFF5-48C2-8CE2-21D66BEBA69B}"/>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F7AB18-D17B-435F-B03B-4D2F8F75F0B9}"/>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Resultado esperado y comprobación</a:t>
            </a:r>
          </a:p>
        </p:txBody>
      </p:sp>
      <p:sp>
        <p:nvSpPr>
          <p:cNvPr id="3" name="">
            <a:extLst xmlns:a="http://schemas.openxmlformats.org/drawingml/2006/main">
              <a:ext uri="{FF2B5EF4-FFF2-40B4-BE49-F238E27FC236}">
                <a16:creationId xmlns:a16="http://schemas.microsoft.com/office/drawing/2014/main" id="{1F10661A-5BF8-437E-9F27-1BEDA62E775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5AF871-5199-4AA5-97D4-8A60A70EC2B5}"/>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3.10</a:t>
            </a:r>
          </a:p>
        </p:txBody>
      </p:sp>
      <p:sp>
        <p:nvSpPr>
          <p:cNvPr id="5" name="">
            <a:extLst xmlns:a="http://schemas.openxmlformats.org/drawingml/2006/main">
              <a:ext uri="{FF2B5EF4-FFF2-40B4-BE49-F238E27FC236}">
                <a16:creationId xmlns:a16="http://schemas.microsoft.com/office/drawing/2014/main" id="{993D79CD-FCF0-4428-8B46-BC8336572259}"/>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B5878CAD-7153-47CE-BE87-0831CBB22EB7}"/>
              </a:ext>
            </a:extLst>
          </p:cNvPr>
          <p:cNvSpPr>
            <a:spLocks xmlns:a="http://schemas.openxmlformats.org/drawingml/2006/main" noGrp="1"/>
          </p:cNvSpPr>
          <p:nvPr/>
        </p:nvSpPr>
        <p:spPr>
          <a:xfrm xmlns:a="http://schemas.openxmlformats.org/drawingml/2006/main">
            <a:off x="819150" y="1666875"/>
            <a:ext cx="6381750" cy="333375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P01: 8</a:t>
            </a:r>
          </a:p>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P03: 4</a:t>
            </a:r>
          </a:p>
        </p:txBody>
      </p:sp>
      <p:sp>
        <p:nvSpPr>
          <p:cNvPr id="7" name="">
            <a:extLst xmlns:a="http://schemas.openxmlformats.org/drawingml/2006/main">
              <a:ext uri="{FF2B5EF4-FFF2-40B4-BE49-F238E27FC236}">
                <a16:creationId xmlns:a16="http://schemas.microsoft.com/office/drawing/2014/main" id="{BEDB4BFE-CFAB-4A3B-A0E8-F5C2D6AB43ED}"/>
              </a:ext>
            </a:extLst>
          </p:cNvPr>
          <p:cNvSpPr>
            <a:spLocks xmlns:a="http://schemas.openxmlformats.org/drawingml/2006/main" noGrp="1"/>
          </p:cNvSpPr>
          <p:nvPr/>
        </p:nvSpPr>
        <p:spPr>
          <a:xfrm xmlns:a="http://schemas.openxmlformats.org/drawingml/2006/main">
            <a:off x="7667625" y="1714500"/>
            <a:ext cx="3714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Ejecutar con los datos indicados.</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Relacionar cada línea con una instrucción.</a:t>
            </a:r>
          </a:p>
          <a:p xmlns:a="http://schemas.openxmlformats.org/drawingml/2006/main">
            <a:r>
              <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Cambiar un dato y anticipar la nueva salida.</a:t>
            </a:r>
          </a:p>
        </p:txBody>
      </p:sp>
    </p:spTree>
    <p:extLst>
      <p:ext uri="{BB962C8B-B14F-4D97-AF65-F5344CB8AC3E}">
        <p14:creationId xmlns:p14="http://schemas.microsoft.com/office/powerpoint/2010/main" val="11210609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79C20C-3FF8-4202-98FF-9AD24D254612}"/>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02AEDD-5111-4E2C-A8A9-81D5DC3489F9}"/>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Ejercicio práctico · Actualización por reemplazo</a:t>
            </a:r>
          </a:p>
        </p:txBody>
      </p:sp>
      <p:sp>
        <p:nvSpPr>
          <p:cNvPr id="3" name="">
            <a:extLst xmlns:a="http://schemas.openxmlformats.org/drawingml/2006/main">
              <a:ext uri="{FF2B5EF4-FFF2-40B4-BE49-F238E27FC236}">
                <a16:creationId xmlns:a16="http://schemas.microsoft.com/office/drawing/2014/main" id="{2E39C8BF-19FF-4125-9713-EE2785F859A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73440FF-6B6D-48DA-BD89-2511AF932FAE}"/>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3.10</a:t>
            </a:r>
          </a:p>
        </p:txBody>
      </p:sp>
      <p:sp>
        <p:nvSpPr>
          <p:cNvPr id="5" name="">
            <a:extLst xmlns:a="http://schemas.openxmlformats.org/drawingml/2006/main">
              <a:ext uri="{FF2B5EF4-FFF2-40B4-BE49-F238E27FC236}">
                <a16:creationId xmlns:a16="http://schemas.microsoft.com/office/drawing/2014/main" id="{1878D5BD-595D-44A4-B81D-0C8E1C71EACA}"/>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F8EAC07A-E9DE-4683-935D-447E58081D09}"/>
              </a:ext>
            </a:extLst>
          </p:cNvPr>
          <p:cNvSpPr>
            <a:spLocks xmlns:a="http://schemas.openxmlformats.org/drawingml/2006/main" noGrp="1"/>
          </p:cNvSpPr>
          <p:nvPr/>
        </p:nvSpPr>
        <p:spPr>
          <a:xfrm xmlns:a="http://schemas.openxmlformats.org/drawingml/2006/main">
            <a:off x="819150" y="1714500"/>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Crear una nueva tupla desde ("A",3) con cantidad 4. Conservar y mostrar original y nueva.</a:t>
            </a:r>
          </a:p>
        </p:txBody>
      </p:sp>
      <p:sp>
        <p:nvSpPr>
          <p:cNvPr id="7" name="">
            <a:extLst xmlns:a="http://schemas.openxmlformats.org/drawingml/2006/main">
              <a:ext uri="{FF2B5EF4-FFF2-40B4-BE49-F238E27FC236}">
                <a16:creationId xmlns:a16="http://schemas.microsoft.com/office/drawing/2014/main" id="{84DEB18B-BAA2-4CC7-8808-013C93F2FB2C}"/>
              </a:ext>
            </a:extLst>
          </p:cNvPr>
          <p:cNvSpPr>
            <a:spLocks xmlns:a="http://schemas.openxmlformats.org/drawingml/2006/main" noGrp="1"/>
          </p:cNvSpPr>
          <p:nvPr/>
        </p:nvSpPr>
        <p:spPr>
          <a:xfrm xmlns:a="http://schemas.openxmlformats.org/drawingml/2006/main">
            <a:off x="819150" y="4286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003772"/>
                </a:solidFill>
                <a:latin typeface="DejaVu Sans"/>
                <a:ea typeface="DejaVu Sans"/>
                <a:cs typeface="DejaVu Sans"/>
              </a:defRPr>
            </a:pPr>
            <a:r>
              <a:rPr sz="1950" b="1">
                <a:solidFill>
                  <a:srgbClr val="003772"/>
                </a:solidFill>
                <a:latin typeface="DejaVu Sans"/>
                <a:ea typeface="DejaVu Sans"/>
                <a:cs typeface="DejaVu Sans"/>
              </a:rPr>
              <a:t>Resultado de comprobación</a:t>
            </a:r>
          </a:p>
        </p:txBody>
      </p:sp>
      <p:sp>
        <p:nvSpPr>
          <p:cNvPr id="8" name="">
            <a:extLst xmlns:a="http://schemas.openxmlformats.org/drawingml/2006/main">
              <a:ext uri="{FF2B5EF4-FFF2-40B4-BE49-F238E27FC236}">
                <a16:creationId xmlns:a16="http://schemas.microsoft.com/office/drawing/2014/main" id="{3020227A-4435-48F5-9FA0-AC90D785D0A3}"/>
              </a:ext>
            </a:extLst>
          </p:cNvPr>
          <p:cNvSpPr>
            <a:spLocks xmlns:a="http://schemas.openxmlformats.org/drawingml/2006/main" noGrp="1"/>
          </p:cNvSpPr>
          <p:nvPr/>
        </p:nvSpPr>
        <p:spPr>
          <a:xfrm xmlns:a="http://schemas.openxmlformats.org/drawingml/2006/main">
            <a:off x="819150" y="4857750"/>
            <a:ext cx="10477500" cy="952500"/>
          </a:xfrm>
          <a:prstGeom xmlns:a="http://schemas.openxmlformats.org/drawingml/2006/main" prst="rect">
            <a:avLst/>
          </a:prstGeom>
          <a:solidFill xmlns:a="http://schemas.openxmlformats.org/drawingml/2006/main">
            <a:srgbClr val="F3F3FA"/>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A 3</a:t>
            </a:r>
          </a:p>
          <a:p xmlns:a="http://schemas.openxmlformats.org/drawingml/2006/main">
            <a:pPr>
              <a:defRPr sz="2100" b="0">
                <a:solidFill>
                  <a:srgbClr val="403F3B"/>
                </a:solidFill>
                <a:latin typeface="DejaVu Sans"/>
                <a:ea typeface="DejaVu Sans"/>
                <a:cs typeface="DejaVu Sans"/>
              </a:defRPr>
            </a:pPr>
            <a:r>
              <a:rPr sz="2100" b="0">
                <a:solidFill>
                  <a:srgbClr val="403F3B"/>
                </a:solidFill>
                <a:latin typeface="DejaVu Sans"/>
                <a:ea typeface="DejaVu Sans"/>
                <a:cs typeface="DejaVu Sans"/>
              </a:rPr>
              <a:t>A 4</a:t>
            </a:r>
          </a:p>
        </p:txBody>
      </p:sp>
    </p:spTree>
    <p:extLst>
      <p:ext uri="{BB962C8B-B14F-4D97-AF65-F5344CB8AC3E}">
        <p14:creationId xmlns:p14="http://schemas.microsoft.com/office/powerpoint/2010/main" val="67222861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FD32C8-9B6A-4428-8917-68A7F10EB8C8}"/>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165C2B-6EA4-4146-8958-DAF3DD62982E}"/>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PC3.10 · Problema y restricciones</a:t>
            </a:r>
          </a:p>
        </p:txBody>
      </p:sp>
      <p:sp>
        <p:nvSpPr>
          <p:cNvPr id="3" name="">
            <a:extLst xmlns:a="http://schemas.openxmlformats.org/drawingml/2006/main">
              <a:ext uri="{FF2B5EF4-FFF2-40B4-BE49-F238E27FC236}">
                <a16:creationId xmlns:a16="http://schemas.microsoft.com/office/drawing/2014/main" id="{7190DDB9-5E23-4C3F-BE75-5F0AE237D23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5A3B8C8-F88B-4D3C-A53A-BF6488E93222}"/>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3.10</a:t>
            </a:r>
          </a:p>
        </p:txBody>
      </p:sp>
      <p:sp>
        <p:nvSpPr>
          <p:cNvPr id="5" name="">
            <a:extLst xmlns:a="http://schemas.openxmlformats.org/drawingml/2006/main">
              <a:ext uri="{FF2B5EF4-FFF2-40B4-BE49-F238E27FC236}">
                <a16:creationId xmlns:a16="http://schemas.microsoft.com/office/drawing/2014/main" id="{8F8FCB78-796D-4AE4-B19C-0C1D15939AC8}"/>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7FEE8BBB-96AF-45AD-9597-454206CB688E}"/>
              </a:ext>
            </a:extLst>
          </p:cNvPr>
          <p:cNvSpPr>
            <a:spLocks xmlns:a="http://schemas.openxmlformats.org/drawingml/2006/main" noGrp="1"/>
          </p:cNvSpPr>
          <p:nvPr/>
        </p:nvSpPr>
        <p:spPr>
          <a:xfrm xmlns:a="http://schemas.openxmlformats.org/drawingml/2006/main">
            <a:off x="819150" y="1571625"/>
            <a:ext cx="105727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403F3B"/>
                </a:solidFill>
                <a:latin typeface="DejaVu Sans"/>
                <a:ea typeface="DejaVu Sans"/>
                <a:cs typeface="DejaVu Sans"/>
              </a:defRPr>
            </a:pPr>
            <a:r>
              <a:rPr sz="2250" b="0">
                <a:solidFill>
                  <a:srgbClr val="403F3B"/>
                </a:solidFill>
                <a:latin typeface="DejaVu Sans"/>
                <a:ea typeface="DejaVu Sans"/>
                <a:cs typeface="DejaVu Sans"/>
              </a:rPr>
              <a:t>Recibir registros (codigo, horas, tarifa). Retornar códigos cuyo costo horas*tarifa supere estrictamente un umbral. Conservar orden y datos originales. Rechazar horas o tarifas negativas.</a:t>
            </a:r>
          </a:p>
        </p:txBody>
      </p:sp>
      <p:sp>
        <p:nvSpPr>
          <p:cNvPr id="7" name="">
            <a:extLst xmlns:a="http://schemas.openxmlformats.org/drawingml/2006/main">
              <a:ext uri="{FF2B5EF4-FFF2-40B4-BE49-F238E27FC236}">
                <a16:creationId xmlns:a16="http://schemas.microsoft.com/office/drawing/2014/main" id="{6A64D1D2-5007-4CA9-98C6-871CF9C1F156}"/>
              </a:ext>
            </a:extLst>
          </p:cNvPr>
          <p:cNvSpPr>
            <a:spLocks xmlns:a="http://schemas.openxmlformats.org/drawingml/2006/main" noGrp="1"/>
          </p:cNvSpPr>
          <p:nvPr/>
        </p:nvSpPr>
        <p:spPr>
          <a:xfrm xmlns:a="http://schemas.openxmlformats.org/drawingml/2006/main">
            <a:off x="819150" y="54768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3772"/>
                </a:solidFill>
                <a:latin typeface="DejaVu Sans"/>
                <a:ea typeface="DejaVu Sans"/>
                <a:cs typeface="DejaVu Sans"/>
              </a:defRPr>
            </a:pPr>
            <a:r>
              <a:rPr sz="1875" b="1">
                <a:solidFill>
                  <a:srgbClr val="003772"/>
                </a:solidFill>
                <a:latin typeface="DejaVu Sans"/>
                <a:ea typeface="DejaVu Sans"/>
                <a:cs typeface="DejaVu Sans"/>
              </a:rPr>
              <a:t>Resolver de forma autónoma y registrar evidencia real.</a:t>
            </a:r>
          </a:p>
        </p:txBody>
      </p:sp>
    </p:spTree>
    <p:extLst>
      <p:ext uri="{BB962C8B-B14F-4D97-AF65-F5344CB8AC3E}">
        <p14:creationId xmlns:p14="http://schemas.microsoft.com/office/powerpoint/2010/main" val="67088041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DECED66-7660-4537-AE7D-AA9B70356F16}"/>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DFE402-D560-4647-8CB1-B840E978D221}"/>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PC3.10 · Casos de aceptación</a:t>
            </a:r>
          </a:p>
        </p:txBody>
      </p:sp>
      <p:sp>
        <p:nvSpPr>
          <p:cNvPr id="3" name="">
            <a:extLst xmlns:a="http://schemas.openxmlformats.org/drawingml/2006/main">
              <a:ext uri="{FF2B5EF4-FFF2-40B4-BE49-F238E27FC236}">
                <a16:creationId xmlns:a16="http://schemas.microsoft.com/office/drawing/2014/main" id="{C32BA81C-CEF8-4381-B7F3-694909CACDF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A65AF74-A5FF-47EC-8FCD-4A4909347595}"/>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3.10</a:t>
            </a:r>
          </a:p>
        </p:txBody>
      </p:sp>
      <p:sp>
        <p:nvSpPr>
          <p:cNvPr id="5" name="">
            <a:extLst xmlns:a="http://schemas.openxmlformats.org/drawingml/2006/main">
              <a:ext uri="{FF2B5EF4-FFF2-40B4-BE49-F238E27FC236}">
                <a16:creationId xmlns:a16="http://schemas.microsoft.com/office/drawing/2014/main" id="{55900066-AD09-4D21-BB06-A349EB3F61CE}"/>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12</a:t>
            </a:r>
          </a:p>
        </p:txBody>
      </p:sp>
      <p:sp>
        <p:nvSpPr>
          <p:cNvPr id="6" name="">
            <a:extLst xmlns:a="http://schemas.openxmlformats.org/drawingml/2006/main">
              <a:ext uri="{FF2B5EF4-FFF2-40B4-BE49-F238E27FC236}">
                <a16:creationId xmlns:a16="http://schemas.microsoft.com/office/drawing/2014/main" id="{34CB6445-D972-4FD2-A78C-AAEEBB19996F}"/>
              </a:ext>
            </a:extLst>
          </p:cNvPr>
          <p:cNvSpPr>
            <a:spLocks xmlns:a="http://schemas.openxmlformats.org/drawingml/2006/main" noGrp="1"/>
          </p:cNvSpPr>
          <p:nvPr/>
        </p:nvSpPr>
        <p:spPr>
          <a:xfrm xmlns:a="http://schemas.openxmlformats.org/drawingml/2006/main">
            <a:off x="819150" y="161925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[("A",2,5),("B",4,3)], umbral=10</a:t>
            </a:r>
          </a:p>
        </p:txBody>
      </p:sp>
      <p:sp>
        <p:nvSpPr>
          <p:cNvPr id="7" name="">
            <a:extLst xmlns:a="http://schemas.openxmlformats.org/drawingml/2006/main">
              <a:ext uri="{FF2B5EF4-FFF2-40B4-BE49-F238E27FC236}">
                <a16:creationId xmlns:a16="http://schemas.microsoft.com/office/drawing/2014/main" id="{BDB33F68-8588-4149-B163-21F6A891E129}"/>
              </a:ext>
            </a:extLst>
          </p:cNvPr>
          <p:cNvSpPr>
            <a:spLocks xmlns:a="http://schemas.openxmlformats.org/drawingml/2006/main" noGrp="1"/>
          </p:cNvSpPr>
          <p:nvPr/>
        </p:nvSpPr>
        <p:spPr>
          <a:xfrm xmlns:a="http://schemas.openxmlformats.org/drawingml/2006/main">
            <a:off x="5953125" y="161925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["B"]</a:t>
            </a:r>
          </a:p>
        </p:txBody>
      </p:sp>
      <p:sp>
        <p:nvSpPr>
          <p:cNvPr id="8" name="">
            <a:extLst xmlns:a="http://schemas.openxmlformats.org/drawingml/2006/main">
              <a:ext uri="{FF2B5EF4-FFF2-40B4-BE49-F238E27FC236}">
                <a16:creationId xmlns:a16="http://schemas.microsoft.com/office/drawing/2014/main" id="{E039F5A2-ACE1-4517-8C40-D42873FB088D}"/>
              </a:ext>
            </a:extLst>
          </p:cNvPr>
          <p:cNvSpPr>
            <a:spLocks xmlns:a="http://schemas.openxmlformats.org/drawingml/2006/main" noGrp="1"/>
          </p:cNvSpPr>
          <p:nvPr/>
        </p:nvSpPr>
        <p:spPr>
          <a:xfrm xmlns:a="http://schemas.openxmlformats.org/drawingml/2006/main">
            <a:off x="819150" y="260032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 umbral=10</a:t>
            </a:r>
          </a:p>
        </p:txBody>
      </p:sp>
      <p:sp>
        <p:nvSpPr>
          <p:cNvPr id="9" name="">
            <a:extLst xmlns:a="http://schemas.openxmlformats.org/drawingml/2006/main">
              <a:ext uri="{FF2B5EF4-FFF2-40B4-BE49-F238E27FC236}">
                <a16:creationId xmlns:a16="http://schemas.microsoft.com/office/drawing/2014/main" id="{F6FC5AFE-4C30-4D87-9C92-8A9DF40CE6AC}"/>
              </a:ext>
            </a:extLst>
          </p:cNvPr>
          <p:cNvSpPr>
            <a:spLocks xmlns:a="http://schemas.openxmlformats.org/drawingml/2006/main" noGrp="1"/>
          </p:cNvSpPr>
          <p:nvPr/>
        </p:nvSpPr>
        <p:spPr>
          <a:xfrm xmlns:a="http://schemas.openxmlformats.org/drawingml/2006/main">
            <a:off x="5953125" y="260032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a:t>
            </a:r>
          </a:p>
        </p:txBody>
      </p:sp>
      <p:sp>
        <p:nvSpPr>
          <p:cNvPr id="10" name="">
            <a:extLst xmlns:a="http://schemas.openxmlformats.org/drawingml/2006/main">
              <a:ext uri="{FF2B5EF4-FFF2-40B4-BE49-F238E27FC236}">
                <a16:creationId xmlns:a16="http://schemas.microsoft.com/office/drawing/2014/main" id="{B1AEDCEF-3860-476D-B89D-6811654066D6}"/>
              </a:ext>
            </a:extLst>
          </p:cNvPr>
          <p:cNvSpPr>
            <a:spLocks xmlns:a="http://schemas.openxmlformats.org/drawingml/2006/main" noGrp="1"/>
          </p:cNvSpPr>
          <p:nvPr/>
        </p:nvSpPr>
        <p:spPr>
          <a:xfrm xmlns:a="http://schemas.openxmlformats.org/drawingml/2006/main">
            <a:off x="819150" y="3581400"/>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[("A",-1,5)]</a:t>
            </a:r>
          </a:p>
        </p:txBody>
      </p:sp>
      <p:sp>
        <p:nvSpPr>
          <p:cNvPr id="11" name="">
            <a:extLst xmlns:a="http://schemas.openxmlformats.org/drawingml/2006/main">
              <a:ext uri="{FF2B5EF4-FFF2-40B4-BE49-F238E27FC236}">
                <a16:creationId xmlns:a16="http://schemas.microsoft.com/office/drawing/2014/main" id="{4F3CBF06-4CC2-408D-B021-CDECC0DB7636}"/>
              </a:ext>
            </a:extLst>
          </p:cNvPr>
          <p:cNvSpPr>
            <a:spLocks xmlns:a="http://schemas.openxmlformats.org/drawingml/2006/main" noGrp="1"/>
          </p:cNvSpPr>
          <p:nvPr/>
        </p:nvSpPr>
        <p:spPr>
          <a:xfrm xmlns:a="http://schemas.openxmlformats.org/drawingml/2006/main">
            <a:off x="5953125" y="3581400"/>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registro inválido</a:t>
            </a:r>
          </a:p>
        </p:txBody>
      </p:sp>
      <p:sp>
        <p:nvSpPr>
          <p:cNvPr id="12" name="">
            <a:extLst xmlns:a="http://schemas.openxmlformats.org/drawingml/2006/main">
              <a:ext uri="{FF2B5EF4-FFF2-40B4-BE49-F238E27FC236}">
                <a16:creationId xmlns:a16="http://schemas.microsoft.com/office/drawing/2014/main" id="{6BEE7502-9B6D-49F8-8875-D58396408E68}"/>
              </a:ext>
            </a:extLst>
          </p:cNvPr>
          <p:cNvSpPr>
            <a:spLocks xmlns:a="http://schemas.openxmlformats.org/drawingml/2006/main" noGrp="1"/>
          </p:cNvSpPr>
          <p:nvPr/>
        </p:nvSpPr>
        <p:spPr>
          <a:xfrm xmlns:a="http://schemas.openxmlformats.org/drawingml/2006/main">
            <a:off x="819150" y="456247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3772"/>
                </a:solidFill>
                <a:latin typeface="DejaVu Sans"/>
                <a:ea typeface="DejaVu Sans"/>
                <a:cs typeface="DejaVu Sans"/>
              </a:defRPr>
            </a:pPr>
            <a:r>
              <a:rPr sz="1875" b="0">
                <a:solidFill>
                  <a:srgbClr val="003772"/>
                </a:solidFill>
                <a:latin typeface="DejaVu Sans"/>
                <a:ea typeface="DejaVu Sans"/>
                <a:cs typeface="DejaVu Sans"/>
              </a:rPr>
              <a:t>[("A",2,5)], umbral=10</a:t>
            </a:r>
          </a:p>
        </p:txBody>
      </p:sp>
      <p:sp>
        <p:nvSpPr>
          <p:cNvPr id="13" name="">
            <a:extLst xmlns:a="http://schemas.openxmlformats.org/drawingml/2006/main">
              <a:ext uri="{FF2B5EF4-FFF2-40B4-BE49-F238E27FC236}">
                <a16:creationId xmlns:a16="http://schemas.microsoft.com/office/drawing/2014/main" id="{07E94601-6A0C-4C82-8A61-C0E01E2F11EC}"/>
              </a:ext>
            </a:extLst>
          </p:cNvPr>
          <p:cNvSpPr>
            <a:spLocks xmlns:a="http://schemas.openxmlformats.org/drawingml/2006/main" noGrp="1"/>
          </p:cNvSpPr>
          <p:nvPr/>
        </p:nvSpPr>
        <p:spPr>
          <a:xfrm xmlns:a="http://schemas.openxmlformats.org/drawingml/2006/main">
            <a:off x="5953125" y="4562475"/>
            <a:ext cx="5429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a:t>
            </a:r>
          </a:p>
        </p:txBody>
      </p:sp>
    </p:spTree>
    <p:extLst>
      <p:ext uri="{BB962C8B-B14F-4D97-AF65-F5344CB8AC3E}">
        <p14:creationId xmlns:p14="http://schemas.microsoft.com/office/powerpoint/2010/main" val="164588207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4C67921-C512-4ECD-9838-11D1E7EB7455}"/>
              </a:ext>
            </a:extLst>
          </p:cNvPr>
          <p:cNvSpPr>
            <a:spLocks xmlns:a="http://schemas.openxmlformats.org/drawingml/2006/main" noGrp="1"/>
          </p:cNvSpPr>
          <p:nvPr/>
        </p:nvSpPr>
        <p:spPr>
          <a:xfrm xmlns:a="http://schemas.openxmlformats.org/drawingml/2006/main">
            <a:off x="533400" y="457200"/>
            <a:ext cx="47625" cy="4381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B75EA9-5D0C-4F15-AF12-644D72639B8D}"/>
              </a:ext>
            </a:extLst>
          </p:cNvPr>
          <p:cNvSpPr>
            <a:spLocks xmlns:a="http://schemas.openxmlformats.org/drawingml/2006/main" noGrp="1"/>
          </p:cNvSpPr>
          <p:nvPr/>
        </p:nvSpPr>
        <p:spPr>
          <a:xfrm xmlns:a="http://schemas.openxmlformats.org/drawingml/2006/main">
            <a:off x="809625" y="4286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925" b="1">
                <a:solidFill>
                  <a:srgbClr val="003772"/>
                </a:solidFill>
                <a:latin typeface="DejaVu Sans"/>
                <a:ea typeface="DejaVu Sans"/>
                <a:cs typeface="DejaVu Sans"/>
              </a:defRPr>
            </a:pPr>
            <a:r>
              <a:rPr sz="2925"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56054BEA-05AD-4298-B209-D4126755F2D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B940B51-A489-4DFE-8EEA-A3465811E68B}"/>
              </a:ext>
            </a:extLst>
          </p:cNvPr>
          <p:cNvSpPr>
            <a:spLocks xmlns:a="http://schemas.openxmlformats.org/drawingml/2006/main" noGrp="1"/>
          </p:cNvSpPr>
          <p:nvPr/>
        </p:nvSpPr>
        <p:spPr>
          <a:xfrm xmlns:a="http://schemas.openxmlformats.org/drawingml/2006/main">
            <a:off x="695325" y="6381750"/>
            <a:ext cx="923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Programación · 3.10</a:t>
            </a:r>
          </a:p>
        </p:txBody>
      </p:sp>
      <p:sp>
        <p:nvSpPr>
          <p:cNvPr id="5" name="">
            <a:extLst xmlns:a="http://schemas.openxmlformats.org/drawingml/2006/main">
              <a:ext uri="{FF2B5EF4-FFF2-40B4-BE49-F238E27FC236}">
                <a16:creationId xmlns:a16="http://schemas.microsoft.com/office/drawing/2014/main" id="{D61FC887-7216-4461-9F40-3FB0235A7D05}"/>
              </a:ext>
            </a:extLst>
          </p:cNvPr>
          <p:cNvSpPr>
            <a:spLocks xmlns:a="http://schemas.openxmlformats.org/drawingml/2006/main" noGrp="1"/>
          </p:cNvSpPr>
          <p:nvPr/>
        </p:nvSpPr>
        <p:spPr>
          <a:xfrm xmlns:a="http://schemas.openxmlformats.org/drawingml/2006/main">
            <a:off x="11049000" y="6381750"/>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C5B5F"/>
                </a:solidFill>
                <a:latin typeface="DejaVu Sans"/>
                <a:ea typeface="DejaVu Sans"/>
                <a:cs typeface="DejaVu Sans"/>
              </a:defRPr>
            </a:pPr>
            <a:r>
              <a:rPr sz="1200" b="0">
                <a:solidFill>
                  <a:srgbClr val="5C5B5F"/>
                </a:solidFill>
                <a:latin typeface="DejaVu Sans"/>
                <a:ea typeface="DejaVu Sans"/>
                <a:cs typeface="DejaVu Sans"/>
              </a:rPr>
              <a:t>13</a:t>
            </a:r>
          </a:p>
        </p:txBody>
      </p:sp>
      <p:sp>
        <p:nvSpPr>
          <p:cNvPr id="6" name="">
            <a:extLst xmlns:a="http://schemas.openxmlformats.org/drawingml/2006/main">
              <a:ext uri="{FF2B5EF4-FFF2-40B4-BE49-F238E27FC236}">
                <a16:creationId xmlns:a16="http://schemas.microsoft.com/office/drawing/2014/main" id="{2738E890-E24E-4582-AA42-55209C6324F8}"/>
              </a:ext>
            </a:extLst>
          </p:cNvPr>
          <p:cNvSpPr>
            <a:spLocks xmlns:a="http://schemas.openxmlformats.org/drawingml/2006/main" noGrp="1"/>
          </p:cNvSpPr>
          <p:nvPr/>
        </p:nvSpPr>
        <p:spPr>
          <a:xfrm xmlns:a="http://schemas.openxmlformats.org/drawingml/2006/main">
            <a:off x="762000" y="180975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01</a:t>
            </a:r>
          </a:p>
        </p:txBody>
      </p:sp>
      <p:sp>
        <p:nvSpPr>
          <p:cNvPr id="7" name="">
            <a:extLst xmlns:a="http://schemas.openxmlformats.org/drawingml/2006/main">
              <a:ext uri="{FF2B5EF4-FFF2-40B4-BE49-F238E27FC236}">
                <a16:creationId xmlns:a16="http://schemas.microsoft.com/office/drawing/2014/main" id="{1B718F80-20B0-47DC-A89A-96A2E78CDFD5}"/>
              </a:ext>
            </a:extLst>
          </p:cNvPr>
          <p:cNvSpPr>
            <a:spLocks xmlns:a="http://schemas.openxmlformats.org/drawingml/2006/main" noGrp="1"/>
          </p:cNvSpPr>
          <p:nvPr/>
        </p:nvSpPr>
        <p:spPr>
          <a:xfrm xmlns:a="http://schemas.openxmlformats.org/drawingml/2006/main">
            <a:off x="1571625" y="180975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Definir el esquema de cada registro.</a:t>
            </a:r>
          </a:p>
        </p:txBody>
      </p:sp>
      <p:sp>
        <p:nvSpPr>
          <p:cNvPr id="8" name="">
            <a:extLst xmlns:a="http://schemas.openxmlformats.org/drawingml/2006/main">
              <a:ext uri="{FF2B5EF4-FFF2-40B4-BE49-F238E27FC236}">
                <a16:creationId xmlns:a16="http://schemas.microsoft.com/office/drawing/2014/main" id="{0466C60E-2F36-4016-A201-067717C1F95C}"/>
              </a:ext>
            </a:extLst>
          </p:cNvPr>
          <p:cNvSpPr>
            <a:spLocks xmlns:a="http://schemas.openxmlformats.org/drawingml/2006/main" noGrp="1"/>
          </p:cNvSpPr>
          <p:nvPr/>
        </p:nvSpPr>
        <p:spPr>
          <a:xfrm xmlns:a="http://schemas.openxmlformats.org/drawingml/2006/main">
            <a:off x="762000" y="3000375"/>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02</a:t>
            </a:r>
          </a:p>
        </p:txBody>
      </p:sp>
      <p:sp>
        <p:nvSpPr>
          <p:cNvPr id="9" name="">
            <a:extLst xmlns:a="http://schemas.openxmlformats.org/drawingml/2006/main">
              <a:ext uri="{FF2B5EF4-FFF2-40B4-BE49-F238E27FC236}">
                <a16:creationId xmlns:a16="http://schemas.microsoft.com/office/drawing/2014/main" id="{835D0997-FA69-47FF-9474-70E4D08926E4}"/>
              </a:ext>
            </a:extLst>
          </p:cNvPr>
          <p:cNvSpPr>
            <a:spLocks xmlns:a="http://schemas.openxmlformats.org/drawingml/2006/main" noGrp="1"/>
          </p:cNvSpPr>
          <p:nvPr/>
        </p:nvSpPr>
        <p:spPr>
          <a:xfrm xmlns:a="http://schemas.openxmlformats.org/drawingml/2006/main">
            <a:off x="1571625" y="3000375"/>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Distinguir inmutabilidad superficial y profunda.</a:t>
            </a:r>
          </a:p>
        </p:txBody>
      </p:sp>
      <p:sp>
        <p:nvSpPr>
          <p:cNvPr id="10" name="">
            <a:extLst xmlns:a="http://schemas.openxmlformats.org/drawingml/2006/main">
              <a:ext uri="{FF2B5EF4-FFF2-40B4-BE49-F238E27FC236}">
                <a16:creationId xmlns:a16="http://schemas.microsoft.com/office/drawing/2014/main" id="{7DC6FF74-4836-46BF-9555-7997B780D4D8}"/>
              </a:ext>
            </a:extLst>
          </p:cNvPr>
          <p:cNvSpPr>
            <a:spLocks xmlns:a="http://schemas.openxmlformats.org/drawingml/2006/main" noGrp="1"/>
          </p:cNvSpPr>
          <p:nvPr/>
        </p:nvSpPr>
        <p:spPr>
          <a:xfrm xmlns:a="http://schemas.openxmlformats.org/drawingml/2006/main">
            <a:off x="762000" y="4191000"/>
            <a:ext cx="61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65B0"/>
                </a:solidFill>
                <a:latin typeface="DejaVu Sans"/>
                <a:ea typeface="DejaVu Sans"/>
                <a:cs typeface="DejaVu Sans"/>
              </a:defRPr>
            </a:pPr>
            <a:r>
              <a:rPr sz="2175" b="1">
                <a:solidFill>
                  <a:srgbClr val="0065B0"/>
                </a:solidFill>
                <a:latin typeface="DejaVu Sans"/>
                <a:ea typeface="DejaVu Sans"/>
                <a:cs typeface="DejaVu Sans"/>
              </a:rPr>
              <a:t>03</a:t>
            </a:r>
          </a:p>
        </p:txBody>
      </p:sp>
      <p:sp>
        <p:nvSpPr>
          <p:cNvPr id="11" name="">
            <a:extLst xmlns:a="http://schemas.openxmlformats.org/drawingml/2006/main">
              <a:ext uri="{FF2B5EF4-FFF2-40B4-BE49-F238E27FC236}">
                <a16:creationId xmlns:a16="http://schemas.microsoft.com/office/drawing/2014/main" id="{764740EA-AA00-4BEE-89F8-5E88E9F26BE8}"/>
              </a:ext>
            </a:extLst>
          </p:cNvPr>
          <p:cNvSpPr>
            <a:spLocks xmlns:a="http://schemas.openxmlformats.org/drawingml/2006/main" noGrp="1"/>
          </p:cNvSpPr>
          <p:nvPr/>
        </p:nvSpPr>
        <p:spPr>
          <a:xfrm xmlns:a="http://schemas.openxmlformats.org/drawingml/2006/main">
            <a:off x="1571625" y="4191000"/>
            <a:ext cx="9525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0">
                <a:solidFill>
                  <a:srgbClr val="403F3B"/>
                </a:solidFill>
                <a:latin typeface="DejaVu Sans"/>
                <a:ea typeface="DejaVu Sans"/>
                <a:cs typeface="DejaVu Sans"/>
              </a:defRPr>
            </a:pPr>
            <a:r>
              <a:rPr sz="2325" b="0">
                <a:solidFill>
                  <a:srgbClr val="403F3B"/>
                </a:solidFill>
                <a:latin typeface="DejaVu Sans"/>
                <a:ea typeface="DejaVu Sans"/>
                <a:cs typeface="DejaVu Sans"/>
              </a:rPr>
              <a:t>Recorrer registros mediante desempaquetado.</a:t>
            </a:r>
          </a:p>
        </p:txBody>
      </p:sp>
    </p:spTree>
    <p:extLst>
      <p:ext uri="{BB962C8B-B14F-4D97-AF65-F5344CB8AC3E}">
        <p14:creationId xmlns:p14="http://schemas.microsoft.com/office/powerpoint/2010/main" val="21214836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2026-09-25T21:23:27.0070000Z</dcterms:created>
  <dcterms:modified xsi:type="dcterms:W3CDTF">2026-09-25T21:23:27.0070000Z</dcterms:modified>
</coreProperties>
</file>