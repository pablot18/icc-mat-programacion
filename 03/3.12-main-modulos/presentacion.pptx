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835c20741547f4" /><Relationship Type="http://schemas.openxmlformats.org/officeDocument/2006/relationships/extended-properties" Target="/docProps/app.xml" Id="Rbd06fc44f833422a" /><Relationship Type="http://schemas.openxmlformats.org/officeDocument/2006/relationships/officeDocument" Target="/ppt/presentation.xml" Id="Rb61c3e8bd5a6492b" /></Relationships>
</file>

<file path=ppt/presentation.xml><?xml version="1.0" encoding="utf-8"?>
<p:presentation xmlns:p="http://schemas.openxmlformats.org/presentationml/2006/main">
  <p:sldMasterIdLst>
    <p:sldMasterId xmlns:r="http://schemas.openxmlformats.org/officeDocument/2006/relationships" id="2147483648" r:id="Re6e8765f4ffc44f5"/>
  </p:sldMasterIdLst>
  <p:notesMasterIdLst>
    <p:notesMasterId xmlns:r="http://schemas.openxmlformats.org/officeDocument/2006/relationships" r:id="R47741b3e0faa4ba8"/>
  </p:notesMasterIdLst>
  <p:sldIdLst>
    <p:sldId xmlns:r="http://schemas.openxmlformats.org/officeDocument/2006/relationships" id="256" r:id="R7895287555074efa"/>
    <p:sldId xmlns:r="http://schemas.openxmlformats.org/officeDocument/2006/relationships" id="257" r:id="R8dd40d27e8e646d8"/>
    <p:sldId xmlns:r="http://schemas.openxmlformats.org/officeDocument/2006/relationships" id="258" r:id="R06958544724d4708"/>
    <p:sldId xmlns:r="http://schemas.openxmlformats.org/officeDocument/2006/relationships" id="259" r:id="R26ffd0d76e2b4a1c"/>
    <p:sldId xmlns:r="http://schemas.openxmlformats.org/officeDocument/2006/relationships" id="260" r:id="R599aac6d27c1401d"/>
    <p:sldId xmlns:r="http://schemas.openxmlformats.org/officeDocument/2006/relationships" id="261" r:id="R685f87514c27400a"/>
    <p:sldId xmlns:r="http://schemas.openxmlformats.org/officeDocument/2006/relationships" id="262" r:id="Rc15eca0486e4455d"/>
    <p:sldId xmlns:r="http://schemas.openxmlformats.org/officeDocument/2006/relationships" id="263" r:id="R0914c7b10316405e"/>
    <p:sldId xmlns:r="http://schemas.openxmlformats.org/officeDocument/2006/relationships" id="264" r:id="R67bea632a8344696"/>
    <p:sldId xmlns:r="http://schemas.openxmlformats.org/officeDocument/2006/relationships" id="265" r:id="R90e5e7ba2c324d74"/>
    <p:sldId xmlns:r="http://schemas.openxmlformats.org/officeDocument/2006/relationships" id="266" r:id="R65d2fe9f71b24d28"/>
    <p:sldId xmlns:r="http://schemas.openxmlformats.org/officeDocument/2006/relationships" id="267" r:id="R88eb00a738f3482d"/>
    <p:sldId xmlns:r="http://schemas.openxmlformats.org/officeDocument/2006/relationships" id="268" r:id="R910fbbf2e7ce42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7a6503e71f4a6f" /><Relationship Type="http://schemas.openxmlformats.org/officeDocument/2006/relationships/slideMaster" Target="/ppt/slideMasters/slideMaster1.xml" Id="Re6e8765f4ffc44f5" /><Relationship Type="http://schemas.openxmlformats.org/officeDocument/2006/relationships/notesMaster" Target="/ppt/notesMasters/notesMaster1.xml" Id="R47741b3e0faa4ba8" /><Relationship Type="http://schemas.openxmlformats.org/officeDocument/2006/relationships/presProps" Target="/ppt/presProps.xml" Id="Rf818f16e552a45c8" /><Relationship Type="http://schemas.openxmlformats.org/officeDocument/2006/relationships/tableStyles" Target="/ppt/tableStyles.xml" Id="R2ae96232c9814032" /><Relationship Type="http://schemas.openxmlformats.org/officeDocument/2006/relationships/slide" Target="/ppt/slides/slide1.xml" Id="R7895287555074efa" /><Relationship Type="http://schemas.openxmlformats.org/officeDocument/2006/relationships/slide" Target="/ppt/slides/slide2.xml" Id="R8dd40d27e8e646d8" /><Relationship Type="http://schemas.openxmlformats.org/officeDocument/2006/relationships/slide" Target="/ppt/slides/slide3.xml" Id="R06958544724d4708" /><Relationship Type="http://schemas.openxmlformats.org/officeDocument/2006/relationships/slide" Target="/ppt/slides/slide4.xml" Id="R26ffd0d76e2b4a1c" /><Relationship Type="http://schemas.openxmlformats.org/officeDocument/2006/relationships/slide" Target="/ppt/slides/slide5.xml" Id="R599aac6d27c1401d" /><Relationship Type="http://schemas.openxmlformats.org/officeDocument/2006/relationships/slide" Target="/ppt/slides/slide6.xml" Id="R685f87514c27400a" /><Relationship Type="http://schemas.openxmlformats.org/officeDocument/2006/relationships/slide" Target="/ppt/slides/slide7.xml" Id="Rc15eca0486e4455d" /><Relationship Type="http://schemas.openxmlformats.org/officeDocument/2006/relationships/slide" Target="/ppt/slides/slide8.xml" Id="R0914c7b10316405e" /><Relationship Type="http://schemas.openxmlformats.org/officeDocument/2006/relationships/slide" Target="/ppt/slides/slide9.xml" Id="R67bea632a8344696" /><Relationship Type="http://schemas.openxmlformats.org/officeDocument/2006/relationships/slide" Target="/ppt/slides/slide10.xml" Id="R90e5e7ba2c324d74" /><Relationship Type="http://schemas.openxmlformats.org/officeDocument/2006/relationships/slide" Target="/ppt/slides/slide11.xml" Id="R65d2fe9f71b24d28" /><Relationship Type="http://schemas.openxmlformats.org/officeDocument/2006/relationships/slide" Target="/ppt/slides/slide12.xml" Id="R88eb00a738f3482d" /><Relationship Type="http://schemas.openxmlformats.org/officeDocument/2006/relationships/slide" Target="/ppt/slides/slide13.xml" Id="R910fbbf2e7ce42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542c7190f249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32cdee80834f64" /><Relationship Type="http://schemas.openxmlformats.org/officeDocument/2006/relationships/notesMaster" Target="/ppt/notesMasters/notesMaster1.xml" Id="R8dae94dda2f348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6bcae05b144e86" /><Relationship Type="http://schemas.openxmlformats.org/officeDocument/2006/relationships/notesMaster" Target="/ppt/notesMasters/notesMaster1.xml" Id="R09f091c50f164a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1061a0b220430d" /><Relationship Type="http://schemas.openxmlformats.org/officeDocument/2006/relationships/notesMaster" Target="/ppt/notesMasters/notesMaster1.xml" Id="R702d3ca7225c4f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e98616fe6a4259" /><Relationship Type="http://schemas.openxmlformats.org/officeDocument/2006/relationships/notesMaster" Target="/ppt/notesMasters/notesMaster1.xml" Id="R27e4bc825f9e4d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d8a7562a604ce1" /><Relationship Type="http://schemas.openxmlformats.org/officeDocument/2006/relationships/notesMaster" Target="/ppt/notesMasters/notesMaster1.xml" Id="R85e789efc1894a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12a607646448f5" /><Relationship Type="http://schemas.openxmlformats.org/officeDocument/2006/relationships/notesMaster" Target="/ppt/notesMasters/notesMaster1.xml" Id="R6f1fd2b8e9a340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f23bce45f64abc" /><Relationship Type="http://schemas.openxmlformats.org/officeDocument/2006/relationships/notesMaster" Target="/ppt/notesMasters/notesMaster1.xml" Id="R6bf18c35ef554f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47f77ed48a46a0" /><Relationship Type="http://schemas.openxmlformats.org/officeDocument/2006/relationships/notesMaster" Target="/ppt/notesMasters/notesMaster1.xml" Id="Rdb6279ca4c9249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a6cc2710aa47ee" /><Relationship Type="http://schemas.openxmlformats.org/officeDocument/2006/relationships/notesMaster" Target="/ppt/notesMasters/notesMaster1.xml" Id="R2c59c826bee246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196e38918a499e" /><Relationship Type="http://schemas.openxmlformats.org/officeDocument/2006/relationships/notesMaster" Target="/ppt/notesMasters/notesMaster1.xml" Id="R81e46c53b12843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cbe016cd734e8e" /><Relationship Type="http://schemas.openxmlformats.org/officeDocument/2006/relationships/notesMaster" Target="/ppt/notesMasters/notesMaster1.xml" Id="R35cbe010264d4c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50f394033d4923" /><Relationship Type="http://schemas.openxmlformats.org/officeDocument/2006/relationships/notesMaster" Target="/ppt/notesMasters/notesMaster1.xml" Id="Rb7bfa644d4444b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28f7655a1f4b63" /><Relationship Type="http://schemas.openxmlformats.org/officeDocument/2006/relationships/notesMaster" Target="/ppt/notesMasters/notesMaster1.xml" Id="Ra902d876480045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módulo agrupa definiciones relacionadas. Una dependencia aparece cuando un archivo utiliza operaciones definidas en otro. Definir una dirección clara: la entrada llama a operaciones, y las operaciones no importan la entrada para pedir datos. Evitar nombres de archivo que oculten bibliotecas estándar. Mantener interfaces pequeñas y documentadas.</a:t>
            </a:r>
          </a:p>
          <a:p xmlns:a="http://schemas.openxmlformats.org/drawingml/2006/main">
            <a:r>
              <a:t/>
            </a:r>
          </a:p>
          <a:p xmlns:a="http://schemas.openxmlformats.org/drawingml/2006/main">
            <a:r>
              <a:t>Cada archivo .py puede importarse como módulo. import operaciones conserva el prefijo del módulo; from operaciones import sumar importa un nombre concreto. Evitar import * porque oculta el origen de los nombres. Un archivo llamado random.py puede ocultar el módulo estándar random.</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Definir un punto de entrada identifica dónde comienza una ejecución intencional. Importar utilidades no debería pedir datos ni imprimir informes. Mantener datos de ejemplo y coordinación en la entrada. Esta separación permite probar funciones y reutilizarlas sin efectos inesperados.</a:t>
            </a:r>
          </a:p>
          <a:p xmlns:a="http://schemas.openxmlformats.org/drawingml/2006/main">
            <a:r>
              <a:t/>
            </a:r>
          </a:p>
          <a:p xmlns:a="http://schemas.openxmlformats.org/drawingml/2006/main">
            <a:r>
              <a:t>Usar def main() y el guard if __name__ == "__main__": main(). Al importar, __name__ toma el nombre del módulo. El guard protege únicamente su bloque; otras instrucciones en el nivel superior todavía se ejecutan.</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interfaz establece nombres, parámetros, retornos y errores. Cambiarla afecta a quienes la utilizan. Si transformar retorna una lista, mostrar debe recibir esa lista; no llamar a mostrar con el resultado de otra función que solo imprime. Mantener datos en un lugar y pasar argumentos para evitar variables globales compartidas.</a:t>
            </a:r>
          </a:p>
          <a:p xmlns:a="http://schemas.openxmlformats.org/drawingml/2006/main">
            <a:r>
              <a:t/>
            </a:r>
          </a:p>
          <a:p xmlns:a="http://schemas.openxmlformats.org/drawingml/2006/main">
            <a:r>
              <a:t>No depender de variables del módulo main desde una función utilitaria. Recibirlas como parámetros. Las importaciones circulares pueden dejar módulos parcialmente inicializados. Reorganizar responsabilidades en lugar de agregar importaciones dentro de todo el código.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prueba de integración comprueba cómo se conectan funciones y archivos. Ejecutar desde una carpeta limpia detecta dependencias ocultas de archivos o estado. Probar la importación sin salida y luego ejecutar la entrada con datos conocidos. Registrar versiones y comandos exactos para repetir el resultado.</a:t>
            </a:r>
          </a:p>
          <a:p xmlns:a="http://schemas.openxmlformats.org/drawingml/2006/main">
            <a:r>
              <a:t/>
            </a:r>
          </a:p>
          <a:p xmlns:a="http://schemas.openxmlformats.org/drawingml/2006/main">
            <a:r>
              <a:t>Usar python3 -c "import operaciones" para comprobar que importar utilidades no imprime ni solicita datos. Las pruebas con unittest forman parte de la biblioteca estándar. No entregar __pycache__ como fuente.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Separar cálculo, presentación y punto de entrada permite reutilizar operaciones sin ejecutar automáticamente una sesión interactiva. Organizar responsabilidades debe reducir acoplamiento, no solo aumentar el número de archivos.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c41219869a41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2e949d18504269" /><Relationship Type="http://schemas.openxmlformats.org/officeDocument/2006/relationships/slideLayout" Target="/ppt/slideLayouts/slideLayout1.xml" Id="R76cae3559ed74a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cae3559ed74a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f3346f56974a66" /><Relationship Type="http://schemas.openxmlformats.org/officeDocument/2006/relationships/image" Target="/ppt/media/image.png" Id="Rd7d3013cacae45b8" /><Relationship Type="http://schemas.openxmlformats.org/officeDocument/2006/relationships/notesSlide" Target="/ppt/notesSlides/notesSlide1.xml" Id="Ref0c962b90ac46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ab1f60bed34286" /><Relationship Type="http://schemas.openxmlformats.org/officeDocument/2006/relationships/notesSlide" Target="/ppt/notesSlides/notesSlide2.xml" Id="R5ffca8ff210f4b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c9db82b20d42f5" /><Relationship Type="http://schemas.openxmlformats.org/officeDocument/2006/relationships/notesSlide" Target="/ppt/notesSlides/notesSlide3.xml" Id="R2535f5f163914f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11bcbd4e774ccf" /><Relationship Type="http://schemas.openxmlformats.org/officeDocument/2006/relationships/notesSlide" Target="/ppt/notesSlides/notesSlide4.xml" Id="Rc4e03f2f929a40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56fadce0d14b7a" /><Relationship Type="http://schemas.openxmlformats.org/officeDocument/2006/relationships/notesSlide" Target="/ppt/notesSlides/notesSlide5.xml" Id="R012b4b43076143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ea68de6b7b4176" /><Relationship Type="http://schemas.openxmlformats.org/officeDocument/2006/relationships/notesSlide" Target="/ppt/notesSlides/notesSlide6.xml" Id="R7b46a9c3b82a44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27e11bce3c4b12" /><Relationship Type="http://schemas.openxmlformats.org/officeDocument/2006/relationships/notesSlide" Target="/ppt/notesSlides/notesSlide7.xml" Id="Rafec2ce6b48749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10ddd00d4249b3" /><Relationship Type="http://schemas.openxmlformats.org/officeDocument/2006/relationships/notesSlide" Target="/ppt/notesSlides/notesSlide8.xml" Id="R2e569214116446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91e2b5d2574e87" /><Relationship Type="http://schemas.openxmlformats.org/officeDocument/2006/relationships/notesSlide" Target="/ppt/notesSlides/notesSlide9.xml" Id="R9426a056e64745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b731ff489541d7" /><Relationship Type="http://schemas.openxmlformats.org/officeDocument/2006/relationships/notesSlide" Target="/ppt/notesSlides/notesSlide10.xml" Id="R29ec728e307a45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2fd02cb3bc445e6" /><Relationship Type="http://schemas.openxmlformats.org/officeDocument/2006/relationships/notesSlide" Target="/ppt/notesSlides/notesSlide11.xml" Id="R652ca7dba47c4e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1d4494b5324b76" /><Relationship Type="http://schemas.openxmlformats.org/officeDocument/2006/relationships/notesSlide" Target="/ppt/notesSlides/notesSlide12.xml" Id="R1a0faf7344ad44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fa131ac19b47d6" /><Relationship Type="http://schemas.openxmlformats.org/officeDocument/2006/relationships/notesSlide" Target="/ppt/notesSlides/notesSlide13.xml" Id="R2f7a627d1610437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7d3013cacae45b8"/>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86976E4-1AC8-4798-ACB6-698A43D02044}"/>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9BAF3C76-63E6-43D8-9049-13553242A576}"/>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Punto de entrada y módulos</a:t>
            </a:r>
          </a:p>
        </p:txBody>
      </p:sp>
      <p:sp>
        <p:nvSpPr>
          <p:cNvPr id="4" name="">
            <a:extLst xmlns:a="http://schemas.openxmlformats.org/drawingml/2006/main">
              <a:ext uri="{FF2B5EF4-FFF2-40B4-BE49-F238E27FC236}">
                <a16:creationId xmlns:a16="http://schemas.microsoft.com/office/drawing/2014/main" id="{6ED4DF54-E649-4462-A2A2-4DE40EDC8B00}"/>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521334-734A-4A78-B9CF-D5F09EA4C935}"/>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3.12 · Python</a:t>
            </a:r>
          </a:p>
        </p:txBody>
      </p:sp>
      <p:sp>
        <p:nvSpPr>
          <p:cNvPr id="6" name="">
            <a:extLst xmlns:a="http://schemas.openxmlformats.org/drawingml/2006/main">
              <a:ext uri="{FF2B5EF4-FFF2-40B4-BE49-F238E27FC236}">
                <a16:creationId xmlns:a16="http://schemas.microsoft.com/office/drawing/2014/main" id="{39BFFC3E-B2D9-4B64-B385-7B2B713F714C}"/>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0904078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FED89F-189E-4F05-AB00-AFF793ABE37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C3715D-B788-40BA-933C-9C93F52B348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0338000A-35AC-4CDD-9541-0271BEC610B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557918B-8F48-4913-80F7-2ACEC781B4F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A2B2E758-EFC4-4444-AE03-1F8E7A312BBA}"/>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25851260-A983-41BB-BE13-646504BFF542}"/>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Separar cálculo, presentación y punto de entrada permite reutilizar operaciones sin ejecutar automáticamente una sesión interactiva. Organizar responsabilidades debe reducir acoplamiento, no solo aumentar el número de archivos.</a:t>
            </a:r>
          </a:p>
        </p:txBody>
      </p:sp>
      <p:sp>
        <p:nvSpPr>
          <p:cNvPr id="7" name="">
            <a:extLst xmlns:a="http://schemas.openxmlformats.org/drawingml/2006/main">
              <a:ext uri="{FF2B5EF4-FFF2-40B4-BE49-F238E27FC236}">
                <a16:creationId xmlns:a16="http://schemas.microsoft.com/office/drawing/2014/main" id="{91FEDA40-4546-4E6A-A0E5-BC7B6BD2057B}"/>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13198407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9E7B00-6826-4D1D-BBE3-B42608833703}"/>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681988-1E25-4EFE-9365-17A4DECCF097}"/>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Módulos y dependencias</a:t>
            </a:r>
          </a:p>
        </p:txBody>
      </p:sp>
      <p:sp>
        <p:nvSpPr>
          <p:cNvPr id="3" name="">
            <a:extLst xmlns:a="http://schemas.openxmlformats.org/drawingml/2006/main">
              <a:ext uri="{FF2B5EF4-FFF2-40B4-BE49-F238E27FC236}">
                <a16:creationId xmlns:a16="http://schemas.microsoft.com/office/drawing/2014/main" id="{EE2E2147-1632-42F5-858B-F114B56784F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C33F81-7A99-4D5D-96E0-8B7712E2EA62}"/>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77E23463-A0C2-425F-99DE-3590BBDA2AF4}"/>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8B9C42D3-C442-442A-8FE1-49EEF09820D6}"/>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 módulo agrupa definiciones relacionadas. Una dependencia aparece cuando un archivo utiliza operaciones definidas en otro.</a:t>
            </a:r>
          </a:p>
        </p:txBody>
      </p:sp>
      <p:sp>
        <p:nvSpPr>
          <p:cNvPr id="7" name="">
            <a:extLst xmlns:a="http://schemas.openxmlformats.org/drawingml/2006/main">
              <a:ext uri="{FF2B5EF4-FFF2-40B4-BE49-F238E27FC236}">
                <a16:creationId xmlns:a16="http://schemas.microsoft.com/office/drawing/2014/main" id="{D97DF2E0-D644-43F1-A1B9-F724EC9545D8}"/>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from operaciones import sumar</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print(sumar([2, 3]))</a:t>
            </a:r>
          </a:p>
        </p:txBody>
      </p:sp>
      <p:sp>
        <p:nvSpPr>
          <p:cNvPr id="8" name="">
            <a:extLst xmlns:a="http://schemas.openxmlformats.org/drawingml/2006/main">
              <a:ext uri="{FF2B5EF4-FFF2-40B4-BE49-F238E27FC236}">
                <a16:creationId xmlns:a16="http://schemas.microsoft.com/office/drawing/2014/main" id="{B98DABF5-91BD-4C84-B2D1-11C9CF07A6C7}"/>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Cada archivo .py puede importarse como módulo.</a:t>
            </a:r>
          </a:p>
        </p:txBody>
      </p:sp>
    </p:spTree>
    <p:extLst>
      <p:ext uri="{BB962C8B-B14F-4D97-AF65-F5344CB8AC3E}">
        <p14:creationId xmlns:p14="http://schemas.microsoft.com/office/powerpoint/2010/main" val="7462779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77CBB3-36A3-4109-AB5B-35A800EBB27E}"/>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6DC324-D690-4585-B9E0-0CAB099FE463}"/>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Punto de entrada y ejecución al importar</a:t>
            </a:r>
          </a:p>
        </p:txBody>
      </p:sp>
      <p:sp>
        <p:nvSpPr>
          <p:cNvPr id="3" name="">
            <a:extLst xmlns:a="http://schemas.openxmlformats.org/drawingml/2006/main">
              <a:ext uri="{FF2B5EF4-FFF2-40B4-BE49-F238E27FC236}">
                <a16:creationId xmlns:a16="http://schemas.microsoft.com/office/drawing/2014/main" id="{F1D2DBB6-375F-4671-94FE-F17CB5AD8F8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5D76A1-F05E-4973-A960-99463C06C1D7}"/>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E83D54BA-6A3A-4566-BF95-92CC3B489F10}"/>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E85002B3-F2D6-4D0C-828A-BFF733FF88E9}"/>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Definir un punto de entrada identifica dónde comienza una ejecución intencional. Importar utilidades no debería pedir datos ni imprimir informes.</a:t>
            </a:r>
          </a:p>
        </p:txBody>
      </p:sp>
      <p:sp>
        <p:nvSpPr>
          <p:cNvPr id="7" name="">
            <a:extLst xmlns:a="http://schemas.openxmlformats.org/drawingml/2006/main">
              <a:ext uri="{FF2B5EF4-FFF2-40B4-BE49-F238E27FC236}">
                <a16:creationId xmlns:a16="http://schemas.microsoft.com/office/drawing/2014/main" id="{E50F7E7F-9F64-4837-8F61-1A4F764376C1}"/>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def main():</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print("Inicio")</a:t>
            </a:r>
          </a:p>
          <a:p xmlns:a="http://schemas.openxmlformats.org/drawingml/2006/main">
            <a:r>
              <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if __name__ == "__main__":</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main()</a:t>
            </a:r>
          </a:p>
        </p:txBody>
      </p:sp>
      <p:sp>
        <p:nvSpPr>
          <p:cNvPr id="8" name="">
            <a:extLst xmlns:a="http://schemas.openxmlformats.org/drawingml/2006/main">
              <a:ext uri="{FF2B5EF4-FFF2-40B4-BE49-F238E27FC236}">
                <a16:creationId xmlns:a16="http://schemas.microsoft.com/office/drawing/2014/main" id="{1EE13B0C-66BE-4BEC-8FEB-D120F5279FCD}"/>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def main() y el guard if __name__ == "__main__": main().</a:t>
            </a:r>
          </a:p>
        </p:txBody>
      </p:sp>
    </p:spTree>
    <p:extLst>
      <p:ext uri="{BB962C8B-B14F-4D97-AF65-F5344CB8AC3E}">
        <p14:creationId xmlns:p14="http://schemas.microsoft.com/office/powerpoint/2010/main" val="2659286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0137EF-F66E-469C-AD17-1EC637607127}"/>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D4628F-C076-48C4-AF07-3A0D4B89179A}"/>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Contratos entre archivos</a:t>
            </a:r>
          </a:p>
        </p:txBody>
      </p:sp>
      <p:sp>
        <p:nvSpPr>
          <p:cNvPr id="3" name="">
            <a:extLst xmlns:a="http://schemas.openxmlformats.org/drawingml/2006/main">
              <a:ext uri="{FF2B5EF4-FFF2-40B4-BE49-F238E27FC236}">
                <a16:creationId xmlns:a16="http://schemas.microsoft.com/office/drawing/2014/main" id="{1C45D6D4-B95E-4F3B-841D-41D0E73AF3F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6C7888-91A9-49E6-83FD-443E6B56461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0382BC14-CA16-44C6-B277-17597BAB89EF}"/>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65EC088C-11AB-4055-ADFF-CDC4847528BF}"/>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interfaz establece nombres, parámetros, retornos y errores. Cambiarla afecta a quienes la utilizan.</a:t>
            </a:r>
          </a:p>
        </p:txBody>
      </p:sp>
      <p:sp>
        <p:nvSpPr>
          <p:cNvPr id="7" name="">
            <a:extLst xmlns:a="http://schemas.openxmlformats.org/drawingml/2006/main">
              <a:ext uri="{FF2B5EF4-FFF2-40B4-BE49-F238E27FC236}">
                <a16:creationId xmlns:a16="http://schemas.microsoft.com/office/drawing/2014/main" id="{15085D05-DF4C-4A81-A659-D4CFE4C06F0D}"/>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def total(datos):</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    return sum(datos)</a:t>
            </a:r>
          </a:p>
        </p:txBody>
      </p:sp>
      <p:sp>
        <p:nvSpPr>
          <p:cNvPr id="8" name="">
            <a:extLst xmlns:a="http://schemas.openxmlformats.org/drawingml/2006/main">
              <a:ext uri="{FF2B5EF4-FFF2-40B4-BE49-F238E27FC236}">
                <a16:creationId xmlns:a16="http://schemas.microsoft.com/office/drawing/2014/main" id="{1FB8182F-999B-477C-90A9-59D698E73E28}"/>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No depender de variables del módulo main desde una función utilitaria.</a:t>
            </a:r>
          </a:p>
        </p:txBody>
      </p:sp>
    </p:spTree>
    <p:extLst>
      <p:ext uri="{BB962C8B-B14F-4D97-AF65-F5344CB8AC3E}">
        <p14:creationId xmlns:p14="http://schemas.microsoft.com/office/powerpoint/2010/main" val="21133155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978478-392A-4DCB-BE48-8C061F0D05D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458944-1235-4EE2-816C-0028A1869B0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Pruebas de integración</a:t>
            </a:r>
          </a:p>
        </p:txBody>
      </p:sp>
      <p:sp>
        <p:nvSpPr>
          <p:cNvPr id="3" name="">
            <a:extLst xmlns:a="http://schemas.openxmlformats.org/drawingml/2006/main">
              <a:ext uri="{FF2B5EF4-FFF2-40B4-BE49-F238E27FC236}">
                <a16:creationId xmlns:a16="http://schemas.microsoft.com/office/drawing/2014/main" id="{74C4970F-8742-462A-A82A-8CDDE694E63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7A63A9-95AB-4609-8DA9-41FB822DBC3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A9567BE2-A319-4AAE-BCA4-B0BE41B967A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B4F85EB4-838C-4B9B-A346-07F1285A3D04}"/>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Una prueba de integración comprueba cómo se conectan funciones y archivos. Ejecutar desde una carpeta limpia detecta dependencias ocultas de archivos o estado.</a:t>
            </a:r>
          </a:p>
        </p:txBody>
      </p:sp>
      <p:sp>
        <p:nvSpPr>
          <p:cNvPr id="7" name="">
            <a:extLst xmlns:a="http://schemas.openxmlformats.org/drawingml/2006/main">
              <a:ext uri="{FF2B5EF4-FFF2-40B4-BE49-F238E27FC236}">
                <a16:creationId xmlns:a16="http://schemas.microsoft.com/office/drawing/2014/main" id="{DC0E8705-326E-4087-8724-275DDDC71F5D}"/>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95" b="0">
                <a:solidFill>
                  <a:srgbClr val="403F3B"/>
                </a:solidFill>
                <a:latin typeface="DejaVu Sans"/>
                <a:ea typeface="DejaVu Sans"/>
                <a:cs typeface="DejaVu Sans"/>
              </a:defRPr>
            </a:pPr>
            <a:r>
              <a:rPr sz="1695" b="0">
                <a:solidFill>
                  <a:srgbClr val="403F3B"/>
                </a:solidFill>
                <a:latin typeface="DejaVu Sans"/>
                <a:ea typeface="DejaVu Sans"/>
                <a:cs typeface="DejaVu Sans"/>
              </a:rPr>
              <a:t>import operaciones</a:t>
            </a:r>
          </a:p>
          <a:p xmlns:a="http://schemas.openxmlformats.org/drawingml/2006/main">
            <a:pPr>
              <a:defRPr sz="1695" b="0">
                <a:solidFill>
                  <a:srgbClr val="403F3B"/>
                </a:solidFill>
                <a:latin typeface="DejaVu Sans"/>
                <a:ea typeface="DejaVu Sans"/>
                <a:cs typeface="DejaVu Sans"/>
              </a:defRPr>
            </a:pPr>
            <a:r>
              <a:rPr sz="1695" b="0">
                <a:solidFill>
                  <a:srgbClr val="403F3B"/>
                </a:solidFill>
                <a:latin typeface="DejaVu Sans"/>
                <a:ea typeface="DejaVu Sans"/>
                <a:cs typeface="DejaVu Sans"/>
              </a:rPr>
              <a:t>assert operaciones.sumar([2, 3]) == 5</a:t>
            </a:r>
          </a:p>
        </p:txBody>
      </p:sp>
      <p:sp>
        <p:nvSpPr>
          <p:cNvPr id="8" name="">
            <a:extLst xmlns:a="http://schemas.openxmlformats.org/drawingml/2006/main">
              <a:ext uri="{FF2B5EF4-FFF2-40B4-BE49-F238E27FC236}">
                <a16:creationId xmlns:a16="http://schemas.microsoft.com/office/drawing/2014/main" id="{6CE1890D-07D7-4941-87DD-EA1CB59CADC7}"/>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python3 -c "import operaciones" para comprobar que importar utilidades no imprime ni solicita datos.</a:t>
            </a:r>
          </a:p>
        </p:txBody>
      </p:sp>
    </p:spTree>
    <p:extLst>
      <p:ext uri="{BB962C8B-B14F-4D97-AF65-F5344CB8AC3E}">
        <p14:creationId xmlns:p14="http://schemas.microsoft.com/office/powerpoint/2010/main" val="13923292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FCE4529-686D-46D4-87EB-F4EB0B2E8EA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35F0E1A-F829-4BBA-AAB7-C628F6573844}"/>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DCB11BE5-8BF4-4734-B1AE-F16D1B71BB1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4F32E0-B2E7-4A08-82B6-14CBD98964A1}"/>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A65093B4-E770-44FD-A76C-C385B5CF494A}"/>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B1505459-E109-4332-ADC9-FB05120AEF2C}"/>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54DBC8-992B-4C8E-B507-2CA7322EE6FF}"/>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D0D3C7D0-A7F8-480C-8E20-4B9DCFB903D1}"/>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756CA96B-7665-4EA6-BFE9-87363F68EB79}"/>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2C333B78-E0FE-422C-9579-EC1C8364BC36}"/>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B0F2F6-437F-4AAA-94EF-85AE5FAE816F}"/>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52812B64-9A44-4DF9-9A4B-CEB1A7461989}"/>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Punto de entrada y ejecución al importar</a:t>
            </a:r>
          </a:p>
        </p:txBody>
      </p:sp>
      <p:sp>
        <p:nvSpPr>
          <p:cNvPr id="13" name="">
            <a:extLst xmlns:a="http://schemas.openxmlformats.org/drawingml/2006/main">
              <a:ext uri="{FF2B5EF4-FFF2-40B4-BE49-F238E27FC236}">
                <a16:creationId xmlns:a16="http://schemas.microsoft.com/office/drawing/2014/main" id="{7309432B-6D81-432B-B3FB-38491DCF6A65}"/>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90D17ECE-3A63-48BC-8DE7-080992E84799}"/>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43F733-3CDA-4174-9AE4-850F6F8244C9}"/>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890CBB87-1B7F-4593-A1C8-AADCB107D8E5}"/>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Total: 13</a:t>
            </a:r>
          </a:p>
        </p:txBody>
      </p:sp>
      <p:sp>
        <p:nvSpPr>
          <p:cNvPr id="17" name="">
            <a:extLst xmlns:a="http://schemas.openxmlformats.org/drawingml/2006/main">
              <a:ext uri="{FF2B5EF4-FFF2-40B4-BE49-F238E27FC236}">
                <a16:creationId xmlns:a16="http://schemas.microsoft.com/office/drawing/2014/main" id="{D94E2AAA-2789-4FFD-8B03-010C2C3ADD55}"/>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1541972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16ABEC-955C-4D0C-AD76-D825A8E0BD1C}"/>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4920B5-0C2A-46CE-841F-DBBDD7594567}"/>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C7A94AF3-D517-4C07-A2F4-01A05784E50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90F87C-E95A-4ED2-B15B-82A276466B5D}"/>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05B3AF83-C562-4CCC-A13E-8AA0A9B1C5F0}"/>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7DE77DF4-C839-43CE-8F9A-1278D588471D}"/>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from operaciones import sumar</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def main():</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datos = [4, 7, 2]</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print(f"Total: {sumar(datos)}")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if __name__ == "__main__":</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main()</a:t>
            </a:r>
          </a:p>
        </p:txBody>
      </p:sp>
    </p:spTree>
    <p:extLst>
      <p:ext uri="{BB962C8B-B14F-4D97-AF65-F5344CB8AC3E}">
        <p14:creationId xmlns:p14="http://schemas.microsoft.com/office/powerpoint/2010/main" val="17076753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AB9B6C-3382-4AC1-98E3-F8389D7A13F0}"/>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DC7339-65CC-4214-99A1-6193FD82980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F86BA144-A04F-43DE-8377-6A88767F057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F17240-1976-45D6-AF35-3C138B883C5E}"/>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FA57CACB-0A36-49E7-85CA-D15999AAFCDB}"/>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9996A1C8-0CB5-4752-A50D-E6DA3839A094}"/>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Total: 13</a:t>
            </a:r>
          </a:p>
        </p:txBody>
      </p:sp>
      <p:sp>
        <p:nvSpPr>
          <p:cNvPr id="7" name="">
            <a:extLst xmlns:a="http://schemas.openxmlformats.org/drawingml/2006/main">
              <a:ext uri="{FF2B5EF4-FFF2-40B4-BE49-F238E27FC236}">
                <a16:creationId xmlns:a16="http://schemas.microsoft.com/office/drawing/2014/main" id="{007D2D6E-CC0D-494B-87D2-B08FEDD79FF1}"/>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11058882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E8393B-249A-491D-8C57-BC0B3AD8B9D4}"/>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67EC8B-CF46-4690-9BE3-C51E917E0CD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Sin globales</a:t>
            </a:r>
          </a:p>
        </p:txBody>
      </p:sp>
      <p:sp>
        <p:nvSpPr>
          <p:cNvPr id="3" name="">
            <a:extLst xmlns:a="http://schemas.openxmlformats.org/drawingml/2006/main">
              <a:ext uri="{FF2B5EF4-FFF2-40B4-BE49-F238E27FC236}">
                <a16:creationId xmlns:a16="http://schemas.microsoft.com/office/drawing/2014/main" id="{828B3993-C114-4127-BBBB-EEBABA55A95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322AF4-D228-41C8-A743-4DFE128957CE}"/>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A8057AA5-0257-4148-AD0C-8B2777C97CC6}"/>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5AC25B49-3239-44E6-907F-45B2E20FFC7D}"/>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Calcular total de [2,5,8] mediante una función que reciba los datos. Definir los datos exclusivamente en main.</a:t>
            </a:r>
          </a:p>
        </p:txBody>
      </p:sp>
      <p:sp>
        <p:nvSpPr>
          <p:cNvPr id="7" name="">
            <a:extLst xmlns:a="http://schemas.openxmlformats.org/drawingml/2006/main">
              <a:ext uri="{FF2B5EF4-FFF2-40B4-BE49-F238E27FC236}">
                <a16:creationId xmlns:a16="http://schemas.microsoft.com/office/drawing/2014/main" id="{8860C1AD-3DA9-43E7-AEC4-8935EAC8B599}"/>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3F57F9D2-AEEE-48FE-8808-22359EF2DB17}"/>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15</a:t>
            </a:r>
          </a:p>
        </p:txBody>
      </p:sp>
    </p:spTree>
    <p:extLst>
      <p:ext uri="{BB962C8B-B14F-4D97-AF65-F5344CB8AC3E}">
        <p14:creationId xmlns:p14="http://schemas.microsoft.com/office/powerpoint/2010/main" val="18549300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3F8068-0B57-444A-9278-8F65913D572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7059F7-620D-4CC4-8961-C04F66393A4D}"/>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PC3.12 · Problema y restricciones</a:t>
            </a:r>
          </a:p>
        </p:txBody>
      </p:sp>
      <p:sp>
        <p:nvSpPr>
          <p:cNvPr id="3" name="">
            <a:extLst xmlns:a="http://schemas.openxmlformats.org/drawingml/2006/main">
              <a:ext uri="{FF2B5EF4-FFF2-40B4-BE49-F238E27FC236}">
                <a16:creationId xmlns:a16="http://schemas.microsoft.com/office/drawing/2014/main" id="{843BE79B-1DB6-4E49-B951-BEC30AD085E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28C559F-407A-4DC7-9EE0-1256B2D9C57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17B11049-940C-4D49-9922-C4008F9C9C9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407E1892-87CC-43E5-9F95-A41ED9DF603A}"/>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Crear main.py, texto_utils.py y datos_utils.py. Implementar funciones para normalizar nombres, filtrar registros por cantidad mínima y presentar resultados desde main. No leer ni imprimir al importar utilidades. Comprobar cada caso de aceptación.</a:t>
            </a:r>
          </a:p>
        </p:txBody>
      </p:sp>
      <p:sp>
        <p:nvSpPr>
          <p:cNvPr id="7" name="">
            <a:extLst xmlns:a="http://schemas.openxmlformats.org/drawingml/2006/main">
              <a:ext uri="{FF2B5EF4-FFF2-40B4-BE49-F238E27FC236}">
                <a16:creationId xmlns:a16="http://schemas.microsoft.com/office/drawing/2014/main" id="{6A8060FE-7944-4386-833E-F1337A92791A}"/>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11866738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C4F127-2BC4-4AF7-A786-6E180F42E2A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4EE2D2-7B58-49A9-921C-EB6973380DBB}"/>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PC3.12 · Casos de aceptación</a:t>
            </a:r>
          </a:p>
        </p:txBody>
      </p:sp>
      <p:sp>
        <p:nvSpPr>
          <p:cNvPr id="3" name="">
            <a:extLst xmlns:a="http://schemas.openxmlformats.org/drawingml/2006/main">
              <a:ext uri="{FF2B5EF4-FFF2-40B4-BE49-F238E27FC236}">
                <a16:creationId xmlns:a16="http://schemas.microsoft.com/office/drawing/2014/main" id="{514C0B9E-016B-49B7-B987-4EB86A6DDEB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4EB1E17-FD9B-41A5-BBD8-52F60C29087E}"/>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224006BD-0D8C-45A6-BB62-5D2F0D2E5CD1}"/>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6F7D8896-00B0-48F3-9C2F-7411CFDF4EF9}"/>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  sol ",3),("LUNA",1)], mínimo=2</a:t>
            </a:r>
          </a:p>
        </p:txBody>
      </p:sp>
      <p:sp>
        <p:nvSpPr>
          <p:cNvPr id="7" name="">
            <a:extLst xmlns:a="http://schemas.openxmlformats.org/drawingml/2006/main">
              <a:ext uri="{FF2B5EF4-FFF2-40B4-BE49-F238E27FC236}">
                <a16:creationId xmlns:a16="http://schemas.microsoft.com/office/drawing/2014/main" id="{ACF98ABF-A128-49B9-8FD2-92B5EE44F01F}"/>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SOL</a:t>
            </a:r>
          </a:p>
        </p:txBody>
      </p:sp>
      <p:sp>
        <p:nvSpPr>
          <p:cNvPr id="8" name="">
            <a:extLst xmlns:a="http://schemas.openxmlformats.org/drawingml/2006/main">
              <a:ext uri="{FF2B5EF4-FFF2-40B4-BE49-F238E27FC236}">
                <a16:creationId xmlns:a16="http://schemas.microsoft.com/office/drawing/2014/main" id="{E06C76BC-3B04-4E0C-AE76-6F22D6A7D7C8}"/>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 mínimo=2</a:t>
            </a:r>
          </a:p>
        </p:txBody>
      </p:sp>
      <p:sp>
        <p:nvSpPr>
          <p:cNvPr id="9" name="">
            <a:extLst xmlns:a="http://schemas.openxmlformats.org/drawingml/2006/main">
              <a:ext uri="{FF2B5EF4-FFF2-40B4-BE49-F238E27FC236}">
                <a16:creationId xmlns:a16="http://schemas.microsoft.com/office/drawing/2014/main" id="{A48EFB92-1E45-4ADE-8E61-270C7F3260E3}"/>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Sin datos</a:t>
            </a:r>
          </a:p>
        </p:txBody>
      </p:sp>
      <p:sp>
        <p:nvSpPr>
          <p:cNvPr id="10" name="">
            <a:extLst xmlns:a="http://schemas.openxmlformats.org/drawingml/2006/main">
              <a:ext uri="{FF2B5EF4-FFF2-40B4-BE49-F238E27FC236}">
                <a16:creationId xmlns:a16="http://schemas.microsoft.com/office/drawing/2014/main" id="{AD544589-FA1F-4226-AD49-D06C7668560F}"/>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importar utilidades</a:t>
            </a:r>
          </a:p>
        </p:txBody>
      </p:sp>
      <p:sp>
        <p:nvSpPr>
          <p:cNvPr id="11" name="">
            <a:extLst xmlns:a="http://schemas.openxmlformats.org/drawingml/2006/main">
              <a:ext uri="{FF2B5EF4-FFF2-40B4-BE49-F238E27FC236}">
                <a16:creationId xmlns:a16="http://schemas.microsoft.com/office/drawing/2014/main" id="{FDE0A0C8-6040-4F34-8E29-F3EAC5BBC318}"/>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sin salida ni solicitud de entrada</a:t>
            </a:r>
          </a:p>
        </p:txBody>
      </p:sp>
      <p:sp>
        <p:nvSpPr>
          <p:cNvPr id="12" name="">
            <a:extLst xmlns:a="http://schemas.openxmlformats.org/drawingml/2006/main">
              <a:ext uri="{FF2B5EF4-FFF2-40B4-BE49-F238E27FC236}">
                <a16:creationId xmlns:a16="http://schemas.microsoft.com/office/drawing/2014/main" id="{D6B13BAC-8D28-4008-ACF0-A7E64B4C3039}"/>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mínimo negativo</a:t>
            </a:r>
          </a:p>
        </p:txBody>
      </p:sp>
      <p:sp>
        <p:nvSpPr>
          <p:cNvPr id="13" name="">
            <a:extLst xmlns:a="http://schemas.openxmlformats.org/drawingml/2006/main">
              <a:ext uri="{FF2B5EF4-FFF2-40B4-BE49-F238E27FC236}">
                <a16:creationId xmlns:a16="http://schemas.microsoft.com/office/drawing/2014/main" id="{7EEE4CB4-1837-4D58-A7C3-D8E18968569E}"/>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error de argumento</a:t>
            </a:r>
          </a:p>
        </p:txBody>
      </p:sp>
    </p:spTree>
    <p:extLst>
      <p:ext uri="{BB962C8B-B14F-4D97-AF65-F5344CB8AC3E}">
        <p14:creationId xmlns:p14="http://schemas.microsoft.com/office/powerpoint/2010/main" val="9120128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80CD1E-89ED-4356-876A-70764008D7A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DD6CB8-653A-4C7B-9981-4B8E5676A00F}"/>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25E65135-A6AA-47F2-85C4-D9F3BA44353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1BA43E-8F40-448F-9792-BB862EADC758}"/>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3.12</a:t>
            </a:r>
          </a:p>
        </p:txBody>
      </p:sp>
      <p:sp>
        <p:nvSpPr>
          <p:cNvPr id="5" name="">
            <a:extLst xmlns:a="http://schemas.openxmlformats.org/drawingml/2006/main">
              <a:ext uri="{FF2B5EF4-FFF2-40B4-BE49-F238E27FC236}">
                <a16:creationId xmlns:a16="http://schemas.microsoft.com/office/drawing/2014/main" id="{B33D428F-8920-41FF-8224-09677A81965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DA1798AD-8DF4-490C-B365-85F3E2782D95}"/>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F4E587BD-957A-4FC3-8084-1BBE1D5CBB89}"/>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Mantener utilidades sin interacción al importar.</a:t>
            </a:r>
          </a:p>
        </p:txBody>
      </p:sp>
      <p:sp>
        <p:nvSpPr>
          <p:cNvPr id="8" name="">
            <a:extLst xmlns:a="http://schemas.openxmlformats.org/drawingml/2006/main">
              <a:ext uri="{FF2B5EF4-FFF2-40B4-BE49-F238E27FC236}">
                <a16:creationId xmlns:a16="http://schemas.microsoft.com/office/drawing/2014/main" id="{657186F1-2A41-4BDD-AE34-B07DE735E7BB}"/>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08C2EC14-24A6-40BD-A809-432187E3EFBC}"/>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Pasar datos mediante argumentos.</a:t>
            </a:r>
          </a:p>
        </p:txBody>
      </p:sp>
      <p:sp>
        <p:nvSpPr>
          <p:cNvPr id="10" name="">
            <a:extLst xmlns:a="http://schemas.openxmlformats.org/drawingml/2006/main">
              <a:ext uri="{FF2B5EF4-FFF2-40B4-BE49-F238E27FC236}">
                <a16:creationId xmlns:a16="http://schemas.microsoft.com/office/drawing/2014/main" id="{CA16069C-8CBE-4548-A276-F9C49DE904B1}"/>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B9DD9420-9259-447F-8C65-547A7E7F6A89}"/>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Probar archivos juntos desde una carpeta limpia.</a:t>
            </a:r>
          </a:p>
        </p:txBody>
      </p:sp>
    </p:spTree>
    <p:extLst>
      <p:ext uri="{BB962C8B-B14F-4D97-AF65-F5344CB8AC3E}">
        <p14:creationId xmlns:p14="http://schemas.microsoft.com/office/powerpoint/2010/main" val="1203039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2026-09-25T21:23:30.2120000Z</dcterms:created>
  <dcterms:modified xsi:type="dcterms:W3CDTF">2026-09-25T21:23:30.2120000Z</dcterms:modified>
</coreProperties>
</file>