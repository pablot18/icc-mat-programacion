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aae279331842a8" /><Relationship Type="http://schemas.openxmlformats.org/officeDocument/2006/relationships/extended-properties" Target="/docProps/app.xml" Id="R0c4a1401911f4559" /><Relationship Type="http://schemas.openxmlformats.org/officeDocument/2006/relationships/officeDocument" Target="/ppt/presentation.xml" Id="R2049b707125f4aad" /></Relationships>
</file>

<file path=ppt/presentation.xml><?xml version="1.0" encoding="utf-8"?>
<p:presentation xmlns:p="http://schemas.openxmlformats.org/presentationml/2006/main">
  <p:sldMasterIdLst>
    <p:sldMasterId xmlns:r="http://schemas.openxmlformats.org/officeDocument/2006/relationships" id="2147483648" r:id="Rb5091f89826e4a80"/>
  </p:sldMasterIdLst>
  <p:notesMasterIdLst>
    <p:notesMasterId xmlns:r="http://schemas.openxmlformats.org/officeDocument/2006/relationships" r:id="Re33894e63b494558"/>
  </p:notesMasterIdLst>
  <p:sldIdLst>
    <p:sldId xmlns:r="http://schemas.openxmlformats.org/officeDocument/2006/relationships" id="256" r:id="R116f3930a5224033"/>
    <p:sldId xmlns:r="http://schemas.openxmlformats.org/officeDocument/2006/relationships" id="257" r:id="Red59e0c29c2347f7"/>
    <p:sldId xmlns:r="http://schemas.openxmlformats.org/officeDocument/2006/relationships" id="258" r:id="Re7432ad6f9604e90"/>
    <p:sldId xmlns:r="http://schemas.openxmlformats.org/officeDocument/2006/relationships" id="259" r:id="R14bf731de7f14610"/>
    <p:sldId xmlns:r="http://schemas.openxmlformats.org/officeDocument/2006/relationships" id="260" r:id="R2ff38cd10d6f4aa0"/>
    <p:sldId xmlns:r="http://schemas.openxmlformats.org/officeDocument/2006/relationships" id="261" r:id="R2b4807cc97b2497c"/>
    <p:sldId xmlns:r="http://schemas.openxmlformats.org/officeDocument/2006/relationships" id="262" r:id="Rc1fb93932c9143a6"/>
    <p:sldId xmlns:r="http://schemas.openxmlformats.org/officeDocument/2006/relationships" id="263" r:id="R5a68e6ed39fc4659"/>
    <p:sldId xmlns:r="http://schemas.openxmlformats.org/officeDocument/2006/relationships" id="264" r:id="Re608f760335c48e3"/>
    <p:sldId xmlns:r="http://schemas.openxmlformats.org/officeDocument/2006/relationships" id="265" r:id="R45be779b9eae4500"/>
    <p:sldId xmlns:r="http://schemas.openxmlformats.org/officeDocument/2006/relationships" id="266" r:id="Rda471de99d15435b"/>
    <p:sldId xmlns:r="http://schemas.openxmlformats.org/officeDocument/2006/relationships" id="267" r:id="R1f864d98429340ed"/>
    <p:sldId xmlns:r="http://schemas.openxmlformats.org/officeDocument/2006/relationships" id="268" r:id="Rb677de80ffb949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43058f8f04ce7" /><Relationship Type="http://schemas.openxmlformats.org/officeDocument/2006/relationships/slideMaster" Target="/ppt/slideMasters/slideMaster1.xml" Id="Rb5091f89826e4a80" /><Relationship Type="http://schemas.openxmlformats.org/officeDocument/2006/relationships/notesMaster" Target="/ppt/notesMasters/notesMaster1.xml" Id="Re33894e63b494558" /><Relationship Type="http://schemas.openxmlformats.org/officeDocument/2006/relationships/presProps" Target="/ppt/presProps.xml" Id="R7364e3d356ae4fee" /><Relationship Type="http://schemas.openxmlformats.org/officeDocument/2006/relationships/tableStyles" Target="/ppt/tableStyles.xml" Id="R0411b035ac9042e5" /><Relationship Type="http://schemas.openxmlformats.org/officeDocument/2006/relationships/slide" Target="/ppt/slides/slide1.xml" Id="R116f3930a5224033" /><Relationship Type="http://schemas.openxmlformats.org/officeDocument/2006/relationships/slide" Target="/ppt/slides/slide2.xml" Id="Red59e0c29c2347f7" /><Relationship Type="http://schemas.openxmlformats.org/officeDocument/2006/relationships/slide" Target="/ppt/slides/slide3.xml" Id="Re7432ad6f9604e90" /><Relationship Type="http://schemas.openxmlformats.org/officeDocument/2006/relationships/slide" Target="/ppt/slides/slide4.xml" Id="R14bf731de7f14610" /><Relationship Type="http://schemas.openxmlformats.org/officeDocument/2006/relationships/slide" Target="/ppt/slides/slide5.xml" Id="R2ff38cd10d6f4aa0" /><Relationship Type="http://schemas.openxmlformats.org/officeDocument/2006/relationships/slide" Target="/ppt/slides/slide6.xml" Id="R2b4807cc97b2497c" /><Relationship Type="http://schemas.openxmlformats.org/officeDocument/2006/relationships/slide" Target="/ppt/slides/slide7.xml" Id="Rc1fb93932c9143a6" /><Relationship Type="http://schemas.openxmlformats.org/officeDocument/2006/relationships/slide" Target="/ppt/slides/slide8.xml" Id="R5a68e6ed39fc4659" /><Relationship Type="http://schemas.openxmlformats.org/officeDocument/2006/relationships/slide" Target="/ppt/slides/slide9.xml" Id="Re608f760335c48e3" /><Relationship Type="http://schemas.openxmlformats.org/officeDocument/2006/relationships/slide" Target="/ppt/slides/slide10.xml" Id="R45be779b9eae4500" /><Relationship Type="http://schemas.openxmlformats.org/officeDocument/2006/relationships/slide" Target="/ppt/slides/slide11.xml" Id="Rda471de99d15435b" /><Relationship Type="http://schemas.openxmlformats.org/officeDocument/2006/relationships/slide" Target="/ppt/slides/slide12.xml" Id="R1f864d98429340ed" /><Relationship Type="http://schemas.openxmlformats.org/officeDocument/2006/relationships/slide" Target="/ppt/slides/slide13.xml" Id="Rb677de80ffb949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a0cf6edf14b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819f74350c4abe" /><Relationship Type="http://schemas.openxmlformats.org/officeDocument/2006/relationships/notesMaster" Target="/ppt/notesMasters/notesMaster1.xml" Id="Rdb0ce48de19f41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251eb43f244f6d" /><Relationship Type="http://schemas.openxmlformats.org/officeDocument/2006/relationships/notesMaster" Target="/ppt/notesMasters/notesMaster1.xml" Id="Re806afb87ec24e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eba25086e74359" /><Relationship Type="http://schemas.openxmlformats.org/officeDocument/2006/relationships/notesMaster" Target="/ppt/notesMasters/notesMaster1.xml" Id="Ra681d06ccdac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798ca380c74414" /><Relationship Type="http://schemas.openxmlformats.org/officeDocument/2006/relationships/notesMaster" Target="/ppt/notesMasters/notesMaster1.xml" Id="Rfce85d7cd38a4c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5b02b967064a7c" /><Relationship Type="http://schemas.openxmlformats.org/officeDocument/2006/relationships/notesMaster" Target="/ppt/notesMasters/notesMaster1.xml" Id="Re0e441c02b6e40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3a4f517b7d43b1" /><Relationship Type="http://schemas.openxmlformats.org/officeDocument/2006/relationships/notesMaster" Target="/ppt/notesMasters/notesMaster1.xml" Id="R42256900280c4f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b150f696134dfb" /><Relationship Type="http://schemas.openxmlformats.org/officeDocument/2006/relationships/notesMaster" Target="/ppt/notesMasters/notesMaster1.xml" Id="Rdc5d2b0c021142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7ce0c852db47d2" /><Relationship Type="http://schemas.openxmlformats.org/officeDocument/2006/relationships/notesMaster" Target="/ppt/notesMasters/notesMaster1.xml" Id="R630789a81d3f43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773ff50ac4416e" /><Relationship Type="http://schemas.openxmlformats.org/officeDocument/2006/relationships/notesMaster" Target="/ppt/notesMasters/notesMaster1.xml" Id="R8d291a48fac447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1b66b099704bb4" /><Relationship Type="http://schemas.openxmlformats.org/officeDocument/2006/relationships/notesMaster" Target="/ppt/notesMasters/notesMaster1.xml" Id="R011390d689e44c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ae79bb8cd245b1" /><Relationship Type="http://schemas.openxmlformats.org/officeDocument/2006/relationships/notesMaster" Target="/ppt/notesMasters/notesMaster1.xml" Id="R9e461cc327e440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81e4636293414d" /><Relationship Type="http://schemas.openxmlformats.org/officeDocument/2006/relationships/notesMaster" Target="/ppt/notesMasters/notesMaster1.xml" Id="R78390e1159d34a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dabecf617a4b84" /><Relationship Type="http://schemas.openxmlformats.org/officeDocument/2006/relationships/notesMaster" Target="/ppt/notesMasters/notesMaster1.xml" Id="Re51bb2c82867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matriz rectangular tiene el mismo número de columnas en cada fila. Una colección de filas puede ser irregular; no asumir rectangularidad sin comprobarla. Distinguir número de filas, columnas por fila y cantidad total de elementos. Una matriz vacía no tiene primera fila, por lo que acceder a ella para obtener columnas genera un error.</a:t>
            </a:r>
          </a:p>
          <a:p xmlns:a="http://schemas.openxmlformats.org/drawingml/2006/main">
            <a:r>
              <a:t/>
            </a:r>
          </a:p>
          <a:p xmlns:a="http://schemas.openxmlformats.org/drawingml/2006/main">
            <a:r>
              <a:t>Representar con lista de listas. matriz[fila][columna] accede a un elemento. Crear filas independientes con una comprensión o un ciclo; [[0]*c]*f comparte la misma fila y causa cambios inesperados.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ciclo externo selecciona una fila y el interno recorre sus elementos. Un acumulador global se inicializa antes de ambos; uno por fila al comenzar cada iteración externa. Una suma por columna requiere mantener un resultado por columna. Usar una matriz pequeña no cuadrada para comprobar que no se intercambian límites.</a:t>
            </a:r>
          </a:p>
          <a:p xmlns:a="http://schemas.openxmlformats.org/drawingml/2006/main">
            <a:r>
              <a:t/>
            </a:r>
          </a:p>
          <a:p xmlns:a="http://schemas.openxmlformats.org/drawingml/2006/main">
            <a:r>
              <a:t>Recorrer filas directamente cuando no se necesita posición. Usar enumerate para conservar coordenadas. No fijar el número de columnas con una constante si los datos forman parte de la entrada.</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Construir una matriz nueva exige un contenedor externo nuevo y filas nuevas. Copiar solo el contenedor externo comparte filas. Definir una regla local para cada celda y conservar la forma original. Separar transformar de mostrar: la primera función retorna estructura y la segunda la presenta. Comprobar la entrada después de llamar a la función para detectar mutación accidental.</a:t>
            </a:r>
          </a:p>
          <a:p xmlns:a="http://schemas.openxmlformats.org/drawingml/2006/main">
            <a:r>
              <a:t/>
            </a:r>
          </a:p>
          <a:p xmlns:a="http://schemas.openxmlformats.org/drawingml/2006/main">
            <a:r>
              <a:t>Crear nueva_fila=[] dentro del ciclo externo, agregar resultados y finalmente agregar la fila a resultado. No reutilizar la misma lista para todas las filas. Para copiar números sin transformar, copiar cada fila es suficiente.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salida de matriz es un formato, no la representación interna de una lista. Definir separador de celdas y mensaje de cierre por fila. Para una mayoría, comparar conteos y decidir explícitamente los empates. Verificar que una categoría pueda realmente aparecer después de la transformación: contar minúsculas después de convertir todo a mayúsculas produce una condición incoherente.</a:t>
            </a:r>
          </a:p>
          <a:p xmlns:a="http://schemas.openxmlformats.org/drawingml/2006/main">
            <a:r>
              <a:t/>
            </a:r>
          </a:p>
          <a:p xmlns:a="http://schemas.openxmlformats.org/drawingml/2006/main">
            <a:r>
              <a:t>Usar " | ".join(fila) para cadenas, o convertir cada valor cuando sea numérico. Reiniciar conteos al entrar a cada fila. Una fila vacía requiere una salida definida si el contrato la admite.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Procesar mediciones organizadas por días y estaciones requiere conservar filas y columnas. Una transformación puede producir etiquetas sin modificar los datos numéricos originales, y un resumen por fila necesita reiniciar su estado en el lugar correcto.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b631c1685c4a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1cb19139ce4437" /><Relationship Type="http://schemas.openxmlformats.org/officeDocument/2006/relationships/slideLayout" Target="/ppt/slideLayouts/slideLayout1.xml" Id="R05d307c216e94c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d307c216e94c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1a9d725f3c4b1f" /><Relationship Type="http://schemas.openxmlformats.org/officeDocument/2006/relationships/image" Target="/ppt/media/image.png" Id="R0d141d721ff64875" /><Relationship Type="http://schemas.openxmlformats.org/officeDocument/2006/relationships/notesSlide" Target="/ppt/notesSlides/notesSlide1.xml" Id="Rfac893b294734b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636fc74ab41dc" /><Relationship Type="http://schemas.openxmlformats.org/officeDocument/2006/relationships/notesSlide" Target="/ppt/notesSlides/notesSlide2.xml" Id="R19c9650de46d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66c2e4e0db4190" /><Relationship Type="http://schemas.openxmlformats.org/officeDocument/2006/relationships/notesSlide" Target="/ppt/notesSlides/notesSlide3.xml" Id="R57c3aa74d2ec45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b7557b10e0490d" /><Relationship Type="http://schemas.openxmlformats.org/officeDocument/2006/relationships/notesSlide" Target="/ppt/notesSlides/notesSlide4.xml" Id="Rec58d464c8d344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904600d20349c2" /><Relationship Type="http://schemas.openxmlformats.org/officeDocument/2006/relationships/notesSlide" Target="/ppt/notesSlides/notesSlide5.xml" Id="Rd7044260b99f45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a3128f83134078" /><Relationship Type="http://schemas.openxmlformats.org/officeDocument/2006/relationships/notesSlide" Target="/ppt/notesSlides/notesSlide6.xml" Id="Rd5859a7909cf40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76938eb74e4a28" /><Relationship Type="http://schemas.openxmlformats.org/officeDocument/2006/relationships/notesSlide" Target="/ppt/notesSlides/notesSlide7.xml" Id="R978940e583024e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d41727897c4d12" /><Relationship Type="http://schemas.openxmlformats.org/officeDocument/2006/relationships/notesSlide" Target="/ppt/notesSlides/notesSlide8.xml" Id="R92f821411d7544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81650132f44535" /><Relationship Type="http://schemas.openxmlformats.org/officeDocument/2006/relationships/notesSlide" Target="/ppt/notesSlides/notesSlide9.xml" Id="Rffea29aa29b24f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41138461484ff9" /><Relationship Type="http://schemas.openxmlformats.org/officeDocument/2006/relationships/notesSlide" Target="/ppt/notesSlides/notesSlide10.xml" Id="Rdf3044791ac640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c774c5a8b14ded" /><Relationship Type="http://schemas.openxmlformats.org/officeDocument/2006/relationships/notesSlide" Target="/ppt/notesSlides/notesSlide11.xml" Id="Rfde7c75115964b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f090cf9b7e47ee" /><Relationship Type="http://schemas.openxmlformats.org/officeDocument/2006/relationships/notesSlide" Target="/ppt/notesSlides/notesSlide12.xml" Id="Rb5334c8fc9aa4e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a03a5426cd4d30" /><Relationship Type="http://schemas.openxmlformats.org/officeDocument/2006/relationships/notesSlide" Target="/ppt/notesSlides/notesSlide13.xml" Id="R51db71978d6d40e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d141d721ff64875"/>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BCBEC4-9736-4FF5-AE68-A76311F997AF}"/>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4501403C-A75C-4EB0-A59F-8096E89FBB87}"/>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Matrices y recorridos anidados</a:t>
            </a:r>
          </a:p>
        </p:txBody>
      </p:sp>
      <p:sp>
        <p:nvSpPr>
          <p:cNvPr id="4" name="">
            <a:extLst xmlns:a="http://schemas.openxmlformats.org/drawingml/2006/main">
              <a:ext uri="{FF2B5EF4-FFF2-40B4-BE49-F238E27FC236}">
                <a16:creationId xmlns:a16="http://schemas.microsoft.com/office/drawing/2014/main" id="{EC49F342-ADF5-41BA-9DC0-96790BA029A1}"/>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3D0198-6765-4772-AAE8-A2D070FA0E7B}"/>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3.09 · Python</a:t>
            </a:r>
          </a:p>
        </p:txBody>
      </p:sp>
      <p:sp>
        <p:nvSpPr>
          <p:cNvPr id="6" name="">
            <a:extLst xmlns:a="http://schemas.openxmlformats.org/drawingml/2006/main">
              <a:ext uri="{FF2B5EF4-FFF2-40B4-BE49-F238E27FC236}">
                <a16:creationId xmlns:a16="http://schemas.microsoft.com/office/drawing/2014/main" id="{18823330-993E-4F55-BC68-8B3341B3BB4D}"/>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765125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074C83-7278-480B-91F6-4DCA660F9EF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736C3B-EC77-458D-BF32-D014650A056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729A0E97-4EBA-44C3-A555-32F72511AF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319593-28BC-4406-9F33-1BA306D67A5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E98E43E0-BA38-41AB-B18D-13904DA2C86F}"/>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D7E39011-E4C7-4596-9308-366EA0AAC452}"/>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Procesar mediciones organizadas por días y estaciones requiere conservar filas y columnas. Una transformación puede producir etiquetas sin modificar los datos numéricos originales, y un resumen por fila necesita reiniciar su estado en el lugar correcto.</a:t>
            </a:r>
          </a:p>
        </p:txBody>
      </p:sp>
      <p:sp>
        <p:nvSpPr>
          <p:cNvPr id="7" name="">
            <a:extLst xmlns:a="http://schemas.openxmlformats.org/drawingml/2006/main">
              <a:ext uri="{FF2B5EF4-FFF2-40B4-BE49-F238E27FC236}">
                <a16:creationId xmlns:a16="http://schemas.microsoft.com/office/drawing/2014/main" id="{05894CB7-23BD-42A4-B693-3D9C9C9157AF}"/>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5578218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0CD352-91A2-4C0C-AFB6-4C8FFE34E26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52AC47-D2CC-4F05-B2A6-7A219BD8AEF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Forma, dimensiones y acceso</a:t>
            </a:r>
          </a:p>
        </p:txBody>
      </p:sp>
      <p:sp>
        <p:nvSpPr>
          <p:cNvPr id="3" name="">
            <a:extLst xmlns:a="http://schemas.openxmlformats.org/drawingml/2006/main">
              <a:ext uri="{FF2B5EF4-FFF2-40B4-BE49-F238E27FC236}">
                <a16:creationId xmlns:a16="http://schemas.microsoft.com/office/drawing/2014/main" id="{E1190960-707B-40A9-86F6-4397F83AB33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01392D-DC7A-42EA-9C94-DF231C0D58AA}"/>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2E2C4F55-411B-4A0C-A0FD-2C9F40DDB9B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E63ECBD5-F847-4F62-9250-025E2A58495F}"/>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matriz rectangular tiene el mismo número de columnas en cada fila. Una colección de filas puede ser irregular; no asumir rectangularidad sin comprobarla.</a:t>
            </a:r>
          </a:p>
        </p:txBody>
      </p:sp>
      <p:sp>
        <p:nvSpPr>
          <p:cNvPr id="7" name="">
            <a:extLst xmlns:a="http://schemas.openxmlformats.org/drawingml/2006/main">
              <a:ext uri="{FF2B5EF4-FFF2-40B4-BE49-F238E27FC236}">
                <a16:creationId xmlns:a16="http://schemas.microsoft.com/office/drawing/2014/main" id="{A0767230-69A1-43BD-A322-3C674D0E7EC9}"/>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matriz = [[0 for _ in range(3)] for _ in range(2)]</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matriz[0][0] = 7</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print(matriz)</a:t>
            </a:r>
          </a:p>
        </p:txBody>
      </p:sp>
      <p:sp>
        <p:nvSpPr>
          <p:cNvPr id="8" name="">
            <a:extLst xmlns:a="http://schemas.openxmlformats.org/drawingml/2006/main">
              <a:ext uri="{FF2B5EF4-FFF2-40B4-BE49-F238E27FC236}">
                <a16:creationId xmlns:a16="http://schemas.microsoft.com/office/drawing/2014/main" id="{6BCEDF08-AEFA-49BB-AADA-960B25B2AE6F}"/>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Representar con lista de listas.</a:t>
            </a:r>
          </a:p>
        </p:txBody>
      </p:sp>
    </p:spTree>
    <p:extLst>
      <p:ext uri="{BB962C8B-B14F-4D97-AF65-F5344CB8AC3E}">
        <p14:creationId xmlns:p14="http://schemas.microsoft.com/office/powerpoint/2010/main" val="16196522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41C07-708E-4D9E-8FD7-5E18CC336EF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F283CC-E372-4589-BCAC-4F8014389E9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Recorrido y acumuladores por nivel</a:t>
            </a:r>
          </a:p>
        </p:txBody>
      </p:sp>
      <p:sp>
        <p:nvSpPr>
          <p:cNvPr id="3" name="">
            <a:extLst xmlns:a="http://schemas.openxmlformats.org/drawingml/2006/main">
              <a:ext uri="{FF2B5EF4-FFF2-40B4-BE49-F238E27FC236}">
                <a16:creationId xmlns:a16="http://schemas.microsoft.com/office/drawing/2014/main" id="{AD0DF082-1BDC-47D5-9D47-5EA3FB36C31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779CFF-420B-414A-9763-A6A9309C4AF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FF93D4C9-F277-4440-854D-428A7670176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48B478D5-681F-4060-9B5D-133AC4BA799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ciclo externo selecciona una fila y el interno recorre sus elementos. Un acumulador global se inicializa antes de ambos; uno por fila al comenzar cada iteración externa.</a:t>
            </a:r>
          </a:p>
        </p:txBody>
      </p:sp>
      <p:sp>
        <p:nvSpPr>
          <p:cNvPr id="7" name="">
            <a:extLst xmlns:a="http://schemas.openxmlformats.org/drawingml/2006/main">
              <a:ext uri="{FF2B5EF4-FFF2-40B4-BE49-F238E27FC236}">
                <a16:creationId xmlns:a16="http://schemas.microsoft.com/office/drawing/2014/main" id="{317D3EB1-B7AF-49E7-9EBD-415B48C1C89C}"/>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fila in [[1, 2], [3,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total =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for valor in fila: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total += valor</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print(total)</a:t>
            </a:r>
          </a:p>
        </p:txBody>
      </p:sp>
      <p:sp>
        <p:nvSpPr>
          <p:cNvPr id="8" name="">
            <a:extLst xmlns:a="http://schemas.openxmlformats.org/drawingml/2006/main">
              <a:ext uri="{FF2B5EF4-FFF2-40B4-BE49-F238E27FC236}">
                <a16:creationId xmlns:a16="http://schemas.microsoft.com/office/drawing/2014/main" id="{B10A9F5E-716E-4963-89F9-6FECEB8E9EA1}"/>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Recorrer filas directamente cuando no se necesita posición.</a:t>
            </a:r>
          </a:p>
        </p:txBody>
      </p:sp>
    </p:spTree>
    <p:extLst>
      <p:ext uri="{BB962C8B-B14F-4D97-AF65-F5344CB8AC3E}">
        <p14:creationId xmlns:p14="http://schemas.microsoft.com/office/powerpoint/2010/main" val="8405286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AA53B0-C5F5-44F6-A897-D8AC8867D31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6030A5-691C-4233-A296-7CEAD0C2270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Transformación sin mutación</a:t>
            </a:r>
          </a:p>
        </p:txBody>
      </p:sp>
      <p:sp>
        <p:nvSpPr>
          <p:cNvPr id="3" name="">
            <a:extLst xmlns:a="http://schemas.openxmlformats.org/drawingml/2006/main">
              <a:ext uri="{FF2B5EF4-FFF2-40B4-BE49-F238E27FC236}">
                <a16:creationId xmlns:a16="http://schemas.microsoft.com/office/drawing/2014/main" id="{87E58EFF-85BA-42C6-A3C9-719CFE32483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5FB147-4B86-43D4-A888-954B0FD1B460}"/>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193F1A23-EA96-45E2-B268-0DE330BEBDA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7B92B907-F14F-49B3-9C2B-871EFA5D0BE5}"/>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Construir una matriz nueva exige un contenedor externo nuevo y filas nuevas. Copiar solo el contenedor externo comparte filas.</a:t>
            </a:r>
          </a:p>
        </p:txBody>
      </p:sp>
      <p:sp>
        <p:nvSpPr>
          <p:cNvPr id="7" name="">
            <a:extLst xmlns:a="http://schemas.openxmlformats.org/drawingml/2006/main">
              <a:ext uri="{FF2B5EF4-FFF2-40B4-BE49-F238E27FC236}">
                <a16:creationId xmlns:a16="http://schemas.microsoft.com/office/drawing/2014/main" id="{EE0BB689-AAB4-46AB-A149-D6C5F2D4F66A}"/>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resultado = []</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fila in [[1, 2], [3,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nueva = []</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for valor in fila: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nueva.append(valor * 2)</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resultado.append(nueva)</a:t>
            </a:r>
          </a:p>
        </p:txBody>
      </p:sp>
      <p:sp>
        <p:nvSpPr>
          <p:cNvPr id="8" name="">
            <a:extLst xmlns:a="http://schemas.openxmlformats.org/drawingml/2006/main">
              <a:ext uri="{FF2B5EF4-FFF2-40B4-BE49-F238E27FC236}">
                <a16:creationId xmlns:a16="http://schemas.microsoft.com/office/drawing/2014/main" id="{4424AA8F-4986-419B-BA06-FA3DD6E9EBAC}"/>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Crear nueva_fila=[] dentro del ciclo externo, agregar resultados y finalmente agregar la fila a resultado.</a:t>
            </a:r>
          </a:p>
        </p:txBody>
      </p:sp>
    </p:spTree>
    <p:extLst>
      <p:ext uri="{BB962C8B-B14F-4D97-AF65-F5344CB8AC3E}">
        <p14:creationId xmlns:p14="http://schemas.microsoft.com/office/powerpoint/2010/main" val="17738071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064AED-E2FD-4A64-A57D-89338DE1C08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BBFDFE-847B-404F-8F3E-72E76B4D424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Presentación y condiciones de fila</a:t>
            </a:r>
          </a:p>
        </p:txBody>
      </p:sp>
      <p:sp>
        <p:nvSpPr>
          <p:cNvPr id="3" name="">
            <a:extLst xmlns:a="http://schemas.openxmlformats.org/drawingml/2006/main">
              <a:ext uri="{FF2B5EF4-FFF2-40B4-BE49-F238E27FC236}">
                <a16:creationId xmlns:a16="http://schemas.microsoft.com/office/drawing/2014/main" id="{FE4FC3FD-1DBC-447E-BCDF-677F2E106B7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68B72F-704C-4642-AEAF-95F9D4558CD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44C793A9-3ACF-46C8-9D5A-EB8DCAB61E8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28FBADFF-7ED5-4261-BCEF-7BB84D6377D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salida de matriz es un formato, no la representación interna de una lista. Definir separador de celdas y mensaje de cierre por fila.</a:t>
            </a:r>
          </a:p>
        </p:txBody>
      </p:sp>
      <p:sp>
        <p:nvSpPr>
          <p:cNvPr id="7" name="">
            <a:extLst xmlns:a="http://schemas.openxmlformats.org/drawingml/2006/main">
              <a:ext uri="{FF2B5EF4-FFF2-40B4-BE49-F238E27FC236}">
                <a16:creationId xmlns:a16="http://schemas.microsoft.com/office/drawing/2014/main" id="{7403B28A-4E73-40E9-8C17-F9ED48EF284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92" b="0">
                <a:solidFill>
                  <a:srgbClr val="403F3B"/>
                </a:solidFill>
                <a:latin typeface="DejaVu Sans"/>
                <a:ea typeface="DejaVu Sans"/>
                <a:cs typeface="DejaVu Sans"/>
              </a:defRPr>
            </a:pPr>
            <a:r>
              <a:rPr sz="1792" b="0">
                <a:solidFill>
                  <a:srgbClr val="403F3B"/>
                </a:solidFill>
                <a:latin typeface="DejaVu Sans"/>
                <a:ea typeface="DejaVu Sans"/>
                <a:cs typeface="DejaVu Sans"/>
              </a:rPr>
              <a:t>print(" | ".join(["BAJA", "ALTA"]))</a:t>
            </a:r>
          </a:p>
        </p:txBody>
      </p:sp>
      <p:sp>
        <p:nvSpPr>
          <p:cNvPr id="8" name="">
            <a:extLst xmlns:a="http://schemas.openxmlformats.org/drawingml/2006/main">
              <a:ext uri="{FF2B5EF4-FFF2-40B4-BE49-F238E27FC236}">
                <a16:creationId xmlns:a16="http://schemas.microsoft.com/office/drawing/2014/main" id="{E0B17D61-DF27-49C8-8ECC-7C32C6D19C82}"/>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 | ".join(fila) para cadenas, o convertir cada valor cuando sea numérico.</a:t>
            </a:r>
          </a:p>
        </p:txBody>
      </p:sp>
    </p:spTree>
    <p:extLst>
      <p:ext uri="{BB962C8B-B14F-4D97-AF65-F5344CB8AC3E}">
        <p14:creationId xmlns:p14="http://schemas.microsoft.com/office/powerpoint/2010/main" val="9349325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02C784F-D82B-4B21-9552-CC2D90F09DD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5545A4-D015-4E4A-9883-75FC81542F6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5010522E-FE39-4464-B301-805D8D2737D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DC8B70-C8A5-45B0-BAB8-CCF6DA8105F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82797B4B-0C15-4046-9F8D-7FC7F9D6BF8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BB6731A-9D6A-4E6B-88E6-027F23D0EDD8}"/>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B47F28-D056-4322-8E93-ACC6BEAA58D2}"/>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587E8E06-00FF-4F66-A48B-8FE212A2ED0F}"/>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93844ACB-2AAD-4D96-BC82-205CFAC6E3B4}"/>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E8913BBD-068D-402F-94DC-BD4591184204}"/>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2A3681C-5F5A-4C67-917D-BFE9C7448111}"/>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4A4B697E-0BC3-4853-85E3-B028A2F4C5D4}"/>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Recorrido y acumuladores por nivel</a:t>
            </a:r>
          </a:p>
        </p:txBody>
      </p:sp>
      <p:sp>
        <p:nvSpPr>
          <p:cNvPr id="13" name="">
            <a:extLst xmlns:a="http://schemas.openxmlformats.org/drawingml/2006/main">
              <a:ext uri="{FF2B5EF4-FFF2-40B4-BE49-F238E27FC236}">
                <a16:creationId xmlns:a16="http://schemas.microsoft.com/office/drawing/2014/main" id="{56E163FE-1296-45E9-ABB3-550CD914BED5}"/>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EA2D40E4-DA5B-4C79-9690-E8A3EDB7F7BD}"/>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58D59A-23FC-417C-9FAB-A0AAD15177CA}"/>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324EFC0C-267E-4CF6-996B-BCFD0C5F486A}"/>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BAJA | ALTA | ALTA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ALTA | BAJA | BAJA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Original: 18</a:t>
            </a:r>
          </a:p>
        </p:txBody>
      </p:sp>
      <p:sp>
        <p:nvSpPr>
          <p:cNvPr id="17" name="">
            <a:extLst xmlns:a="http://schemas.openxmlformats.org/drawingml/2006/main">
              <a:ext uri="{FF2B5EF4-FFF2-40B4-BE49-F238E27FC236}">
                <a16:creationId xmlns:a16="http://schemas.microsoft.com/office/drawing/2014/main" id="{1C38BF83-0820-4FEF-AC7F-9EB536E0B1E1}"/>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4850085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161341-BC04-4069-B860-0E8F17915FC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746A2A-B901-4845-9B68-147FC4D7FFA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BD8F164E-2D6C-4344-AEA8-D0F5FF81E1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95B97C-FC60-4BE2-97D5-34FBEA4928D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3DA38AA3-BF7F-4209-A5B6-4691466E2DB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6E20BCF7-6302-4B0E-9D27-CB61A51D5A1D}"/>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def clasificar(matriz):</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resultado = []</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for fila in matriz:</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nueva = []</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for valor in fila:</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nueva.append("ALTA" if valor &gt;= 20 else "BAJA")</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resultado.append(nueva)</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return resultado</a:t>
            </a:r>
          </a:p>
          <a:p xmlns:a="http://schemas.openxmlformats.org/drawingml/2006/main">
            <a:r>
              <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original = [[18, 22, 20], [25, 15, 19]]</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for fila in clasificar(original):</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    print(" | ".join(fila))</a:t>
            </a:r>
          </a:p>
          <a:p xmlns:a="http://schemas.openxmlformats.org/drawingml/2006/main">
            <a:pPr>
              <a:defRPr sz="1892" b="0">
                <a:solidFill>
                  <a:srgbClr val="403F3B"/>
                </a:solidFill>
                <a:latin typeface="DejaVu Sans"/>
                <a:ea typeface="DejaVu Sans"/>
                <a:cs typeface="DejaVu Sans"/>
              </a:defRPr>
            </a:pPr>
            <a:r>
              <a:rPr sz="1892" b="0">
                <a:solidFill>
                  <a:srgbClr val="403F3B"/>
                </a:solidFill>
                <a:latin typeface="DejaVu Sans"/>
                <a:ea typeface="DejaVu Sans"/>
                <a:cs typeface="DejaVu Sans"/>
              </a:rPr>
              <a:t>print(f"Original: {original[0][0]}")</a:t>
            </a:r>
          </a:p>
        </p:txBody>
      </p:sp>
    </p:spTree>
    <p:extLst>
      <p:ext uri="{BB962C8B-B14F-4D97-AF65-F5344CB8AC3E}">
        <p14:creationId xmlns:p14="http://schemas.microsoft.com/office/powerpoint/2010/main" val="14769976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0081F6-F11E-4511-84D8-B56DEDE39650}"/>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9208BD-6EBD-46A4-A8F6-C6BC956F8F6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49BE7210-5952-4D70-83C0-17CA49E76CC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C0FA22-D21B-4698-B3B4-41D0B04764D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544A7018-8263-424E-8A8F-EDED2ED9B36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2EA4EA9C-224C-4BE7-BDBF-7DD87D1C2F12}"/>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BAJA | ALTA | ALTA</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ALTA | BAJA | BAJA</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Original: 18</a:t>
            </a:r>
          </a:p>
        </p:txBody>
      </p:sp>
      <p:sp>
        <p:nvSpPr>
          <p:cNvPr id="7" name="">
            <a:extLst xmlns:a="http://schemas.openxmlformats.org/drawingml/2006/main">
              <a:ext uri="{FF2B5EF4-FFF2-40B4-BE49-F238E27FC236}">
                <a16:creationId xmlns:a16="http://schemas.microsoft.com/office/drawing/2014/main" id="{F8690E16-2737-4AEA-8DFB-13A7250E6F46}"/>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7738294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90622A-B1AD-419D-BBD1-73793C82C92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1C9EFC-342A-4B5B-8BA7-CFEFDED6CC2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Sumas por fila</a:t>
            </a:r>
          </a:p>
        </p:txBody>
      </p:sp>
      <p:sp>
        <p:nvSpPr>
          <p:cNvPr id="3" name="">
            <a:extLst xmlns:a="http://schemas.openxmlformats.org/drawingml/2006/main">
              <a:ext uri="{FF2B5EF4-FFF2-40B4-BE49-F238E27FC236}">
                <a16:creationId xmlns:a16="http://schemas.microsoft.com/office/drawing/2014/main" id="{64C71519-2E60-4599-BF8B-C7621C1B4FE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8994CD-E7E3-490A-B72A-99340A25892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96838291-F414-4B0F-8F80-F9C75261793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CE86FE1-36C0-4DD7-98CC-73D62852EDCC}"/>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Producir una suma por fila de [[2,3],[4,7]].</a:t>
            </a:r>
          </a:p>
        </p:txBody>
      </p:sp>
      <p:sp>
        <p:nvSpPr>
          <p:cNvPr id="7" name="">
            <a:extLst xmlns:a="http://schemas.openxmlformats.org/drawingml/2006/main">
              <a:ext uri="{FF2B5EF4-FFF2-40B4-BE49-F238E27FC236}">
                <a16:creationId xmlns:a16="http://schemas.microsoft.com/office/drawing/2014/main" id="{E5C50173-1E87-4512-976B-A4DE41FB9C9E}"/>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2382E6EA-73FA-481F-8CBA-36DB8F42E473}"/>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5 11</a:t>
            </a:r>
          </a:p>
        </p:txBody>
      </p:sp>
    </p:spTree>
    <p:extLst>
      <p:ext uri="{BB962C8B-B14F-4D97-AF65-F5344CB8AC3E}">
        <p14:creationId xmlns:p14="http://schemas.microsoft.com/office/powerpoint/2010/main" val="19026653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689098-7E8A-4AD4-B223-18BCF7CC80E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31B6ED-04B7-41B1-8194-BC58B8EE361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PC3.09 · Problema y restricciones</a:t>
            </a:r>
          </a:p>
        </p:txBody>
      </p:sp>
      <p:sp>
        <p:nvSpPr>
          <p:cNvPr id="3" name="">
            <a:extLst xmlns:a="http://schemas.openxmlformats.org/drawingml/2006/main">
              <a:ext uri="{FF2B5EF4-FFF2-40B4-BE49-F238E27FC236}">
                <a16:creationId xmlns:a16="http://schemas.microsoft.com/office/drawing/2014/main" id="{B7C3A87D-118F-46DE-B01E-F31223AF188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B37DAF-D7F6-47FB-ABFB-383DE7282E7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F8EF177C-22F7-4712-84D3-61BB99E647A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FC34607C-2A21-4EBF-A979-EFB315C6A31C}"/>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Transformar una matriz rectangular de enteros en etiquetas NEGATIVO, CERO o POSITIVO. Retornar una matriz nueva y conservar la entrada. Mostrar cada fila separada por “ / ” y agregar el conteo de POSITIVO. Aceptar matriz vacía como cero filas, rechazar matrices irregulares y definir filas vacías como válidas solo si todas tienen longitud cero.</a:t>
            </a:r>
          </a:p>
        </p:txBody>
      </p:sp>
      <p:sp>
        <p:nvSpPr>
          <p:cNvPr id="7" name="">
            <a:extLst xmlns:a="http://schemas.openxmlformats.org/drawingml/2006/main">
              <a:ext uri="{FF2B5EF4-FFF2-40B4-BE49-F238E27FC236}">
                <a16:creationId xmlns:a16="http://schemas.microsoft.com/office/drawing/2014/main" id="{550FBECC-9DFC-400A-BBC6-96D78B2A9C03}"/>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10544535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DB1D60-0E41-4C7F-9A49-4A015CA49A3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60A9AB-F2CF-4371-9915-3B2D8C88FCC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PC3.09 · Casos de aceptación</a:t>
            </a:r>
          </a:p>
        </p:txBody>
      </p:sp>
      <p:sp>
        <p:nvSpPr>
          <p:cNvPr id="3" name="">
            <a:extLst xmlns:a="http://schemas.openxmlformats.org/drawingml/2006/main">
              <a:ext uri="{FF2B5EF4-FFF2-40B4-BE49-F238E27FC236}">
                <a16:creationId xmlns:a16="http://schemas.microsoft.com/office/drawing/2014/main" id="{FD7640A6-617A-41F4-B01E-AA8059B720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90DBEB-1D9D-431A-9AE1-C51C0632AAB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A829D9B1-5156-40E9-BD23-2AC6C819F03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5A40C107-3F6B-493A-B603-1A10405E7735}"/>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[[-1,0,2],[3,4,-2]]</a:t>
            </a:r>
          </a:p>
        </p:txBody>
      </p:sp>
      <p:sp>
        <p:nvSpPr>
          <p:cNvPr id="7" name="">
            <a:extLst xmlns:a="http://schemas.openxmlformats.org/drawingml/2006/main">
              <a:ext uri="{FF2B5EF4-FFF2-40B4-BE49-F238E27FC236}">
                <a16:creationId xmlns:a16="http://schemas.microsoft.com/office/drawing/2014/main" id="{684B8587-0256-4720-8CCB-C3C13E20B6C1}"/>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dos filas; conteos positivos 1 y 2</a:t>
            </a:r>
          </a:p>
        </p:txBody>
      </p:sp>
      <p:sp>
        <p:nvSpPr>
          <p:cNvPr id="8" name="">
            <a:extLst xmlns:a="http://schemas.openxmlformats.org/drawingml/2006/main">
              <a:ext uri="{FF2B5EF4-FFF2-40B4-BE49-F238E27FC236}">
                <a16:creationId xmlns:a16="http://schemas.microsoft.com/office/drawing/2014/main" id="{B9C193C6-01DB-4917-8133-4BB37159F783}"/>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t>
            </a:r>
          </a:p>
        </p:txBody>
      </p:sp>
      <p:sp>
        <p:nvSpPr>
          <p:cNvPr id="9" name="">
            <a:extLst xmlns:a="http://schemas.openxmlformats.org/drawingml/2006/main">
              <a:ext uri="{FF2B5EF4-FFF2-40B4-BE49-F238E27FC236}">
                <a16:creationId xmlns:a16="http://schemas.microsoft.com/office/drawing/2014/main" id="{882C842E-EC2F-4E07-AB9F-8FBA6BC43E4A}"/>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cero filas</a:t>
            </a:r>
          </a:p>
        </p:txBody>
      </p:sp>
      <p:sp>
        <p:nvSpPr>
          <p:cNvPr id="10" name="">
            <a:extLst xmlns:a="http://schemas.openxmlformats.org/drawingml/2006/main">
              <a:ext uri="{FF2B5EF4-FFF2-40B4-BE49-F238E27FC236}">
                <a16:creationId xmlns:a16="http://schemas.microsoft.com/office/drawing/2014/main" id="{0188F862-829E-49FD-A033-D9B8C8AE5799}"/>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[[1],[2,3]]</a:t>
            </a:r>
          </a:p>
        </p:txBody>
      </p:sp>
      <p:sp>
        <p:nvSpPr>
          <p:cNvPr id="11" name="">
            <a:extLst xmlns:a="http://schemas.openxmlformats.org/drawingml/2006/main">
              <a:ext uri="{FF2B5EF4-FFF2-40B4-BE49-F238E27FC236}">
                <a16:creationId xmlns:a16="http://schemas.microsoft.com/office/drawing/2014/main" id="{BD4DEB87-2CB6-4C7D-AA28-38DA4EFCB1EE}"/>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matriz irregular</a:t>
            </a:r>
          </a:p>
        </p:txBody>
      </p:sp>
      <p:sp>
        <p:nvSpPr>
          <p:cNvPr id="12" name="">
            <a:extLst xmlns:a="http://schemas.openxmlformats.org/drawingml/2006/main">
              <a:ext uri="{FF2B5EF4-FFF2-40B4-BE49-F238E27FC236}">
                <a16:creationId xmlns:a16="http://schemas.microsoft.com/office/drawing/2014/main" id="{685F0FF2-84E7-4322-84B0-E788E0DFF5A3}"/>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1F7D419A-6301-4BDD-8485-67383E177AC7}"/>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dos filas vacías; conteos 0</a:t>
            </a:r>
          </a:p>
        </p:txBody>
      </p:sp>
    </p:spTree>
    <p:extLst>
      <p:ext uri="{BB962C8B-B14F-4D97-AF65-F5344CB8AC3E}">
        <p14:creationId xmlns:p14="http://schemas.microsoft.com/office/powerpoint/2010/main" val="17379858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7106A3-BA22-4AE3-B089-CC20BEA4D6A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D3A0A3-9DB1-4ED9-831A-AF73643AA59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9B707AB1-464A-4E46-A64D-CE0770D4D4C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EDB537-5A31-42D5-9891-9140E7DD401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3.09</a:t>
            </a:r>
          </a:p>
        </p:txBody>
      </p:sp>
      <p:sp>
        <p:nvSpPr>
          <p:cNvPr id="5" name="">
            <a:extLst xmlns:a="http://schemas.openxmlformats.org/drawingml/2006/main">
              <a:ext uri="{FF2B5EF4-FFF2-40B4-BE49-F238E27FC236}">
                <a16:creationId xmlns:a16="http://schemas.microsoft.com/office/drawing/2014/main" id="{61A9A690-6DF5-462E-A265-013930B7029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837479AD-ECB5-496E-A444-D25E812645C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A1CBF5ED-27AE-400E-AA85-1688963C9EB2}"/>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Validar forma antes de usar dimensiones.</a:t>
            </a:r>
          </a:p>
        </p:txBody>
      </p:sp>
      <p:sp>
        <p:nvSpPr>
          <p:cNvPr id="8" name="">
            <a:extLst xmlns:a="http://schemas.openxmlformats.org/drawingml/2006/main">
              <a:ext uri="{FF2B5EF4-FFF2-40B4-BE49-F238E27FC236}">
                <a16:creationId xmlns:a16="http://schemas.microsoft.com/office/drawing/2014/main" id="{79843DF4-1237-40F3-8E73-73BAC69CF08E}"/>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D7D655A5-9EDC-40CF-8A29-0682E8E40C2A}"/>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Crear cada fila de salida por separado.</a:t>
            </a:r>
          </a:p>
        </p:txBody>
      </p:sp>
      <p:sp>
        <p:nvSpPr>
          <p:cNvPr id="10" name="">
            <a:extLst xmlns:a="http://schemas.openxmlformats.org/drawingml/2006/main">
              <a:ext uri="{FF2B5EF4-FFF2-40B4-BE49-F238E27FC236}">
                <a16:creationId xmlns:a16="http://schemas.microsoft.com/office/drawing/2014/main" id="{48047464-09A3-4914-98DC-CC46C7802BA5}"/>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87C06D63-586D-48AC-AF78-27249BC2CD33}"/>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Separar transformación y presentación.</a:t>
            </a:r>
          </a:p>
        </p:txBody>
      </p:sp>
    </p:spTree>
    <p:extLst>
      <p:ext uri="{BB962C8B-B14F-4D97-AF65-F5344CB8AC3E}">
        <p14:creationId xmlns:p14="http://schemas.microsoft.com/office/powerpoint/2010/main" val="2120428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2026-09-25T21:16:07.6150000Z</dcterms:created>
  <dcterms:modified xsi:type="dcterms:W3CDTF">2026-09-25T21:16:07.6150000Z</dcterms:modified>
</coreProperties>
</file>