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03a625a4a3349c2" /><Relationship Type="http://schemas.openxmlformats.org/officeDocument/2006/relationships/extended-properties" Target="/docProps/app.xml" Id="Rcd6d5c27df9a4ff9" /><Relationship Type="http://schemas.openxmlformats.org/officeDocument/2006/relationships/officeDocument" Target="/ppt/presentation.xml" Id="R3b7dbe0f712b4622" /></Relationships>
</file>

<file path=ppt/presentation.xml><?xml version="1.0" encoding="utf-8"?>
<p:presentation xmlns:p="http://schemas.openxmlformats.org/presentationml/2006/main">
  <p:sldMasterIdLst>
    <p:sldMasterId xmlns:r="http://schemas.openxmlformats.org/officeDocument/2006/relationships" id="2147483648" r:id="R7fa610a6fdce4e2d"/>
  </p:sldMasterIdLst>
  <p:notesMasterIdLst>
    <p:notesMasterId xmlns:r="http://schemas.openxmlformats.org/officeDocument/2006/relationships" r:id="R560b2be454fc459b"/>
  </p:notesMasterIdLst>
  <p:sldIdLst>
    <p:sldId xmlns:r="http://schemas.openxmlformats.org/officeDocument/2006/relationships" id="256" r:id="R67491bb969da46cb"/>
    <p:sldId xmlns:r="http://schemas.openxmlformats.org/officeDocument/2006/relationships" id="257" r:id="Rcbdaa304853743fa"/>
    <p:sldId xmlns:r="http://schemas.openxmlformats.org/officeDocument/2006/relationships" id="258" r:id="Rfa43226b59f843ea"/>
    <p:sldId xmlns:r="http://schemas.openxmlformats.org/officeDocument/2006/relationships" id="259" r:id="R5e98a0608d5748df"/>
    <p:sldId xmlns:r="http://schemas.openxmlformats.org/officeDocument/2006/relationships" id="260" r:id="Raba65431afa4475e"/>
    <p:sldId xmlns:r="http://schemas.openxmlformats.org/officeDocument/2006/relationships" id="261" r:id="R835f79e3d8334a51"/>
    <p:sldId xmlns:r="http://schemas.openxmlformats.org/officeDocument/2006/relationships" id="262" r:id="R9d5335693abd45e3"/>
    <p:sldId xmlns:r="http://schemas.openxmlformats.org/officeDocument/2006/relationships" id="263" r:id="Rd672c62116194fdf"/>
    <p:sldId xmlns:r="http://schemas.openxmlformats.org/officeDocument/2006/relationships" id="264" r:id="R55152f4f31a8423a"/>
    <p:sldId xmlns:r="http://schemas.openxmlformats.org/officeDocument/2006/relationships" id="265" r:id="R4074a4e9aa044fc2"/>
    <p:sldId xmlns:r="http://schemas.openxmlformats.org/officeDocument/2006/relationships" id="266" r:id="R2966eab41f684994"/>
    <p:sldId xmlns:r="http://schemas.openxmlformats.org/officeDocument/2006/relationships" id="267" r:id="Rd19e71e2099d4b44"/>
    <p:sldId xmlns:r="http://schemas.openxmlformats.org/officeDocument/2006/relationships" id="268" r:id="Rc82377c2abbd46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503af6d3aa443e" /><Relationship Type="http://schemas.openxmlformats.org/officeDocument/2006/relationships/slideMaster" Target="/ppt/slideMasters/slideMaster1.xml" Id="R7fa610a6fdce4e2d" /><Relationship Type="http://schemas.openxmlformats.org/officeDocument/2006/relationships/notesMaster" Target="/ppt/notesMasters/notesMaster1.xml" Id="R560b2be454fc459b" /><Relationship Type="http://schemas.openxmlformats.org/officeDocument/2006/relationships/presProps" Target="/ppt/presProps.xml" Id="R47d8598971254319" /><Relationship Type="http://schemas.openxmlformats.org/officeDocument/2006/relationships/tableStyles" Target="/ppt/tableStyles.xml" Id="Re00828ef28084f66" /><Relationship Type="http://schemas.openxmlformats.org/officeDocument/2006/relationships/slide" Target="/ppt/slides/slide1.xml" Id="R67491bb969da46cb" /><Relationship Type="http://schemas.openxmlformats.org/officeDocument/2006/relationships/slide" Target="/ppt/slides/slide2.xml" Id="Rcbdaa304853743fa" /><Relationship Type="http://schemas.openxmlformats.org/officeDocument/2006/relationships/slide" Target="/ppt/slides/slide3.xml" Id="Rfa43226b59f843ea" /><Relationship Type="http://schemas.openxmlformats.org/officeDocument/2006/relationships/slide" Target="/ppt/slides/slide4.xml" Id="R5e98a0608d5748df" /><Relationship Type="http://schemas.openxmlformats.org/officeDocument/2006/relationships/slide" Target="/ppt/slides/slide5.xml" Id="Raba65431afa4475e" /><Relationship Type="http://schemas.openxmlformats.org/officeDocument/2006/relationships/slide" Target="/ppt/slides/slide6.xml" Id="R835f79e3d8334a51" /><Relationship Type="http://schemas.openxmlformats.org/officeDocument/2006/relationships/slide" Target="/ppt/slides/slide7.xml" Id="R9d5335693abd45e3" /><Relationship Type="http://schemas.openxmlformats.org/officeDocument/2006/relationships/slide" Target="/ppt/slides/slide8.xml" Id="Rd672c62116194fdf" /><Relationship Type="http://schemas.openxmlformats.org/officeDocument/2006/relationships/slide" Target="/ppt/slides/slide9.xml" Id="R55152f4f31a8423a" /><Relationship Type="http://schemas.openxmlformats.org/officeDocument/2006/relationships/slide" Target="/ppt/slides/slide10.xml" Id="R4074a4e9aa044fc2" /><Relationship Type="http://schemas.openxmlformats.org/officeDocument/2006/relationships/slide" Target="/ppt/slides/slide11.xml" Id="R2966eab41f684994" /><Relationship Type="http://schemas.openxmlformats.org/officeDocument/2006/relationships/slide" Target="/ppt/slides/slide12.xml" Id="Rd19e71e2099d4b44" /><Relationship Type="http://schemas.openxmlformats.org/officeDocument/2006/relationships/slide" Target="/ppt/slides/slide13.xml" Id="Rc82377c2abbd46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1ac83319cc45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587366a6dc403f" /><Relationship Type="http://schemas.openxmlformats.org/officeDocument/2006/relationships/notesMaster" Target="/ppt/notesMasters/notesMaster1.xml" Id="R5afc0c212a154f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2ad55f4f944d7b" /><Relationship Type="http://schemas.openxmlformats.org/officeDocument/2006/relationships/notesMaster" Target="/ppt/notesMasters/notesMaster1.xml" Id="R74f2db4e00e843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02edf74c734015" /><Relationship Type="http://schemas.openxmlformats.org/officeDocument/2006/relationships/notesMaster" Target="/ppt/notesMasters/notesMaster1.xml" Id="R67e8c893412f4b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806d099c0944c3" /><Relationship Type="http://schemas.openxmlformats.org/officeDocument/2006/relationships/notesMaster" Target="/ppt/notesMasters/notesMaster1.xml" Id="R044b6f44be7e48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eefbaf1fbd4a77" /><Relationship Type="http://schemas.openxmlformats.org/officeDocument/2006/relationships/notesMaster" Target="/ppt/notesMasters/notesMaster1.xml" Id="Re6daca71fe4145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c30e4d8a3a4acf" /><Relationship Type="http://schemas.openxmlformats.org/officeDocument/2006/relationships/notesMaster" Target="/ppt/notesMasters/notesMaster1.xml" Id="R0a14cdfafc554b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ff0fb4edae47ac" /><Relationship Type="http://schemas.openxmlformats.org/officeDocument/2006/relationships/notesMaster" Target="/ppt/notesMasters/notesMaster1.xml" Id="Reafac14f0d0a42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48928640784914" /><Relationship Type="http://schemas.openxmlformats.org/officeDocument/2006/relationships/notesMaster" Target="/ppt/notesMasters/notesMaster1.xml" Id="R544e97db1aa34720" /></Relationships>
</file>

<file path=ppt/notesSlides/_rels/notesSlide9.xml.rels>&#65279;<?xml version="1.0" encoding="utf-8"?><Relationships xmlns="http://schemas.openxmlformats.org/package/2006/relationships"><Relationship Type="http://schemas.openxmlformats.org/officeDocument/2006/relationships/slide" Target="/ppt/slides/slide9.xml" Id="R20650fd313d041a2" /><Relationship Type="http://schemas.openxmlformats.org/officeDocument/2006/relationships/notesMaster" Target="/ppt/notesMasters/notesMaster1.xml" Id="Rdaf6b5d983c3478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8fc4608608642af" /><Relationship Type="http://schemas.openxmlformats.org/officeDocument/2006/relationships/notesMaster" Target="/ppt/notesMasters/notesMaster1.xml" Id="R54c2447fc036412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7c679dd65484657" /><Relationship Type="http://schemas.openxmlformats.org/officeDocument/2006/relationships/notesMaster" Target="/ppt/notesMasters/notesMaster1.xml" Id="R9d7e11a27bcb46e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8da742e9bb848ed" /><Relationship Type="http://schemas.openxmlformats.org/officeDocument/2006/relationships/notesMaster" Target="/ppt/notesMasters/notesMaster1.xml" Id="R4454b7989233460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aa0fb0129eb48c7" /><Relationship Type="http://schemas.openxmlformats.org/officeDocument/2006/relationships/notesMaster" Target="/ppt/notesMasters/notesMaster1.xml" Id="R689b92a39fc748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selección simple ejecuta un bloque solo cuando se cumple una condición. Una alternativa completa define qué hacer también cuando no se cumple. La condición se evalúa antes del bloque. Escribir la regla en palabras y probar valores a ambos lados del umbral, incluido el propio umbral. No confundir “mayor que” con “mayor o igual que”.</a:t>
            </a:r>
          </a:p>
          <a:p xmlns:a="http://schemas.openxmlformats.org/drawingml/2006/main">
            <a:r>
              <a:t/>
            </a:r>
          </a:p>
          <a:p xmlns:a="http://schemas.openxmlformats.org/drawingml/2006/main">
            <a:r>
              <a:t>Usar if y else con dos puntos y sangría. else es opcional: una selección simple puede omitirlo. El texto fuera del bloque se ejecuta después de la selección si no hubo interrupción.</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clasificación mutuamente excluyente requiere una cadena que detenga la búsqueda al encontrar la primera condición verdadera. Varios if independientes pueden ejecutar más de una rama. Ordenar umbrales de forma coherente. Definir intervalos sin huecos ni solapamientos y establecer qué hacer con valores fuera del dominio antes de clasificarlos.</a:t>
            </a:r>
          </a:p>
          <a:p xmlns:a="http://schemas.openxmlformats.org/drawingml/2006/main">
            <a:r>
              <a:t/>
            </a:r>
          </a:p>
          <a:p xmlns:a="http://schemas.openxmlformats.org/drawingml/2006/main">
            <a:r>
              <a:t>Usar if, elif y else. Para una escala de 0 a 10, validar el rango y luego comprobar umbrales descendentes. Escribir 0 &lt;= nota &lt;= 10 es válido y expresa una comparación encadenada.</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Combinar condiciones con conjunción, disyunción y negación permite expresar reglas de elegibilidad. El cortocircuito omite la evaluación derecha cuando la izquierda ya decide el resultado. Esto permite proteger una operación, pero el orden debe ser intencional. Aplicar De Morgan al negar rangos completos y no solo a una parte.</a:t>
            </a:r>
          </a:p>
          <a:p xmlns:a="http://schemas.openxmlformats.org/drawingml/2006/main">
            <a:r>
              <a:t/>
            </a:r>
          </a:p>
          <a:p xmlns:a="http://schemas.openxmlformats.org/drawingml/2006/main">
            <a:r>
              <a:t>Usar divisor != 0 and dividendo / divisor &gt; 2 para proteger la división. Preferir condiciones sin efectos secundarios. Escribir x == 1 or x == 2; x == 1 or 2 no significa comparar x con ambos valores.</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validación de dominio revisa valores ya convertidos; la validación de formato detecta texto que no se puede convertir. Son controles distintos. Una excepción no debe ocultarse como si el dato fuera válido. Capturar el error esperado, producir un mensaje concreto y mantener el contrato. Comprobar todas las ramas y las fronteras de cada intervalo.</a:t>
            </a:r>
          </a:p>
          <a:p xmlns:a="http://schemas.openxmlformats.org/drawingml/2006/main">
            <a:r>
              <a:t/>
            </a:r>
          </a:p>
          <a:p xmlns:a="http://schemas.openxmlformats.org/drawingml/2006/main">
            <a:r>
              <a:t>Introducir try/except ValueError para convertir una entrada. Mantener el bloque protegido pequeño. No usar except sin tipo para esconder fallos de lógica. La repetición de la solicitud se incorporará con while.</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 en python/ejemplos/demo.py. Clasificar una medición como inválida, baja, adecuada o alta. El orden de las decisiones determina si los límites se interpretan correctamente y si una medición obtiene una sola categoría.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0d87ba1d9640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6676098163435d" /><Relationship Type="http://schemas.openxmlformats.org/officeDocument/2006/relationships/slideLayout" Target="/ppt/slideLayouts/slideLayout1.xml" Id="R863243290c6b48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3243290c6b48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36750a2b4d34a16" /><Relationship Type="http://schemas.openxmlformats.org/officeDocument/2006/relationships/image" Target="/ppt/media/image.png" Id="R4410c6a4128d4133" /><Relationship Type="http://schemas.openxmlformats.org/officeDocument/2006/relationships/notesSlide" Target="/ppt/notesSlides/notesSlide1.xml" Id="R53dcaf2b05e047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d760f094ae74eb8" /><Relationship Type="http://schemas.openxmlformats.org/officeDocument/2006/relationships/notesSlide" Target="/ppt/notesSlides/notesSlide2.xml" Id="Ra95ac20ffa9c42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ccc5f814c24d19" /><Relationship Type="http://schemas.openxmlformats.org/officeDocument/2006/relationships/notesSlide" Target="/ppt/notesSlides/notesSlide3.xml" Id="Rda4276fe8fd74a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840c540d0624808" /><Relationship Type="http://schemas.openxmlformats.org/officeDocument/2006/relationships/notesSlide" Target="/ppt/notesSlides/notesSlide4.xml" Id="Rab58ff7e871a45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019681c87854ade" /><Relationship Type="http://schemas.openxmlformats.org/officeDocument/2006/relationships/notesSlide" Target="/ppt/notesSlides/notesSlide5.xml" Id="R38e67e961f314f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eb53ca050d24a2f" /><Relationship Type="http://schemas.openxmlformats.org/officeDocument/2006/relationships/notesSlide" Target="/ppt/notesSlides/notesSlide6.xml" Id="R23a20c138a9d4d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2353b04bb97440d" /><Relationship Type="http://schemas.openxmlformats.org/officeDocument/2006/relationships/notesSlide" Target="/ppt/notesSlides/notesSlide7.xml" Id="R21ed7c8e992d44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63155a88bd14935" /><Relationship Type="http://schemas.openxmlformats.org/officeDocument/2006/relationships/notesSlide" Target="/ppt/notesSlides/notesSlide8.xml" Id="Rbfa2f1310c2a45b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531fed387c74533" /><Relationship Type="http://schemas.openxmlformats.org/officeDocument/2006/relationships/notesSlide" Target="/ppt/notesSlides/notesSlide9.xml" Id="R2bb7fe748932406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f27d5143c1d4e6c" /><Relationship Type="http://schemas.openxmlformats.org/officeDocument/2006/relationships/notesSlide" Target="/ppt/notesSlides/notesSlide10.xml" Id="Re155fc553b814ab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0191b19c5e94f72" /><Relationship Type="http://schemas.openxmlformats.org/officeDocument/2006/relationships/notesSlide" Target="/ppt/notesSlides/notesSlide11.xml" Id="Rd536ad08478d4aa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9ef814bfe8d4cac" /><Relationship Type="http://schemas.openxmlformats.org/officeDocument/2006/relationships/notesSlide" Target="/ppt/notesSlides/notesSlide12.xml" Id="R28cc4c1d22a44a9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a51f05594254e6a" /><Relationship Type="http://schemas.openxmlformats.org/officeDocument/2006/relationships/notesSlide" Target="/ppt/notesSlides/notesSlide13.xml" Id="R446f743f09a74e0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410c6a4128d4133"/>
          <a:stretch xmlns:a="http://schemas.openxmlformats.org/drawingml/2006/main"/>
        </p:blipFill>
        <p:spPr>
          <a:xfrm xmlns:a="http://schemas.openxmlformats.org/drawingml/2006/main">
            <a:off x="609600" y="452158"/>
            <a:ext cx="7239000" cy="119118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3FD4DF9-324F-4931-8B6B-83ED1A9D51DD}"/>
              </a:ext>
            </a:extLst>
          </p:cNvPr>
          <p:cNvSpPr>
            <a:spLocks xmlns:a="http://schemas.openxmlformats.org/drawingml/2006/main" noGrp="1"/>
          </p:cNvSpPr>
          <p:nvPr/>
        </p:nvSpPr>
        <p:spPr>
          <a:xfrm xmlns:a="http://schemas.openxmlformats.org/drawingml/2006/main">
            <a:off x="695325" y="21907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75" b="1">
                <a:solidFill>
                  <a:srgbClr val="003772"/>
                </a:solidFill>
                <a:latin typeface="DejaVu Sans"/>
                <a:ea typeface="DejaVu Sans"/>
                <a:cs typeface="DejaVu Sans"/>
              </a:defRPr>
            </a:pPr>
            <a:r>
              <a:rPr sz="3375" b="1">
                <a:solidFill>
                  <a:srgbClr val="003772"/>
                </a:solidFill>
                <a:latin typeface="DejaVu Sans"/>
                <a:ea typeface="DejaVu Sans"/>
                <a:cs typeface="DejaVu Sans"/>
              </a:rPr>
              <a:t>Programación</a:t>
            </a:r>
          </a:p>
        </p:txBody>
      </p:sp>
      <p:sp>
        <p:nvSpPr>
          <p:cNvPr id="3" name="">
            <a:extLst xmlns:a="http://schemas.openxmlformats.org/drawingml/2006/main">
              <a:ext uri="{FF2B5EF4-FFF2-40B4-BE49-F238E27FC236}">
                <a16:creationId xmlns:a16="http://schemas.microsoft.com/office/drawing/2014/main" id="{03C9295D-4BC1-4157-BA18-F2A606F8A370}"/>
              </a:ext>
            </a:extLst>
          </p:cNvPr>
          <p:cNvSpPr>
            <a:spLocks xmlns:a="http://schemas.openxmlformats.org/drawingml/2006/main" noGrp="1"/>
          </p:cNvSpPr>
          <p:nvPr/>
        </p:nvSpPr>
        <p:spPr>
          <a:xfrm xmlns:a="http://schemas.openxmlformats.org/drawingml/2006/main">
            <a:off x="695325" y="3190875"/>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003772"/>
                </a:solidFill>
                <a:latin typeface="DejaVu Sans"/>
                <a:ea typeface="DejaVu Sans"/>
                <a:cs typeface="DejaVu Sans"/>
              </a:defRPr>
            </a:pPr>
            <a:r>
              <a:rPr sz="3225" b="1">
                <a:solidFill>
                  <a:srgbClr val="003772"/>
                </a:solidFill>
                <a:latin typeface="DejaVu Sans"/>
                <a:ea typeface="DejaVu Sans"/>
                <a:cs typeface="DejaVu Sans"/>
              </a:rPr>
              <a:t>Decisiones y operadores lógicos</a:t>
            </a:r>
          </a:p>
        </p:txBody>
      </p:sp>
      <p:sp>
        <p:nvSpPr>
          <p:cNvPr id="4" name="">
            <a:extLst xmlns:a="http://schemas.openxmlformats.org/drawingml/2006/main">
              <a:ext uri="{FF2B5EF4-FFF2-40B4-BE49-F238E27FC236}">
                <a16:creationId xmlns:a16="http://schemas.microsoft.com/office/drawing/2014/main" id="{FB126484-55E5-417A-9D9A-5333C18E337C}"/>
              </a:ext>
            </a:extLst>
          </p:cNvPr>
          <p:cNvSpPr>
            <a:spLocks xmlns:a="http://schemas.openxmlformats.org/drawingml/2006/main" noGrp="1"/>
          </p:cNvSpPr>
          <p:nvPr/>
        </p:nvSpPr>
        <p:spPr>
          <a:xfrm xmlns:a="http://schemas.openxmlformats.org/drawingml/2006/main">
            <a:off x="609600" y="5000625"/>
            <a:ext cx="1390650"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D3C94CA-9E39-4FCB-BDAA-D7EE813E80C4}"/>
              </a:ext>
            </a:extLst>
          </p:cNvPr>
          <p:cNvSpPr>
            <a:spLocks xmlns:a="http://schemas.openxmlformats.org/drawingml/2006/main" noGrp="1"/>
          </p:cNvSpPr>
          <p:nvPr/>
        </p:nvSpPr>
        <p:spPr>
          <a:xfrm xmlns:a="http://schemas.openxmlformats.org/drawingml/2006/main">
            <a:off x="695325" y="53816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003772"/>
                </a:solidFill>
                <a:latin typeface="DejaVu Sans"/>
                <a:ea typeface="DejaVu Sans"/>
                <a:cs typeface="DejaVu Sans"/>
              </a:defRPr>
            </a:pPr>
            <a:r>
              <a:rPr sz="1800" b="0">
                <a:solidFill>
                  <a:srgbClr val="003772"/>
                </a:solidFill>
                <a:latin typeface="DejaVu Sans"/>
                <a:ea typeface="DejaVu Sans"/>
                <a:cs typeface="DejaVu Sans"/>
              </a:rPr>
              <a:t>Unidad 3 · 3.03 · Python</a:t>
            </a:r>
          </a:p>
        </p:txBody>
      </p:sp>
      <p:sp>
        <p:nvSpPr>
          <p:cNvPr id="6" name="">
            <a:extLst xmlns:a="http://schemas.openxmlformats.org/drawingml/2006/main">
              <a:ext uri="{FF2B5EF4-FFF2-40B4-BE49-F238E27FC236}">
                <a16:creationId xmlns:a16="http://schemas.microsoft.com/office/drawing/2014/main" id="{79D94AAF-5CA5-4842-AED6-3CFA8F68436E}"/>
              </a:ext>
            </a:extLst>
          </p:cNvPr>
          <p:cNvSpPr>
            <a:spLocks xmlns:a="http://schemas.openxmlformats.org/drawingml/2006/main" noGrp="1"/>
          </p:cNvSpPr>
          <p:nvPr/>
        </p:nvSpPr>
        <p:spPr>
          <a:xfrm xmlns:a="http://schemas.openxmlformats.org/drawingml/2006/main">
            <a:off x="695325" y="60293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C5B5F"/>
                </a:solidFill>
                <a:latin typeface="DejaVu Sans"/>
                <a:ea typeface="DejaVu Sans"/>
                <a:cs typeface="DejaVu Sans"/>
              </a:defRPr>
            </a:pPr>
            <a:r>
              <a:rPr sz="1650"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1558553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FFE8E5C-390E-4AD0-BAF9-D9D5D0590CEF}"/>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FE13AA-872C-41C9-BF4F-1EFBB29F1DAC}"/>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Problema inicial</a:t>
            </a:r>
          </a:p>
        </p:txBody>
      </p:sp>
      <p:sp>
        <p:nvSpPr>
          <p:cNvPr id="3" name="">
            <a:extLst xmlns:a="http://schemas.openxmlformats.org/drawingml/2006/main">
              <a:ext uri="{FF2B5EF4-FFF2-40B4-BE49-F238E27FC236}">
                <a16:creationId xmlns:a16="http://schemas.microsoft.com/office/drawing/2014/main" id="{D9F654DD-CCC8-4A0E-A3B0-83BF204F2EF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58CFCE1-E700-43E7-98A4-834EBD998BBC}"/>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3.03</a:t>
            </a:r>
          </a:p>
        </p:txBody>
      </p:sp>
      <p:sp>
        <p:nvSpPr>
          <p:cNvPr id="5" name="">
            <a:extLst xmlns:a="http://schemas.openxmlformats.org/drawingml/2006/main">
              <a:ext uri="{FF2B5EF4-FFF2-40B4-BE49-F238E27FC236}">
                <a16:creationId xmlns:a16="http://schemas.microsoft.com/office/drawing/2014/main" id="{58ED710C-FC92-4B75-B526-BD60FE33A415}"/>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363CB510-A570-4EA9-AA81-DFBBEB3D74D2}"/>
              </a:ext>
            </a:extLst>
          </p:cNvPr>
          <p:cNvSpPr>
            <a:spLocks xmlns:a="http://schemas.openxmlformats.org/drawingml/2006/main" noGrp="1"/>
          </p:cNvSpPr>
          <p:nvPr/>
        </p:nvSpPr>
        <p:spPr>
          <a:xfrm xmlns:a="http://schemas.openxmlformats.org/drawingml/2006/main">
            <a:off x="819150" y="1714500"/>
            <a:ext cx="10477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403F3B"/>
                </a:solidFill>
                <a:latin typeface="DejaVu Sans"/>
                <a:ea typeface="DejaVu Sans"/>
                <a:cs typeface="DejaVu Sans"/>
              </a:defRPr>
            </a:pPr>
            <a:r>
              <a:rPr sz="2475" b="0">
                <a:solidFill>
                  <a:srgbClr val="403F3B"/>
                </a:solidFill>
                <a:latin typeface="DejaVu Sans"/>
                <a:ea typeface="DejaVu Sans"/>
                <a:cs typeface="DejaVu Sans"/>
              </a:rPr>
              <a:t>Clasificar una medición como inválida, baja, adecuada o alta. El orden de las decisiones determina si los límites se interpretan correctamente y si una medición obtiene una sola categoría.</a:t>
            </a:r>
          </a:p>
        </p:txBody>
      </p:sp>
      <p:sp>
        <p:nvSpPr>
          <p:cNvPr id="7" name="">
            <a:extLst xmlns:a="http://schemas.openxmlformats.org/drawingml/2006/main">
              <a:ext uri="{FF2B5EF4-FFF2-40B4-BE49-F238E27FC236}">
                <a16:creationId xmlns:a16="http://schemas.microsoft.com/office/drawing/2014/main" id="{0189E6A3-9058-4918-B7B4-B131895183E9}"/>
              </a:ext>
            </a:extLst>
          </p:cNvPr>
          <p:cNvSpPr>
            <a:spLocks xmlns:a="http://schemas.openxmlformats.org/drawingml/2006/main" noGrp="1"/>
          </p:cNvSpPr>
          <p:nvPr/>
        </p:nvSpPr>
        <p:spPr>
          <a:xfrm xmlns:a="http://schemas.openxmlformats.org/drawingml/2006/main">
            <a:off x="819150" y="47625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3772"/>
                </a:solidFill>
                <a:latin typeface="DejaVu Sans"/>
                <a:ea typeface="DejaVu Sans"/>
                <a:cs typeface="DejaVu Sans"/>
              </a:defRPr>
            </a:pPr>
            <a:r>
              <a:rPr sz="2100" b="1">
                <a:solidFill>
                  <a:srgbClr val="003772"/>
                </a:solidFill>
                <a:latin typeface="DejaVu Sans"/>
                <a:ea typeface="DejaVu Sans"/>
                <a:cs typeface="DejaVu Sans"/>
              </a:rPr>
              <a:t>Anticipar entradas, reglas y salida antes de ejecutar.</a:t>
            </a:r>
          </a:p>
        </p:txBody>
      </p:sp>
    </p:spTree>
    <p:extLst>
      <p:ext uri="{BB962C8B-B14F-4D97-AF65-F5344CB8AC3E}">
        <p14:creationId xmlns:p14="http://schemas.microsoft.com/office/powerpoint/2010/main" val="33839621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56394B5-6980-4FC0-A546-12BBD25F3A9B}"/>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43BFDB-45A0-4CB8-BC54-2A478D200E1B}"/>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Selección simple y alternativa</a:t>
            </a:r>
          </a:p>
        </p:txBody>
      </p:sp>
      <p:sp>
        <p:nvSpPr>
          <p:cNvPr id="3" name="">
            <a:extLst xmlns:a="http://schemas.openxmlformats.org/drawingml/2006/main">
              <a:ext uri="{FF2B5EF4-FFF2-40B4-BE49-F238E27FC236}">
                <a16:creationId xmlns:a16="http://schemas.microsoft.com/office/drawing/2014/main" id="{187614CE-54E2-4964-8D7A-2EE6943A072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50E6CB8-6830-45CC-961F-3AFF3A84943D}"/>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3.03</a:t>
            </a:r>
          </a:p>
        </p:txBody>
      </p:sp>
      <p:sp>
        <p:nvSpPr>
          <p:cNvPr id="5" name="">
            <a:extLst xmlns:a="http://schemas.openxmlformats.org/drawingml/2006/main">
              <a:ext uri="{FF2B5EF4-FFF2-40B4-BE49-F238E27FC236}">
                <a16:creationId xmlns:a16="http://schemas.microsoft.com/office/drawing/2014/main" id="{C1290C67-3D09-48D0-B38F-518EAA91829C}"/>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1875C5BC-B331-4ACA-9B10-781274B1E38A}"/>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Una selección simple ejecuta un bloque solo cuando se cumple una condición. Una alternativa completa define qué hacer también cuando no se cumple.</a:t>
            </a:r>
          </a:p>
        </p:txBody>
      </p:sp>
      <p:sp>
        <p:nvSpPr>
          <p:cNvPr id="7" name="">
            <a:extLst xmlns:a="http://schemas.openxmlformats.org/drawingml/2006/main">
              <a:ext uri="{FF2B5EF4-FFF2-40B4-BE49-F238E27FC236}">
                <a16:creationId xmlns:a16="http://schemas.microsoft.com/office/drawing/2014/main" id="{48709987-5CC9-47C7-ACB9-5459CB86C21E}"/>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edad = 18</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if edad &gt;= 18:</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print("Mayor de edad")</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else:</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print("Menor de edad")</a:t>
            </a:r>
          </a:p>
        </p:txBody>
      </p:sp>
      <p:sp>
        <p:nvSpPr>
          <p:cNvPr id="8" name="">
            <a:extLst xmlns:a="http://schemas.openxmlformats.org/drawingml/2006/main">
              <a:ext uri="{FF2B5EF4-FFF2-40B4-BE49-F238E27FC236}">
                <a16:creationId xmlns:a16="http://schemas.microsoft.com/office/drawing/2014/main" id="{6BC29747-1387-4325-8765-CABA0FA7A6BB}"/>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Usar if y else con dos puntos y sangría.</a:t>
            </a:r>
          </a:p>
        </p:txBody>
      </p:sp>
    </p:spTree>
    <p:extLst>
      <p:ext uri="{BB962C8B-B14F-4D97-AF65-F5344CB8AC3E}">
        <p14:creationId xmlns:p14="http://schemas.microsoft.com/office/powerpoint/2010/main" val="142295643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37E621-78A5-4978-9A06-1D3E769E179B}"/>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F77E04-9AA4-4958-9DE9-AB108171D198}"/>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Cadena de condiciones y cobertura</a:t>
            </a:r>
          </a:p>
        </p:txBody>
      </p:sp>
      <p:sp>
        <p:nvSpPr>
          <p:cNvPr id="3" name="">
            <a:extLst xmlns:a="http://schemas.openxmlformats.org/drawingml/2006/main">
              <a:ext uri="{FF2B5EF4-FFF2-40B4-BE49-F238E27FC236}">
                <a16:creationId xmlns:a16="http://schemas.microsoft.com/office/drawing/2014/main" id="{78482068-78E7-4D43-9DE9-841BD4ADEC7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864D3F9-3A38-4B40-A2DB-4B592EFFE63F}"/>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3.03</a:t>
            </a:r>
          </a:p>
        </p:txBody>
      </p:sp>
      <p:sp>
        <p:nvSpPr>
          <p:cNvPr id="5" name="">
            <a:extLst xmlns:a="http://schemas.openxmlformats.org/drawingml/2006/main">
              <a:ext uri="{FF2B5EF4-FFF2-40B4-BE49-F238E27FC236}">
                <a16:creationId xmlns:a16="http://schemas.microsoft.com/office/drawing/2014/main" id="{B1F7C8A6-F562-4B6B-83A2-CC58EA3B143B}"/>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815D9CE8-AE43-40EF-8D22-9A99A09E1C97}"/>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Una clasificación mutuamente excluyente requiere una cadena que detenga la búsqueda al encontrar la primera condición verdadera. Varios if independientes pueden ejecutar más de una rama.</a:t>
            </a:r>
          </a:p>
        </p:txBody>
      </p:sp>
      <p:sp>
        <p:nvSpPr>
          <p:cNvPr id="7" name="">
            <a:extLst xmlns:a="http://schemas.openxmlformats.org/drawingml/2006/main">
              <a:ext uri="{FF2B5EF4-FFF2-40B4-BE49-F238E27FC236}">
                <a16:creationId xmlns:a16="http://schemas.microsoft.com/office/drawing/2014/main" id="{D98B893C-6BF3-40CB-BBFB-BF48E478F3EB}"/>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nota = 8</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if nota &gt;= 9:</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print("Excelente")</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elif nota &gt;= 7:</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print("Aprobado")</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else:</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print("Refuerzo")</a:t>
            </a:r>
          </a:p>
        </p:txBody>
      </p:sp>
      <p:sp>
        <p:nvSpPr>
          <p:cNvPr id="8" name="">
            <a:extLst xmlns:a="http://schemas.openxmlformats.org/drawingml/2006/main">
              <a:ext uri="{FF2B5EF4-FFF2-40B4-BE49-F238E27FC236}">
                <a16:creationId xmlns:a16="http://schemas.microsoft.com/office/drawing/2014/main" id="{24EC7B58-8B75-4889-AE18-B18D4AC58830}"/>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Usar if, elif y else.</a:t>
            </a:r>
          </a:p>
        </p:txBody>
      </p:sp>
    </p:spTree>
    <p:extLst>
      <p:ext uri="{BB962C8B-B14F-4D97-AF65-F5344CB8AC3E}">
        <p14:creationId xmlns:p14="http://schemas.microsoft.com/office/powerpoint/2010/main" val="6106651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E8BF4EB-CB10-47DD-94C8-651437478DEF}"/>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8BFE53-F5E2-4FE6-B997-2DBFEF5C841C}"/>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Condiciones compuestas y cortocircuito</a:t>
            </a:r>
          </a:p>
        </p:txBody>
      </p:sp>
      <p:sp>
        <p:nvSpPr>
          <p:cNvPr id="3" name="">
            <a:extLst xmlns:a="http://schemas.openxmlformats.org/drawingml/2006/main">
              <a:ext uri="{FF2B5EF4-FFF2-40B4-BE49-F238E27FC236}">
                <a16:creationId xmlns:a16="http://schemas.microsoft.com/office/drawing/2014/main" id="{CF8D703F-67F8-4334-BE7D-E2954B7B9B6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45803B4-345E-420A-AB3C-57A80F875051}"/>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3.03</a:t>
            </a:r>
          </a:p>
        </p:txBody>
      </p:sp>
      <p:sp>
        <p:nvSpPr>
          <p:cNvPr id="5" name="">
            <a:extLst xmlns:a="http://schemas.openxmlformats.org/drawingml/2006/main">
              <a:ext uri="{FF2B5EF4-FFF2-40B4-BE49-F238E27FC236}">
                <a16:creationId xmlns:a16="http://schemas.microsoft.com/office/drawing/2014/main" id="{9C9D5620-9743-4A69-A1AE-8992024BCFC8}"/>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EFC9DFFE-1B6F-4EBD-B27E-5602C7EA1F94}"/>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Combinar condiciones con conjunción, disyunción y negación permite expresar reglas de elegibilidad. El cortocircuito omite la evaluación derecha cuando la izquierda ya decide el resultado.</a:t>
            </a:r>
          </a:p>
        </p:txBody>
      </p:sp>
      <p:sp>
        <p:nvSpPr>
          <p:cNvPr id="7" name="">
            <a:extLst xmlns:a="http://schemas.openxmlformats.org/drawingml/2006/main">
              <a:ext uri="{FF2B5EF4-FFF2-40B4-BE49-F238E27FC236}">
                <a16:creationId xmlns:a16="http://schemas.microsoft.com/office/drawing/2014/main" id="{A644A357-B212-40F9-B81D-7CB07B731EC8}"/>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68" b="0">
                <a:solidFill>
                  <a:srgbClr val="403F3B"/>
                </a:solidFill>
                <a:latin typeface="DejaVu Sans"/>
                <a:ea typeface="DejaVu Sans"/>
                <a:cs typeface="DejaVu Sans"/>
              </a:defRPr>
            </a:pPr>
            <a:r>
              <a:rPr sz="1568" b="0">
                <a:solidFill>
                  <a:srgbClr val="403F3B"/>
                </a:solidFill>
                <a:latin typeface="DejaVu Sans"/>
                <a:ea typeface="DejaVu Sans"/>
                <a:cs typeface="DejaVu Sans"/>
              </a:rPr>
              <a:t>divisor = 0</a:t>
            </a:r>
          </a:p>
          <a:p xmlns:a="http://schemas.openxmlformats.org/drawingml/2006/main">
            <a:pPr>
              <a:defRPr sz="1568" b="0">
                <a:solidFill>
                  <a:srgbClr val="403F3B"/>
                </a:solidFill>
                <a:latin typeface="DejaVu Sans"/>
                <a:ea typeface="DejaVu Sans"/>
                <a:cs typeface="DejaVu Sans"/>
              </a:defRPr>
            </a:pPr>
            <a:r>
              <a:rPr sz="1568" b="0">
                <a:solidFill>
                  <a:srgbClr val="403F3B"/>
                </a:solidFill>
                <a:latin typeface="DejaVu Sans"/>
                <a:ea typeface="DejaVu Sans"/>
                <a:cs typeface="DejaVu Sans"/>
              </a:rPr>
              <a:t>print(divisor != 0 and 10 / divisor &gt; 2)</a:t>
            </a:r>
          </a:p>
        </p:txBody>
      </p:sp>
      <p:sp>
        <p:nvSpPr>
          <p:cNvPr id="8" name="">
            <a:extLst xmlns:a="http://schemas.openxmlformats.org/drawingml/2006/main">
              <a:ext uri="{FF2B5EF4-FFF2-40B4-BE49-F238E27FC236}">
                <a16:creationId xmlns:a16="http://schemas.microsoft.com/office/drawing/2014/main" id="{7DDE77A0-5938-463F-A9CF-BA569AF25942}"/>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Usar divisor != 0 and dividendo / divisor &gt; 2 para proteger la división.</a:t>
            </a:r>
          </a:p>
        </p:txBody>
      </p:sp>
    </p:spTree>
    <p:extLst>
      <p:ext uri="{BB962C8B-B14F-4D97-AF65-F5344CB8AC3E}">
        <p14:creationId xmlns:p14="http://schemas.microsoft.com/office/powerpoint/2010/main" val="15989743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3C55C9-1269-47B4-BACC-B4C48F190E45}"/>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DD303D-C481-4E92-94E1-9DA021E6E8BE}"/>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Validación y errores de conversión</a:t>
            </a:r>
          </a:p>
        </p:txBody>
      </p:sp>
      <p:sp>
        <p:nvSpPr>
          <p:cNvPr id="3" name="">
            <a:extLst xmlns:a="http://schemas.openxmlformats.org/drawingml/2006/main">
              <a:ext uri="{FF2B5EF4-FFF2-40B4-BE49-F238E27FC236}">
                <a16:creationId xmlns:a16="http://schemas.microsoft.com/office/drawing/2014/main" id="{BF63C4AF-BC12-4D63-8384-581A2675C4A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E576752-3F08-4336-831F-FE521F296775}"/>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3.03</a:t>
            </a:r>
          </a:p>
        </p:txBody>
      </p:sp>
      <p:sp>
        <p:nvSpPr>
          <p:cNvPr id="5" name="">
            <a:extLst xmlns:a="http://schemas.openxmlformats.org/drawingml/2006/main">
              <a:ext uri="{FF2B5EF4-FFF2-40B4-BE49-F238E27FC236}">
                <a16:creationId xmlns:a16="http://schemas.microsoft.com/office/drawing/2014/main" id="{634C0162-4238-40DF-BDE1-A5A88F363B7E}"/>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691DB345-0B55-4824-B900-F0E0F75092FD}"/>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La validación de dominio revisa valores ya convertidos; la validación de formato detecta texto que no se puede convertir. Son controles distintos.</a:t>
            </a:r>
          </a:p>
        </p:txBody>
      </p:sp>
      <p:sp>
        <p:nvSpPr>
          <p:cNvPr id="7" name="">
            <a:extLst xmlns:a="http://schemas.openxmlformats.org/drawingml/2006/main">
              <a:ext uri="{FF2B5EF4-FFF2-40B4-BE49-F238E27FC236}">
                <a16:creationId xmlns:a16="http://schemas.microsoft.com/office/drawing/2014/main" id="{F3D26595-6418-4E23-94B8-1CE439988212}"/>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try:</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numero = int("abc")</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except ValueError:</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print("Ingresar un entero")</a:t>
            </a:r>
          </a:p>
        </p:txBody>
      </p:sp>
      <p:sp>
        <p:nvSpPr>
          <p:cNvPr id="8" name="">
            <a:extLst xmlns:a="http://schemas.openxmlformats.org/drawingml/2006/main">
              <a:ext uri="{FF2B5EF4-FFF2-40B4-BE49-F238E27FC236}">
                <a16:creationId xmlns:a16="http://schemas.microsoft.com/office/drawing/2014/main" id="{EE225AAF-7C43-4349-A418-1BAC9250D04D}"/>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Introducir try/except ValueError para convertir una entrada.</a:t>
            </a:r>
          </a:p>
        </p:txBody>
      </p:sp>
    </p:spTree>
    <p:extLst>
      <p:ext uri="{BB962C8B-B14F-4D97-AF65-F5344CB8AC3E}">
        <p14:creationId xmlns:p14="http://schemas.microsoft.com/office/powerpoint/2010/main" val="180920604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EDC6948-DA43-4F9D-9912-025B6B4319DD}"/>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D537CD-A90B-416C-A5E9-3933F4586FA7}"/>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Contrato y recorrido de la demostración</a:t>
            </a:r>
          </a:p>
        </p:txBody>
      </p:sp>
      <p:sp>
        <p:nvSpPr>
          <p:cNvPr id="3" name="">
            <a:extLst xmlns:a="http://schemas.openxmlformats.org/drawingml/2006/main">
              <a:ext uri="{FF2B5EF4-FFF2-40B4-BE49-F238E27FC236}">
                <a16:creationId xmlns:a16="http://schemas.microsoft.com/office/drawing/2014/main" id="{A696C036-F7CB-4DF0-85C5-D59C1465B10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5415229-DB6F-4D4D-B2C1-ECB230BE86C9}"/>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3.03</a:t>
            </a:r>
          </a:p>
        </p:txBody>
      </p:sp>
      <p:sp>
        <p:nvSpPr>
          <p:cNvPr id="5" name="">
            <a:extLst xmlns:a="http://schemas.openxmlformats.org/drawingml/2006/main">
              <a:ext uri="{FF2B5EF4-FFF2-40B4-BE49-F238E27FC236}">
                <a16:creationId xmlns:a16="http://schemas.microsoft.com/office/drawing/2014/main" id="{DE3F25B8-B457-45F0-B23C-BE779F4699F1}"/>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9399CD09-3684-4383-8509-21D7DE668CC4}"/>
              </a:ext>
            </a:extLst>
          </p:cNvPr>
          <p:cNvSpPr>
            <a:spLocks xmlns:a="http://schemas.openxmlformats.org/drawingml/2006/main" noGrp="1"/>
          </p:cNvSpPr>
          <p:nvPr/>
        </p:nvSpPr>
        <p:spPr>
          <a:xfrm xmlns:a="http://schemas.openxmlformats.org/drawingml/2006/main">
            <a:off x="809625"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8F946E1-6C66-4C3C-A1FE-B9C0E90ADD83}"/>
              </a:ext>
            </a:extLst>
          </p:cNvPr>
          <p:cNvSpPr>
            <a:spLocks xmlns:a="http://schemas.openxmlformats.org/drawingml/2006/main" noGrp="1"/>
          </p:cNvSpPr>
          <p:nvPr/>
        </p:nvSpPr>
        <p:spPr>
          <a:xfrm xmlns:a="http://schemas.openxmlformats.org/drawingml/2006/main">
            <a:off x="1000125"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ENTRADA</a:t>
            </a:r>
          </a:p>
        </p:txBody>
      </p:sp>
      <p:sp>
        <p:nvSpPr>
          <p:cNvPr id="8" name="">
            <a:extLst xmlns:a="http://schemas.openxmlformats.org/drawingml/2006/main">
              <a:ext uri="{FF2B5EF4-FFF2-40B4-BE49-F238E27FC236}">
                <a16:creationId xmlns:a16="http://schemas.microsoft.com/office/drawing/2014/main" id="{8AC42426-F7C8-44C7-B1BF-D9BE0E1C538B}"/>
              </a:ext>
            </a:extLst>
          </p:cNvPr>
          <p:cNvSpPr>
            <a:spLocks xmlns:a="http://schemas.openxmlformats.org/drawingml/2006/main" noGrp="1"/>
          </p:cNvSpPr>
          <p:nvPr/>
        </p:nvSpPr>
        <p:spPr>
          <a:xfrm xmlns:a="http://schemas.openxmlformats.org/drawingml/2006/main">
            <a:off x="1000125"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Datos definidos en el ejemplo</a:t>
            </a:r>
          </a:p>
        </p:txBody>
      </p:sp>
      <p:sp>
        <p:nvSpPr>
          <p:cNvPr id="9" name="">
            <a:extLst xmlns:a="http://schemas.openxmlformats.org/drawingml/2006/main">
              <a:ext uri="{FF2B5EF4-FFF2-40B4-BE49-F238E27FC236}">
                <a16:creationId xmlns:a16="http://schemas.microsoft.com/office/drawing/2014/main" id="{2FABE948-38C4-44C6-9139-042B9AC6A2FD}"/>
              </a:ext>
            </a:extLst>
          </p:cNvPr>
          <p:cNvSpPr>
            <a:spLocks xmlns:a="http://schemas.openxmlformats.org/drawingml/2006/main" noGrp="1"/>
          </p:cNvSpPr>
          <p:nvPr/>
        </p:nvSpPr>
        <p:spPr>
          <a:xfrm xmlns:a="http://schemas.openxmlformats.org/drawingml/2006/main">
            <a:off x="4143375" y="3095625"/>
            <a:ext cx="38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03772"/>
                </a:solidFill>
                <a:latin typeface="DejaVu Sans"/>
                <a:ea typeface="DejaVu Sans"/>
                <a:cs typeface="DejaVu Sans"/>
              </a:defRPr>
            </a:pPr>
            <a:r>
              <a:rPr sz="2475" b="1">
                <a:solidFill>
                  <a:srgbClr val="003772"/>
                </a:solidFill>
                <a:latin typeface="DejaVu Sans"/>
                <a:ea typeface="DejaVu Sans"/>
                <a:cs typeface="DejaVu Sans"/>
              </a:rPr>
              <a:t>→</a:t>
            </a:r>
          </a:p>
        </p:txBody>
      </p:sp>
      <p:sp>
        <p:nvSpPr>
          <p:cNvPr id="10" name="">
            <a:extLst xmlns:a="http://schemas.openxmlformats.org/drawingml/2006/main">
              <a:ext uri="{FF2B5EF4-FFF2-40B4-BE49-F238E27FC236}">
                <a16:creationId xmlns:a16="http://schemas.microsoft.com/office/drawing/2014/main" id="{D3EB2958-ED51-49EE-82BA-7CD25285905F}"/>
              </a:ext>
            </a:extLst>
          </p:cNvPr>
          <p:cNvSpPr>
            <a:spLocks xmlns:a="http://schemas.openxmlformats.org/drawingml/2006/main" noGrp="1"/>
          </p:cNvSpPr>
          <p:nvPr/>
        </p:nvSpPr>
        <p:spPr>
          <a:xfrm xmlns:a="http://schemas.openxmlformats.org/drawingml/2006/main">
            <a:off x="4552950"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0A1DDBA-1D65-4272-A3D1-90C9FBEA22FA}"/>
              </a:ext>
            </a:extLst>
          </p:cNvPr>
          <p:cNvSpPr>
            <a:spLocks xmlns:a="http://schemas.openxmlformats.org/drawingml/2006/main" noGrp="1"/>
          </p:cNvSpPr>
          <p:nvPr/>
        </p:nvSpPr>
        <p:spPr>
          <a:xfrm xmlns:a="http://schemas.openxmlformats.org/drawingml/2006/main">
            <a:off x="4743450"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PROCESO</a:t>
            </a:r>
          </a:p>
        </p:txBody>
      </p:sp>
      <p:sp>
        <p:nvSpPr>
          <p:cNvPr id="12" name="">
            <a:extLst xmlns:a="http://schemas.openxmlformats.org/drawingml/2006/main">
              <a:ext uri="{FF2B5EF4-FFF2-40B4-BE49-F238E27FC236}">
                <a16:creationId xmlns:a16="http://schemas.microsoft.com/office/drawing/2014/main" id="{79D05BFC-E7A1-40C6-A7CC-45F5B9216EF5}"/>
              </a:ext>
            </a:extLst>
          </p:cNvPr>
          <p:cNvSpPr>
            <a:spLocks xmlns:a="http://schemas.openxmlformats.org/drawingml/2006/main" noGrp="1"/>
          </p:cNvSpPr>
          <p:nvPr/>
        </p:nvSpPr>
        <p:spPr>
          <a:xfrm xmlns:a="http://schemas.openxmlformats.org/drawingml/2006/main">
            <a:off x="4743450"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Cadena de condiciones y cobertura</a:t>
            </a:r>
          </a:p>
        </p:txBody>
      </p:sp>
      <p:sp>
        <p:nvSpPr>
          <p:cNvPr id="13" name="">
            <a:extLst xmlns:a="http://schemas.openxmlformats.org/drawingml/2006/main">
              <a:ext uri="{FF2B5EF4-FFF2-40B4-BE49-F238E27FC236}">
                <a16:creationId xmlns:a16="http://schemas.microsoft.com/office/drawing/2014/main" id="{5F4FA9B9-6F28-4E0B-9A77-6DC4BE9EE54C}"/>
              </a:ext>
            </a:extLst>
          </p:cNvPr>
          <p:cNvSpPr>
            <a:spLocks xmlns:a="http://schemas.openxmlformats.org/drawingml/2006/main" noGrp="1"/>
          </p:cNvSpPr>
          <p:nvPr/>
        </p:nvSpPr>
        <p:spPr>
          <a:xfrm xmlns:a="http://schemas.openxmlformats.org/drawingml/2006/main">
            <a:off x="7886700" y="3095625"/>
            <a:ext cx="38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03772"/>
                </a:solidFill>
                <a:latin typeface="DejaVu Sans"/>
                <a:ea typeface="DejaVu Sans"/>
                <a:cs typeface="DejaVu Sans"/>
              </a:defRPr>
            </a:pPr>
            <a:r>
              <a:rPr sz="2475" b="1">
                <a:solidFill>
                  <a:srgbClr val="003772"/>
                </a:solidFill>
                <a:latin typeface="DejaVu Sans"/>
                <a:ea typeface="DejaVu Sans"/>
                <a:cs typeface="DejaVu Sans"/>
              </a:rPr>
              <a:t>→</a:t>
            </a:r>
          </a:p>
        </p:txBody>
      </p:sp>
      <p:sp>
        <p:nvSpPr>
          <p:cNvPr id="14" name="">
            <a:extLst xmlns:a="http://schemas.openxmlformats.org/drawingml/2006/main">
              <a:ext uri="{FF2B5EF4-FFF2-40B4-BE49-F238E27FC236}">
                <a16:creationId xmlns:a16="http://schemas.microsoft.com/office/drawing/2014/main" id="{805A739F-F1C1-4D7A-96B7-1F8D66A5BCB1}"/>
              </a:ext>
            </a:extLst>
          </p:cNvPr>
          <p:cNvSpPr>
            <a:spLocks xmlns:a="http://schemas.openxmlformats.org/drawingml/2006/main" noGrp="1"/>
          </p:cNvSpPr>
          <p:nvPr/>
        </p:nvSpPr>
        <p:spPr>
          <a:xfrm xmlns:a="http://schemas.openxmlformats.org/drawingml/2006/main">
            <a:off x="8296275"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94E2553-0C43-4EBB-9989-ECE73BB15435}"/>
              </a:ext>
            </a:extLst>
          </p:cNvPr>
          <p:cNvSpPr>
            <a:spLocks xmlns:a="http://schemas.openxmlformats.org/drawingml/2006/main" noGrp="1"/>
          </p:cNvSpPr>
          <p:nvPr/>
        </p:nvSpPr>
        <p:spPr>
          <a:xfrm xmlns:a="http://schemas.openxmlformats.org/drawingml/2006/main">
            <a:off x="8486775"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SALIDA</a:t>
            </a:r>
          </a:p>
        </p:txBody>
      </p:sp>
      <p:sp>
        <p:nvSpPr>
          <p:cNvPr id="16" name="">
            <a:extLst xmlns:a="http://schemas.openxmlformats.org/drawingml/2006/main">
              <a:ext uri="{FF2B5EF4-FFF2-40B4-BE49-F238E27FC236}">
                <a16:creationId xmlns:a16="http://schemas.microsoft.com/office/drawing/2014/main" id="{EAC9D07A-AB66-4F02-B40F-D0D29446ACC1}"/>
              </a:ext>
            </a:extLst>
          </p:cNvPr>
          <p:cNvSpPr>
            <a:spLocks xmlns:a="http://schemas.openxmlformats.org/drawingml/2006/main" noGrp="1"/>
          </p:cNvSpPr>
          <p:nvPr/>
        </p:nvSpPr>
        <p:spPr>
          <a:xfrm xmlns:a="http://schemas.openxmlformats.org/drawingml/2006/main">
            <a:off x="8486775"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Adecuada</a:t>
            </a:r>
          </a:p>
        </p:txBody>
      </p:sp>
      <p:sp>
        <p:nvSpPr>
          <p:cNvPr id="17" name="">
            <a:extLst xmlns:a="http://schemas.openxmlformats.org/drawingml/2006/main">
              <a:ext uri="{FF2B5EF4-FFF2-40B4-BE49-F238E27FC236}">
                <a16:creationId xmlns:a16="http://schemas.microsoft.com/office/drawing/2014/main" id="{D713C125-ADA1-47E2-B2E9-6E775C9AA93C}"/>
              </a:ext>
            </a:extLst>
          </p:cNvPr>
          <p:cNvSpPr>
            <a:spLocks xmlns:a="http://schemas.openxmlformats.org/drawingml/2006/main" noGrp="1"/>
          </p:cNvSpPr>
          <p:nvPr/>
        </p:nvSpPr>
        <p:spPr>
          <a:xfrm xmlns:a="http://schemas.openxmlformats.org/drawingml/2006/main">
            <a:off x="819150" y="51911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3772"/>
                </a:solidFill>
                <a:latin typeface="DejaVu Sans"/>
                <a:ea typeface="DejaVu Sans"/>
                <a:cs typeface="DejaVu Sans"/>
              </a:defRPr>
            </a:pPr>
            <a:r>
              <a:rPr sz="2100" b="1">
                <a:solidFill>
                  <a:srgbClr val="003772"/>
                </a:solidFill>
                <a:latin typeface="DejaVu Sans"/>
                <a:ea typeface="DejaVu Sans"/>
                <a:cs typeface="DejaVu Sans"/>
              </a:rPr>
              <a:t>Conservar el contrato al cambiar de lenguaje.</a:t>
            </a:r>
          </a:p>
        </p:txBody>
      </p:sp>
    </p:spTree>
    <p:extLst>
      <p:ext uri="{BB962C8B-B14F-4D97-AF65-F5344CB8AC3E}">
        <p14:creationId xmlns:p14="http://schemas.microsoft.com/office/powerpoint/2010/main" val="107213672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AD0A54-045F-4252-BEDE-B8F969DE1A41}"/>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FEFC00-02A4-4182-8308-BFAB9F455AA8}"/>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Demostración guiada</a:t>
            </a:r>
          </a:p>
        </p:txBody>
      </p:sp>
      <p:sp>
        <p:nvSpPr>
          <p:cNvPr id="3" name="">
            <a:extLst xmlns:a="http://schemas.openxmlformats.org/drawingml/2006/main">
              <a:ext uri="{FF2B5EF4-FFF2-40B4-BE49-F238E27FC236}">
                <a16:creationId xmlns:a16="http://schemas.microsoft.com/office/drawing/2014/main" id="{DCD9E782-8AB0-4C60-AD22-45933F1550B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4C52E9B-4DE5-4A17-8A27-96A87679E378}"/>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3.03</a:t>
            </a:r>
          </a:p>
        </p:txBody>
      </p:sp>
      <p:sp>
        <p:nvSpPr>
          <p:cNvPr id="5" name="">
            <a:extLst xmlns:a="http://schemas.openxmlformats.org/drawingml/2006/main">
              <a:ext uri="{FF2B5EF4-FFF2-40B4-BE49-F238E27FC236}">
                <a16:creationId xmlns:a16="http://schemas.microsoft.com/office/drawing/2014/main" id="{6E44F0DA-33CE-4E62-83EF-F4C6565F068A}"/>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8</a:t>
            </a:r>
          </a:p>
        </p:txBody>
      </p:sp>
      <p:sp>
        <p:nvSpPr>
          <p:cNvPr id="6" name="">
            <a:extLst xmlns:a="http://schemas.openxmlformats.org/drawingml/2006/main">
              <a:ext uri="{FF2B5EF4-FFF2-40B4-BE49-F238E27FC236}">
                <a16:creationId xmlns:a16="http://schemas.microsoft.com/office/drawing/2014/main" id="{DBA2D549-B7A1-49A9-90C4-C925F73A78A7}"/>
              </a:ext>
            </a:extLst>
          </p:cNvPr>
          <p:cNvSpPr>
            <a:spLocks xmlns:a="http://schemas.openxmlformats.org/drawingml/2006/main" noGrp="1"/>
          </p:cNvSpPr>
          <p:nvPr/>
        </p:nvSpPr>
        <p:spPr>
          <a:xfrm xmlns:a="http://schemas.openxmlformats.org/drawingml/2006/main">
            <a:off x="819150" y="1666875"/>
            <a:ext cx="10572750" cy="4048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medicion = 72</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if medicion &lt; 0 or medicion &gt; 100:</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categoria = "Inválida"</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elif medicion &lt; 40:</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categoria = "Baja"</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elif medicion &lt;= 75:</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categoria = "Adecuada"</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else:</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categoria = "Alta"</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print(categoria)</a:t>
            </a:r>
          </a:p>
        </p:txBody>
      </p:sp>
    </p:spTree>
    <p:extLst>
      <p:ext uri="{BB962C8B-B14F-4D97-AF65-F5344CB8AC3E}">
        <p14:creationId xmlns:p14="http://schemas.microsoft.com/office/powerpoint/2010/main" val="163304970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1BABEBF-C8FF-45C6-985F-1445E87034BE}"/>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AE89EA-4BEE-4B47-9D7F-3DBC5AB0B449}"/>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Resultado esperado y comprobación</a:t>
            </a:r>
          </a:p>
        </p:txBody>
      </p:sp>
      <p:sp>
        <p:nvSpPr>
          <p:cNvPr id="3" name="">
            <a:extLst xmlns:a="http://schemas.openxmlformats.org/drawingml/2006/main">
              <a:ext uri="{FF2B5EF4-FFF2-40B4-BE49-F238E27FC236}">
                <a16:creationId xmlns:a16="http://schemas.microsoft.com/office/drawing/2014/main" id="{737CB665-D489-4866-9FC2-4476F1DD011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6D7E758-864F-4683-9F79-3290642590FB}"/>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3.03</a:t>
            </a:r>
          </a:p>
        </p:txBody>
      </p:sp>
      <p:sp>
        <p:nvSpPr>
          <p:cNvPr id="5" name="">
            <a:extLst xmlns:a="http://schemas.openxmlformats.org/drawingml/2006/main">
              <a:ext uri="{FF2B5EF4-FFF2-40B4-BE49-F238E27FC236}">
                <a16:creationId xmlns:a16="http://schemas.microsoft.com/office/drawing/2014/main" id="{4F748436-8522-4BC4-B5BA-08099FE85604}"/>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F6B6A5D2-4EF1-4A68-A97F-828626C1BCBD}"/>
              </a:ext>
            </a:extLst>
          </p:cNvPr>
          <p:cNvSpPr>
            <a:spLocks xmlns:a="http://schemas.openxmlformats.org/drawingml/2006/main" noGrp="1"/>
          </p:cNvSpPr>
          <p:nvPr/>
        </p:nvSpPr>
        <p:spPr>
          <a:xfrm xmlns:a="http://schemas.openxmlformats.org/drawingml/2006/main">
            <a:off x="819150" y="1666875"/>
            <a:ext cx="6381750" cy="3333750"/>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Adecuada</a:t>
            </a:r>
          </a:p>
        </p:txBody>
      </p:sp>
      <p:sp>
        <p:nvSpPr>
          <p:cNvPr id="7" name="">
            <a:extLst xmlns:a="http://schemas.openxmlformats.org/drawingml/2006/main">
              <a:ext uri="{FF2B5EF4-FFF2-40B4-BE49-F238E27FC236}">
                <a16:creationId xmlns:a16="http://schemas.microsoft.com/office/drawing/2014/main" id="{EF331B46-2964-44B6-82FB-038508D3B3DD}"/>
              </a:ext>
            </a:extLst>
          </p:cNvPr>
          <p:cNvSpPr>
            <a:spLocks xmlns:a="http://schemas.openxmlformats.org/drawingml/2006/main" noGrp="1"/>
          </p:cNvSpPr>
          <p:nvPr/>
        </p:nvSpPr>
        <p:spPr>
          <a:xfrm xmlns:a="http://schemas.openxmlformats.org/drawingml/2006/main">
            <a:off x="7667625" y="1714500"/>
            <a:ext cx="3714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Ejecutar con los datos indicados.</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Relacionar cada línea con una instrucción.</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Cambiar un dato y anticipar la nueva salida.</a:t>
            </a:r>
          </a:p>
        </p:txBody>
      </p:sp>
    </p:spTree>
    <p:extLst>
      <p:ext uri="{BB962C8B-B14F-4D97-AF65-F5344CB8AC3E}">
        <p14:creationId xmlns:p14="http://schemas.microsoft.com/office/powerpoint/2010/main" val="79878166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EDD232F-CC33-4A38-866D-F134F7327BC7}"/>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4ADE23-2F95-4C60-80DA-E3DFAFA63F7B}"/>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Ejercicio práctico · Intervalo cerrado</a:t>
            </a:r>
          </a:p>
        </p:txBody>
      </p:sp>
      <p:sp>
        <p:nvSpPr>
          <p:cNvPr id="3" name="">
            <a:extLst xmlns:a="http://schemas.openxmlformats.org/drawingml/2006/main">
              <a:ext uri="{FF2B5EF4-FFF2-40B4-BE49-F238E27FC236}">
                <a16:creationId xmlns:a16="http://schemas.microsoft.com/office/drawing/2014/main" id="{9F4FDC44-083F-4CCC-AFCD-EE30CE75057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7072137-C111-419A-8B7B-C1A6AA9777F9}"/>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3.03</a:t>
            </a:r>
          </a:p>
        </p:txBody>
      </p:sp>
      <p:sp>
        <p:nvSpPr>
          <p:cNvPr id="5" name="">
            <a:extLst xmlns:a="http://schemas.openxmlformats.org/drawingml/2006/main">
              <a:ext uri="{FF2B5EF4-FFF2-40B4-BE49-F238E27FC236}">
                <a16:creationId xmlns:a16="http://schemas.microsoft.com/office/drawing/2014/main" id="{66C6A39E-B5B6-47E8-8F57-4000AFFF0792}"/>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64DFCBFB-597A-49FA-8441-CAC53817CA65}"/>
              </a:ext>
            </a:extLst>
          </p:cNvPr>
          <p:cNvSpPr>
            <a:spLocks xmlns:a="http://schemas.openxmlformats.org/drawingml/2006/main" noGrp="1"/>
          </p:cNvSpPr>
          <p:nvPr/>
        </p:nvSpPr>
        <p:spPr>
          <a:xfrm xmlns:a="http://schemas.openxmlformats.org/drawingml/2006/main">
            <a:off x="819150" y="1714500"/>
            <a:ext cx="1047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Indicar si 10 pertenece al intervalo [5,10].</a:t>
            </a:r>
          </a:p>
        </p:txBody>
      </p:sp>
      <p:sp>
        <p:nvSpPr>
          <p:cNvPr id="7" name="">
            <a:extLst xmlns:a="http://schemas.openxmlformats.org/drawingml/2006/main">
              <a:ext uri="{FF2B5EF4-FFF2-40B4-BE49-F238E27FC236}">
                <a16:creationId xmlns:a16="http://schemas.microsoft.com/office/drawing/2014/main" id="{1016E9F2-6F74-4DE1-9824-6D684CD3D064}"/>
              </a:ext>
            </a:extLst>
          </p:cNvPr>
          <p:cNvSpPr>
            <a:spLocks xmlns:a="http://schemas.openxmlformats.org/drawingml/2006/main" noGrp="1"/>
          </p:cNvSpPr>
          <p:nvPr/>
        </p:nvSpPr>
        <p:spPr>
          <a:xfrm xmlns:a="http://schemas.openxmlformats.org/drawingml/2006/main">
            <a:off x="819150" y="4286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Resultado de comprobación</a:t>
            </a:r>
          </a:p>
        </p:txBody>
      </p:sp>
      <p:sp>
        <p:nvSpPr>
          <p:cNvPr id="8" name="">
            <a:extLst xmlns:a="http://schemas.openxmlformats.org/drawingml/2006/main">
              <a:ext uri="{FF2B5EF4-FFF2-40B4-BE49-F238E27FC236}">
                <a16:creationId xmlns:a16="http://schemas.microsoft.com/office/drawing/2014/main" id="{ABF30390-FC24-410F-A508-9E655D80BDFD}"/>
              </a:ext>
            </a:extLst>
          </p:cNvPr>
          <p:cNvSpPr>
            <a:spLocks xmlns:a="http://schemas.openxmlformats.org/drawingml/2006/main" noGrp="1"/>
          </p:cNvSpPr>
          <p:nvPr/>
        </p:nvSpPr>
        <p:spPr>
          <a:xfrm xmlns:a="http://schemas.openxmlformats.org/drawingml/2006/main">
            <a:off x="819150" y="4857750"/>
            <a:ext cx="10477500" cy="952500"/>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Dentro</a:t>
            </a:r>
          </a:p>
        </p:txBody>
      </p:sp>
    </p:spTree>
    <p:extLst>
      <p:ext uri="{BB962C8B-B14F-4D97-AF65-F5344CB8AC3E}">
        <p14:creationId xmlns:p14="http://schemas.microsoft.com/office/powerpoint/2010/main" val="92323915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328B5AA-4A1C-4D7F-A470-B2F82ACD5F15}"/>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CFBCE6-4DD6-44F3-95F3-EA59A0DBF4A0}"/>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PC3.03 · Problema y restricciones</a:t>
            </a:r>
          </a:p>
        </p:txBody>
      </p:sp>
      <p:sp>
        <p:nvSpPr>
          <p:cNvPr id="3" name="">
            <a:extLst xmlns:a="http://schemas.openxmlformats.org/drawingml/2006/main">
              <a:ext uri="{FF2B5EF4-FFF2-40B4-BE49-F238E27FC236}">
                <a16:creationId xmlns:a16="http://schemas.microsoft.com/office/drawing/2014/main" id="{6016BC87-E878-4164-A721-89043255202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7ACF4C9-9C88-4724-A599-80A90A3B1AEC}"/>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3.03</a:t>
            </a:r>
          </a:p>
        </p:txBody>
      </p:sp>
      <p:sp>
        <p:nvSpPr>
          <p:cNvPr id="5" name="">
            <a:extLst xmlns:a="http://schemas.openxmlformats.org/drawingml/2006/main">
              <a:ext uri="{FF2B5EF4-FFF2-40B4-BE49-F238E27FC236}">
                <a16:creationId xmlns:a16="http://schemas.microsoft.com/office/drawing/2014/main" id="{987BB0FC-76FF-40F2-9C05-99CEBC76F2B3}"/>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11</a:t>
            </a:r>
          </a:p>
        </p:txBody>
      </p:sp>
      <p:sp>
        <p:nvSpPr>
          <p:cNvPr id="6" name="">
            <a:extLst xmlns:a="http://schemas.openxmlformats.org/drawingml/2006/main">
              <a:ext uri="{FF2B5EF4-FFF2-40B4-BE49-F238E27FC236}">
                <a16:creationId xmlns:a16="http://schemas.microsoft.com/office/drawing/2014/main" id="{D5CC4997-12AD-4781-8050-C19CE197AD4D}"/>
              </a:ext>
            </a:extLst>
          </p:cNvPr>
          <p:cNvSpPr>
            <a:spLocks xmlns:a="http://schemas.openxmlformats.org/drawingml/2006/main" noGrp="1"/>
          </p:cNvSpPr>
          <p:nvPr/>
        </p:nvSpPr>
        <p:spPr>
          <a:xfrm xmlns:a="http://schemas.openxmlformats.org/drawingml/2006/main">
            <a:off x="819150" y="1571625"/>
            <a:ext cx="105727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403F3B"/>
                </a:solidFill>
                <a:latin typeface="DejaVu Sans"/>
                <a:ea typeface="DejaVu Sans"/>
                <a:cs typeface="DejaVu Sans"/>
              </a:defRPr>
            </a:pPr>
            <a:r>
              <a:rPr sz="2250" b="0">
                <a:solidFill>
                  <a:srgbClr val="403F3B"/>
                </a:solidFill>
                <a:latin typeface="DejaVu Sans"/>
                <a:ea typeface="DejaVu Sans"/>
                <a:cs typeface="DejaVu Sans"/>
              </a:rPr>
              <a:t>Leer peso de un paquete y tipo de entrega. Aceptar peso entero entre 1 y 20 y modalidad normal o urgente. Cobrar 3 hasta 5 kg, 6 hasta 10 kg y 10 hasta 20 kg. Agregar 4 por urgencia. Rechazar textos no numéricos, modalidades desconocidas y pesos fuera de rango. Mostrar una única tarifa o un mensaje de error.</a:t>
            </a:r>
          </a:p>
        </p:txBody>
      </p:sp>
      <p:sp>
        <p:nvSpPr>
          <p:cNvPr id="7" name="">
            <a:extLst xmlns:a="http://schemas.openxmlformats.org/drawingml/2006/main">
              <a:ext uri="{FF2B5EF4-FFF2-40B4-BE49-F238E27FC236}">
                <a16:creationId xmlns:a16="http://schemas.microsoft.com/office/drawing/2014/main" id="{9790D5F2-BFA7-41B5-B222-76469CABCC37}"/>
              </a:ext>
            </a:extLst>
          </p:cNvPr>
          <p:cNvSpPr>
            <a:spLocks xmlns:a="http://schemas.openxmlformats.org/drawingml/2006/main" noGrp="1"/>
          </p:cNvSpPr>
          <p:nvPr/>
        </p:nvSpPr>
        <p:spPr>
          <a:xfrm xmlns:a="http://schemas.openxmlformats.org/drawingml/2006/main">
            <a:off x="819150" y="54768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3772"/>
                </a:solidFill>
                <a:latin typeface="DejaVu Sans"/>
                <a:ea typeface="DejaVu Sans"/>
                <a:cs typeface="DejaVu Sans"/>
              </a:defRPr>
            </a:pPr>
            <a:r>
              <a:rPr sz="1875" b="1">
                <a:solidFill>
                  <a:srgbClr val="003772"/>
                </a:solidFill>
                <a:latin typeface="DejaVu Sans"/>
                <a:ea typeface="DejaVu Sans"/>
                <a:cs typeface="DejaVu Sans"/>
              </a:rPr>
              <a:t>Resolver de forma autónoma y registrar evidencia real.</a:t>
            </a:r>
          </a:p>
        </p:txBody>
      </p:sp>
    </p:spTree>
    <p:extLst>
      <p:ext uri="{BB962C8B-B14F-4D97-AF65-F5344CB8AC3E}">
        <p14:creationId xmlns:p14="http://schemas.microsoft.com/office/powerpoint/2010/main" val="115892703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ECDC30D-F351-4C27-AEBB-29BCEB839FB6}"/>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B2F8869-5F06-4CD0-8591-69A7C6452080}"/>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PC3.03 · Casos de aceptación</a:t>
            </a:r>
          </a:p>
        </p:txBody>
      </p:sp>
      <p:sp>
        <p:nvSpPr>
          <p:cNvPr id="3" name="">
            <a:extLst xmlns:a="http://schemas.openxmlformats.org/drawingml/2006/main">
              <a:ext uri="{FF2B5EF4-FFF2-40B4-BE49-F238E27FC236}">
                <a16:creationId xmlns:a16="http://schemas.microsoft.com/office/drawing/2014/main" id="{5892D428-FA94-4D06-8E1F-7729DA28B79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947EBC8-8FBC-413B-A948-888237B88A26}"/>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3.03</a:t>
            </a:r>
          </a:p>
        </p:txBody>
      </p:sp>
      <p:sp>
        <p:nvSpPr>
          <p:cNvPr id="5" name="">
            <a:extLst xmlns:a="http://schemas.openxmlformats.org/drawingml/2006/main">
              <a:ext uri="{FF2B5EF4-FFF2-40B4-BE49-F238E27FC236}">
                <a16:creationId xmlns:a16="http://schemas.microsoft.com/office/drawing/2014/main" id="{990FDBA2-E278-4891-96F1-0C2163A48442}"/>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12</a:t>
            </a:r>
          </a:p>
        </p:txBody>
      </p:sp>
      <p:sp>
        <p:nvSpPr>
          <p:cNvPr id="6" name="">
            <a:extLst xmlns:a="http://schemas.openxmlformats.org/drawingml/2006/main">
              <a:ext uri="{FF2B5EF4-FFF2-40B4-BE49-F238E27FC236}">
                <a16:creationId xmlns:a16="http://schemas.microsoft.com/office/drawing/2014/main" id="{11245D77-B08C-4503-947D-F785C4F424B2}"/>
              </a:ext>
            </a:extLst>
          </p:cNvPr>
          <p:cNvSpPr>
            <a:spLocks xmlns:a="http://schemas.openxmlformats.org/drawingml/2006/main" noGrp="1"/>
          </p:cNvSpPr>
          <p:nvPr/>
        </p:nvSpPr>
        <p:spPr>
          <a:xfrm xmlns:a="http://schemas.openxmlformats.org/drawingml/2006/main">
            <a:off x="819150" y="161925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5, normal</a:t>
            </a:r>
          </a:p>
        </p:txBody>
      </p:sp>
      <p:sp>
        <p:nvSpPr>
          <p:cNvPr id="7" name="">
            <a:extLst xmlns:a="http://schemas.openxmlformats.org/drawingml/2006/main">
              <a:ext uri="{FF2B5EF4-FFF2-40B4-BE49-F238E27FC236}">
                <a16:creationId xmlns:a16="http://schemas.microsoft.com/office/drawing/2014/main" id="{E8FAE6CF-0277-4FB7-8FE9-B885B090F960}"/>
              </a:ext>
            </a:extLst>
          </p:cNvPr>
          <p:cNvSpPr>
            <a:spLocks xmlns:a="http://schemas.openxmlformats.org/drawingml/2006/main" noGrp="1"/>
          </p:cNvSpPr>
          <p:nvPr/>
        </p:nvSpPr>
        <p:spPr>
          <a:xfrm xmlns:a="http://schemas.openxmlformats.org/drawingml/2006/main">
            <a:off x="5953125" y="1619250"/>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3</a:t>
            </a:r>
          </a:p>
        </p:txBody>
      </p:sp>
      <p:sp>
        <p:nvSpPr>
          <p:cNvPr id="8" name="">
            <a:extLst xmlns:a="http://schemas.openxmlformats.org/drawingml/2006/main">
              <a:ext uri="{FF2B5EF4-FFF2-40B4-BE49-F238E27FC236}">
                <a16:creationId xmlns:a16="http://schemas.microsoft.com/office/drawing/2014/main" id="{3477FB85-3445-4EA5-9094-87F42C0F93DD}"/>
              </a:ext>
            </a:extLst>
          </p:cNvPr>
          <p:cNvSpPr>
            <a:spLocks xmlns:a="http://schemas.openxmlformats.org/drawingml/2006/main" noGrp="1"/>
          </p:cNvSpPr>
          <p:nvPr/>
        </p:nvSpPr>
        <p:spPr>
          <a:xfrm xmlns:a="http://schemas.openxmlformats.org/drawingml/2006/main">
            <a:off x="819150" y="2600325"/>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6, urgente</a:t>
            </a:r>
          </a:p>
        </p:txBody>
      </p:sp>
      <p:sp>
        <p:nvSpPr>
          <p:cNvPr id="9" name="">
            <a:extLst xmlns:a="http://schemas.openxmlformats.org/drawingml/2006/main">
              <a:ext uri="{FF2B5EF4-FFF2-40B4-BE49-F238E27FC236}">
                <a16:creationId xmlns:a16="http://schemas.microsoft.com/office/drawing/2014/main" id="{601B694C-1955-4622-8CB5-533B14535AD3}"/>
              </a:ext>
            </a:extLst>
          </p:cNvPr>
          <p:cNvSpPr>
            <a:spLocks xmlns:a="http://schemas.openxmlformats.org/drawingml/2006/main" noGrp="1"/>
          </p:cNvSpPr>
          <p:nvPr/>
        </p:nvSpPr>
        <p:spPr>
          <a:xfrm xmlns:a="http://schemas.openxmlformats.org/drawingml/2006/main">
            <a:off x="5953125" y="2600325"/>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10</a:t>
            </a:r>
          </a:p>
        </p:txBody>
      </p:sp>
      <p:sp>
        <p:nvSpPr>
          <p:cNvPr id="10" name="">
            <a:extLst xmlns:a="http://schemas.openxmlformats.org/drawingml/2006/main">
              <a:ext uri="{FF2B5EF4-FFF2-40B4-BE49-F238E27FC236}">
                <a16:creationId xmlns:a16="http://schemas.microsoft.com/office/drawing/2014/main" id="{3A79C369-2842-447E-91BD-F86325282CEE}"/>
              </a:ext>
            </a:extLst>
          </p:cNvPr>
          <p:cNvSpPr>
            <a:spLocks xmlns:a="http://schemas.openxmlformats.org/drawingml/2006/main" noGrp="1"/>
          </p:cNvSpPr>
          <p:nvPr/>
        </p:nvSpPr>
        <p:spPr>
          <a:xfrm xmlns:a="http://schemas.openxmlformats.org/drawingml/2006/main">
            <a:off x="819150" y="358140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20, urgente</a:t>
            </a:r>
          </a:p>
        </p:txBody>
      </p:sp>
      <p:sp>
        <p:nvSpPr>
          <p:cNvPr id="11" name="">
            <a:extLst xmlns:a="http://schemas.openxmlformats.org/drawingml/2006/main">
              <a:ext uri="{FF2B5EF4-FFF2-40B4-BE49-F238E27FC236}">
                <a16:creationId xmlns:a16="http://schemas.microsoft.com/office/drawing/2014/main" id="{423ED19A-F531-4570-BE5C-2E2325749694}"/>
              </a:ext>
            </a:extLst>
          </p:cNvPr>
          <p:cNvSpPr>
            <a:spLocks xmlns:a="http://schemas.openxmlformats.org/drawingml/2006/main" noGrp="1"/>
          </p:cNvSpPr>
          <p:nvPr/>
        </p:nvSpPr>
        <p:spPr>
          <a:xfrm xmlns:a="http://schemas.openxmlformats.org/drawingml/2006/main">
            <a:off x="5953125" y="3581400"/>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14</a:t>
            </a:r>
          </a:p>
        </p:txBody>
      </p:sp>
      <p:sp>
        <p:nvSpPr>
          <p:cNvPr id="12" name="">
            <a:extLst xmlns:a="http://schemas.openxmlformats.org/drawingml/2006/main">
              <a:ext uri="{FF2B5EF4-FFF2-40B4-BE49-F238E27FC236}">
                <a16:creationId xmlns:a16="http://schemas.microsoft.com/office/drawing/2014/main" id="{24F44DE6-D150-451B-AFED-2F5D5447D19C}"/>
              </a:ext>
            </a:extLst>
          </p:cNvPr>
          <p:cNvSpPr>
            <a:spLocks xmlns:a="http://schemas.openxmlformats.org/drawingml/2006/main" noGrp="1"/>
          </p:cNvSpPr>
          <p:nvPr/>
        </p:nvSpPr>
        <p:spPr>
          <a:xfrm xmlns:a="http://schemas.openxmlformats.org/drawingml/2006/main">
            <a:off x="819150" y="4562475"/>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0, normal</a:t>
            </a:r>
          </a:p>
        </p:txBody>
      </p:sp>
      <p:sp>
        <p:nvSpPr>
          <p:cNvPr id="13" name="">
            <a:extLst xmlns:a="http://schemas.openxmlformats.org/drawingml/2006/main">
              <a:ext uri="{FF2B5EF4-FFF2-40B4-BE49-F238E27FC236}">
                <a16:creationId xmlns:a16="http://schemas.microsoft.com/office/drawing/2014/main" id="{55D817DA-9FDC-4342-A531-A9BAB84DCE6D}"/>
              </a:ext>
            </a:extLst>
          </p:cNvPr>
          <p:cNvSpPr>
            <a:spLocks xmlns:a="http://schemas.openxmlformats.org/drawingml/2006/main" noGrp="1"/>
          </p:cNvSpPr>
          <p:nvPr/>
        </p:nvSpPr>
        <p:spPr>
          <a:xfrm xmlns:a="http://schemas.openxmlformats.org/drawingml/2006/main">
            <a:off x="5953125" y="4562475"/>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peso inválido</a:t>
            </a:r>
          </a:p>
        </p:txBody>
      </p:sp>
    </p:spTree>
    <p:extLst>
      <p:ext uri="{BB962C8B-B14F-4D97-AF65-F5344CB8AC3E}">
        <p14:creationId xmlns:p14="http://schemas.microsoft.com/office/powerpoint/2010/main" val="189134490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6BEB922-61B0-45BF-A06C-26BAEA2A6EA6}"/>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F8FBBC-444D-4368-9AF2-EA20CE40D62C}"/>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50098CC8-D699-40A8-A463-D7736628303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C4D508B-3A1E-4E4A-BCDF-BA4F8F73C0BC}"/>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3.03</a:t>
            </a:r>
          </a:p>
        </p:txBody>
      </p:sp>
      <p:sp>
        <p:nvSpPr>
          <p:cNvPr id="5" name="">
            <a:extLst xmlns:a="http://schemas.openxmlformats.org/drawingml/2006/main">
              <a:ext uri="{FF2B5EF4-FFF2-40B4-BE49-F238E27FC236}">
                <a16:creationId xmlns:a16="http://schemas.microsoft.com/office/drawing/2014/main" id="{3FAA338D-F8AB-46CE-B5D5-A88AC6238BC4}"/>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13</a:t>
            </a:r>
          </a:p>
        </p:txBody>
      </p:sp>
      <p:sp>
        <p:nvSpPr>
          <p:cNvPr id="6" name="">
            <a:extLst xmlns:a="http://schemas.openxmlformats.org/drawingml/2006/main">
              <a:ext uri="{FF2B5EF4-FFF2-40B4-BE49-F238E27FC236}">
                <a16:creationId xmlns:a16="http://schemas.microsoft.com/office/drawing/2014/main" id="{E64C5D32-930E-44BB-BC24-5EE573A578F5}"/>
              </a:ext>
            </a:extLst>
          </p:cNvPr>
          <p:cNvSpPr>
            <a:spLocks xmlns:a="http://schemas.openxmlformats.org/drawingml/2006/main" noGrp="1"/>
          </p:cNvSpPr>
          <p:nvPr/>
        </p:nvSpPr>
        <p:spPr>
          <a:xfrm xmlns:a="http://schemas.openxmlformats.org/drawingml/2006/main">
            <a:off x="762000" y="1809750"/>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01</a:t>
            </a:r>
          </a:p>
        </p:txBody>
      </p:sp>
      <p:sp>
        <p:nvSpPr>
          <p:cNvPr id="7" name="">
            <a:extLst xmlns:a="http://schemas.openxmlformats.org/drawingml/2006/main">
              <a:ext uri="{FF2B5EF4-FFF2-40B4-BE49-F238E27FC236}">
                <a16:creationId xmlns:a16="http://schemas.microsoft.com/office/drawing/2014/main" id="{1302D8CF-73D5-42A0-A651-8C720C06A735}"/>
              </a:ext>
            </a:extLst>
          </p:cNvPr>
          <p:cNvSpPr>
            <a:spLocks xmlns:a="http://schemas.openxmlformats.org/drawingml/2006/main" noGrp="1"/>
          </p:cNvSpPr>
          <p:nvPr/>
        </p:nvSpPr>
        <p:spPr>
          <a:xfrm xmlns:a="http://schemas.openxmlformats.org/drawingml/2006/main">
            <a:off x="1571625" y="1809750"/>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Definir intervalos sin huecos.</a:t>
            </a:r>
          </a:p>
        </p:txBody>
      </p:sp>
      <p:sp>
        <p:nvSpPr>
          <p:cNvPr id="8" name="">
            <a:extLst xmlns:a="http://schemas.openxmlformats.org/drawingml/2006/main">
              <a:ext uri="{FF2B5EF4-FFF2-40B4-BE49-F238E27FC236}">
                <a16:creationId xmlns:a16="http://schemas.microsoft.com/office/drawing/2014/main" id="{52534427-012C-49D9-9818-01A10608D622}"/>
              </a:ext>
            </a:extLst>
          </p:cNvPr>
          <p:cNvSpPr>
            <a:spLocks xmlns:a="http://schemas.openxmlformats.org/drawingml/2006/main" noGrp="1"/>
          </p:cNvSpPr>
          <p:nvPr/>
        </p:nvSpPr>
        <p:spPr>
          <a:xfrm xmlns:a="http://schemas.openxmlformats.org/drawingml/2006/main">
            <a:off x="762000" y="3000375"/>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02</a:t>
            </a:r>
          </a:p>
        </p:txBody>
      </p:sp>
      <p:sp>
        <p:nvSpPr>
          <p:cNvPr id="9" name="">
            <a:extLst xmlns:a="http://schemas.openxmlformats.org/drawingml/2006/main">
              <a:ext uri="{FF2B5EF4-FFF2-40B4-BE49-F238E27FC236}">
                <a16:creationId xmlns:a16="http://schemas.microsoft.com/office/drawing/2014/main" id="{E1606877-27E7-4AC1-BE31-CE10E8C07217}"/>
              </a:ext>
            </a:extLst>
          </p:cNvPr>
          <p:cNvSpPr>
            <a:spLocks xmlns:a="http://schemas.openxmlformats.org/drawingml/2006/main" noGrp="1"/>
          </p:cNvSpPr>
          <p:nvPr/>
        </p:nvSpPr>
        <p:spPr>
          <a:xfrm xmlns:a="http://schemas.openxmlformats.org/drawingml/2006/main">
            <a:off x="1571625" y="3000375"/>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Validar formato y dominio por separado.</a:t>
            </a:r>
          </a:p>
        </p:txBody>
      </p:sp>
      <p:sp>
        <p:nvSpPr>
          <p:cNvPr id="10" name="">
            <a:extLst xmlns:a="http://schemas.openxmlformats.org/drawingml/2006/main">
              <a:ext uri="{FF2B5EF4-FFF2-40B4-BE49-F238E27FC236}">
                <a16:creationId xmlns:a16="http://schemas.microsoft.com/office/drawing/2014/main" id="{73880C9A-6971-49B0-AF82-7ECC3B3693AE}"/>
              </a:ext>
            </a:extLst>
          </p:cNvPr>
          <p:cNvSpPr>
            <a:spLocks xmlns:a="http://schemas.openxmlformats.org/drawingml/2006/main" noGrp="1"/>
          </p:cNvSpPr>
          <p:nvPr/>
        </p:nvSpPr>
        <p:spPr>
          <a:xfrm xmlns:a="http://schemas.openxmlformats.org/drawingml/2006/main">
            <a:off x="762000" y="4191000"/>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C9846199-5C9F-4715-9E67-F59DFD120C45}"/>
              </a:ext>
            </a:extLst>
          </p:cNvPr>
          <p:cNvSpPr>
            <a:spLocks xmlns:a="http://schemas.openxmlformats.org/drawingml/2006/main" noGrp="1"/>
          </p:cNvSpPr>
          <p:nvPr/>
        </p:nvSpPr>
        <p:spPr>
          <a:xfrm xmlns:a="http://schemas.openxmlformats.org/drawingml/2006/main">
            <a:off x="1571625" y="4191000"/>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Cubrir cada rama y sus fronteras.</a:t>
            </a:r>
          </a:p>
        </p:txBody>
      </p:sp>
    </p:spTree>
    <p:extLst>
      <p:ext uri="{BB962C8B-B14F-4D97-AF65-F5344CB8AC3E}">
        <p14:creationId xmlns:p14="http://schemas.microsoft.com/office/powerpoint/2010/main" val="9804851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2026-09-25T21:14:20.3070000Z</dcterms:created>
  <dcterms:modified xsi:type="dcterms:W3CDTF">2026-09-25T21:14:20.3070000Z</dcterms:modified>
</coreProperties>
</file>